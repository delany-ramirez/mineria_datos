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262" r:id="rId6"/>
    <p:sldId id="263" r:id="rId7"/>
    <p:sldId id="260" r:id="rId8"/>
    <p:sldId id="261" r:id="rId9"/>
    <p:sldId id="285" r:id="rId10"/>
    <p:sldId id="286" r:id="rId11"/>
    <p:sldId id="287" r:id="rId12"/>
    <p:sldId id="288" r:id="rId13"/>
    <p:sldId id="379" r:id="rId14"/>
    <p:sldId id="374" r:id="rId15"/>
    <p:sldId id="375" r:id="rId16"/>
    <p:sldId id="376" r:id="rId17"/>
    <p:sldId id="377" r:id="rId18"/>
    <p:sldId id="378" r:id="rId19"/>
    <p:sldId id="264" r:id="rId20"/>
    <p:sldId id="265" r:id="rId21"/>
    <p:sldId id="266" r:id="rId22"/>
    <p:sldId id="267" r:id="rId23"/>
    <p:sldId id="268" r:id="rId24"/>
    <p:sldId id="269" r:id="rId25"/>
    <p:sldId id="270" r:id="rId26"/>
    <p:sldId id="271" r:id="rId27"/>
    <p:sldId id="272" r:id="rId28"/>
    <p:sldId id="276" r:id="rId29"/>
    <p:sldId id="292" r:id="rId30"/>
    <p:sldId id="273" r:id="rId31"/>
    <p:sldId id="274" r:id="rId32"/>
    <p:sldId id="291" r:id="rId33"/>
    <p:sldId id="275" r:id="rId34"/>
    <p:sldId id="277" r:id="rId35"/>
    <p:sldId id="278" r:id="rId36"/>
    <p:sldId id="289" r:id="rId37"/>
    <p:sldId id="290" r:id="rId38"/>
    <p:sldId id="279" r:id="rId39"/>
    <p:sldId id="280" r:id="rId40"/>
    <p:sldId id="281" r:id="rId41"/>
    <p:sldId id="282" r:id="rId42"/>
    <p:sldId id="283" r:id="rId43"/>
    <p:sldId id="284" r:id="rId44"/>
    <p:sldId id="293" r:id="rId45"/>
    <p:sldId id="294" r:id="rId46"/>
    <p:sldId id="302" r:id="rId47"/>
    <p:sldId id="295" r:id="rId48"/>
    <p:sldId id="296" r:id="rId49"/>
    <p:sldId id="297" r:id="rId50"/>
    <p:sldId id="306" r:id="rId51"/>
    <p:sldId id="307" r:id="rId52"/>
    <p:sldId id="304" r:id="rId53"/>
    <p:sldId id="305" r:id="rId54"/>
    <p:sldId id="298" r:id="rId55"/>
    <p:sldId id="303" r:id="rId56"/>
    <p:sldId id="300" r:id="rId57"/>
    <p:sldId id="301" r:id="rId58"/>
    <p:sldId id="309" r:id="rId59"/>
    <p:sldId id="310" r:id="rId60"/>
    <p:sldId id="311" r:id="rId61"/>
    <p:sldId id="312" r:id="rId62"/>
    <p:sldId id="308" r:id="rId6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7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F37BF2-FA3B-4F3E-9F2C-CD40C1AC056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O"/>
        </a:p>
      </dgm:t>
    </dgm:pt>
    <dgm:pt modelId="{C12E6D71-7CD1-443E-A228-34578284E5BB}">
      <dgm:prSet phldrT="[Texto]"/>
      <dgm:spPr/>
      <dgm:t>
        <a:bodyPr/>
        <a:lstStyle/>
        <a:p>
          <a:r>
            <a:rPr lang="es-CO" b="1" dirty="0"/>
            <a:t>Business </a:t>
          </a:r>
          <a:r>
            <a:rPr lang="es-CO" b="1" dirty="0" err="1"/>
            <a:t>Understanding</a:t>
          </a:r>
          <a:endParaRPr lang="es-CO" dirty="0"/>
        </a:p>
      </dgm:t>
    </dgm:pt>
    <dgm:pt modelId="{BF359067-A6D6-4154-80E9-DC1C6736F62D}" type="parTrans" cxnId="{178C0BDE-1206-4484-9893-98A69871A5EA}">
      <dgm:prSet/>
      <dgm:spPr/>
      <dgm:t>
        <a:bodyPr/>
        <a:lstStyle/>
        <a:p>
          <a:endParaRPr lang="es-CO"/>
        </a:p>
      </dgm:t>
    </dgm:pt>
    <dgm:pt modelId="{18763997-B565-441B-9A7B-CE19D2E10C3F}" type="sibTrans" cxnId="{178C0BDE-1206-4484-9893-98A69871A5EA}">
      <dgm:prSet/>
      <dgm:spPr/>
      <dgm:t>
        <a:bodyPr/>
        <a:lstStyle/>
        <a:p>
          <a:endParaRPr lang="es-CO"/>
        </a:p>
      </dgm:t>
    </dgm:pt>
    <dgm:pt modelId="{4DEA4A50-6CAD-4225-B636-B7179E97597C}">
      <dgm:prSet phldrT="[Texto]"/>
      <dgm:spPr/>
      <dgm:t>
        <a:bodyPr/>
        <a:lstStyle/>
        <a:p>
          <a:r>
            <a:rPr lang="es-CO" b="1" dirty="0"/>
            <a:t>Data </a:t>
          </a:r>
          <a:r>
            <a:rPr lang="es-CO" b="1" dirty="0" err="1"/>
            <a:t>Understanding</a:t>
          </a:r>
          <a:endParaRPr lang="es-CO" dirty="0"/>
        </a:p>
      </dgm:t>
    </dgm:pt>
    <dgm:pt modelId="{75D67675-9EF6-4B58-9123-C46C12DBC1F1}" type="parTrans" cxnId="{3FA8C51A-612C-41D3-BECE-38FEE79D8561}">
      <dgm:prSet/>
      <dgm:spPr/>
      <dgm:t>
        <a:bodyPr/>
        <a:lstStyle/>
        <a:p>
          <a:endParaRPr lang="es-CO"/>
        </a:p>
      </dgm:t>
    </dgm:pt>
    <dgm:pt modelId="{3D3A1C65-BC45-446B-B51E-2B39B28DBB81}" type="sibTrans" cxnId="{3FA8C51A-612C-41D3-BECE-38FEE79D8561}">
      <dgm:prSet/>
      <dgm:spPr/>
      <dgm:t>
        <a:bodyPr/>
        <a:lstStyle/>
        <a:p>
          <a:endParaRPr lang="es-CO"/>
        </a:p>
      </dgm:t>
    </dgm:pt>
    <dgm:pt modelId="{D310CF32-365B-4AB1-80A4-FAF10FAF598C}">
      <dgm:prSet phldrT="[Texto]"/>
      <dgm:spPr/>
      <dgm:t>
        <a:bodyPr/>
        <a:lstStyle/>
        <a:p>
          <a:r>
            <a:rPr lang="es-CO" b="1"/>
            <a:t>Data </a:t>
          </a:r>
          <a:r>
            <a:rPr lang="es-CO" b="1" dirty="0" err="1"/>
            <a:t>Preparation</a:t>
          </a:r>
          <a:endParaRPr lang="es-CO" dirty="0"/>
        </a:p>
      </dgm:t>
    </dgm:pt>
    <dgm:pt modelId="{F96CAE2E-E3B0-4BE4-9F4D-0C705F130F1F}" type="parTrans" cxnId="{D96B1DD8-EE68-4C8E-92BE-8414706B0640}">
      <dgm:prSet/>
      <dgm:spPr/>
      <dgm:t>
        <a:bodyPr/>
        <a:lstStyle/>
        <a:p>
          <a:endParaRPr lang="es-CO"/>
        </a:p>
      </dgm:t>
    </dgm:pt>
    <dgm:pt modelId="{6293556F-F91D-4406-A8A7-C2CE7466D980}" type="sibTrans" cxnId="{D96B1DD8-EE68-4C8E-92BE-8414706B0640}">
      <dgm:prSet/>
      <dgm:spPr/>
      <dgm:t>
        <a:bodyPr/>
        <a:lstStyle/>
        <a:p>
          <a:endParaRPr lang="es-CO"/>
        </a:p>
      </dgm:t>
    </dgm:pt>
    <dgm:pt modelId="{7E6964AE-2CA5-4AB4-8D54-7DD3F3A6EC01}" type="pres">
      <dgm:prSet presAssocID="{1DF37BF2-FA3B-4F3E-9F2C-CD40C1AC0565}" presName="Name0" presStyleCnt="0">
        <dgm:presLayoutVars>
          <dgm:dir/>
          <dgm:resizeHandles val="exact"/>
        </dgm:presLayoutVars>
      </dgm:prSet>
      <dgm:spPr/>
    </dgm:pt>
    <dgm:pt modelId="{4DD33D93-0425-4ADB-B28A-0B0473376141}" type="pres">
      <dgm:prSet presAssocID="{C12E6D71-7CD1-443E-A228-34578284E5BB}" presName="node" presStyleLbl="node1" presStyleIdx="0" presStyleCnt="3">
        <dgm:presLayoutVars>
          <dgm:bulletEnabled val="1"/>
        </dgm:presLayoutVars>
      </dgm:prSet>
      <dgm:spPr/>
    </dgm:pt>
    <dgm:pt modelId="{945B9A2B-91B0-49DC-9E8E-E1B4E1C3B608}" type="pres">
      <dgm:prSet presAssocID="{18763997-B565-441B-9A7B-CE19D2E10C3F}" presName="sibTrans" presStyleLbl="sibTrans2D1" presStyleIdx="0" presStyleCnt="2"/>
      <dgm:spPr/>
    </dgm:pt>
    <dgm:pt modelId="{6C6A2423-CC17-4FA3-B36B-21A9993FC06A}" type="pres">
      <dgm:prSet presAssocID="{18763997-B565-441B-9A7B-CE19D2E10C3F}" presName="connectorText" presStyleLbl="sibTrans2D1" presStyleIdx="0" presStyleCnt="2"/>
      <dgm:spPr/>
    </dgm:pt>
    <dgm:pt modelId="{CFA9B160-91C2-4ABF-BFA4-05944113BE5F}" type="pres">
      <dgm:prSet presAssocID="{4DEA4A50-6CAD-4225-B636-B7179E97597C}" presName="node" presStyleLbl="node1" presStyleIdx="1" presStyleCnt="3">
        <dgm:presLayoutVars>
          <dgm:bulletEnabled val="1"/>
        </dgm:presLayoutVars>
      </dgm:prSet>
      <dgm:spPr/>
    </dgm:pt>
    <dgm:pt modelId="{BB4337FA-B1DF-4C40-80D4-6B8EEAB8601B}" type="pres">
      <dgm:prSet presAssocID="{3D3A1C65-BC45-446B-B51E-2B39B28DBB81}" presName="sibTrans" presStyleLbl="sibTrans2D1" presStyleIdx="1" presStyleCnt="2"/>
      <dgm:spPr/>
    </dgm:pt>
    <dgm:pt modelId="{11B6F94B-25A1-4267-8DB4-3B590DF4E734}" type="pres">
      <dgm:prSet presAssocID="{3D3A1C65-BC45-446B-B51E-2B39B28DBB81}" presName="connectorText" presStyleLbl="sibTrans2D1" presStyleIdx="1" presStyleCnt="2"/>
      <dgm:spPr/>
    </dgm:pt>
    <dgm:pt modelId="{CC7AEEC5-CE08-4363-941D-6233E9D3D04C}" type="pres">
      <dgm:prSet presAssocID="{D310CF32-365B-4AB1-80A4-FAF10FAF598C}" presName="node" presStyleLbl="node1" presStyleIdx="2" presStyleCnt="3">
        <dgm:presLayoutVars>
          <dgm:bulletEnabled val="1"/>
        </dgm:presLayoutVars>
      </dgm:prSet>
      <dgm:spPr/>
    </dgm:pt>
  </dgm:ptLst>
  <dgm:cxnLst>
    <dgm:cxn modelId="{D6D52E10-CC4F-4CBE-A2F0-CBE850B669A6}" type="presOf" srcId="{3D3A1C65-BC45-446B-B51E-2B39B28DBB81}" destId="{BB4337FA-B1DF-4C40-80D4-6B8EEAB8601B}" srcOrd="0" destOrd="0" presId="urn:microsoft.com/office/officeart/2005/8/layout/process1"/>
    <dgm:cxn modelId="{3FA8C51A-612C-41D3-BECE-38FEE79D8561}" srcId="{1DF37BF2-FA3B-4F3E-9F2C-CD40C1AC0565}" destId="{4DEA4A50-6CAD-4225-B636-B7179E97597C}" srcOrd="1" destOrd="0" parTransId="{75D67675-9EF6-4B58-9123-C46C12DBC1F1}" sibTransId="{3D3A1C65-BC45-446B-B51E-2B39B28DBB81}"/>
    <dgm:cxn modelId="{8A117B29-704B-4703-996A-708CB1B66BFB}" type="presOf" srcId="{4DEA4A50-6CAD-4225-B636-B7179E97597C}" destId="{CFA9B160-91C2-4ABF-BFA4-05944113BE5F}" srcOrd="0" destOrd="0" presId="urn:microsoft.com/office/officeart/2005/8/layout/process1"/>
    <dgm:cxn modelId="{9E50D78A-1BE2-4ACA-938E-43DCFB963F11}" type="presOf" srcId="{3D3A1C65-BC45-446B-B51E-2B39B28DBB81}" destId="{11B6F94B-25A1-4267-8DB4-3B590DF4E734}" srcOrd="1" destOrd="0" presId="urn:microsoft.com/office/officeart/2005/8/layout/process1"/>
    <dgm:cxn modelId="{DCA7748F-6489-4F9D-B08F-35EF543AB122}" type="presOf" srcId="{C12E6D71-7CD1-443E-A228-34578284E5BB}" destId="{4DD33D93-0425-4ADB-B28A-0B0473376141}" srcOrd="0" destOrd="0" presId="urn:microsoft.com/office/officeart/2005/8/layout/process1"/>
    <dgm:cxn modelId="{938551A1-02C8-42D9-910C-E0864EF66F83}" type="presOf" srcId="{D310CF32-365B-4AB1-80A4-FAF10FAF598C}" destId="{CC7AEEC5-CE08-4363-941D-6233E9D3D04C}" srcOrd="0" destOrd="0" presId="urn:microsoft.com/office/officeart/2005/8/layout/process1"/>
    <dgm:cxn modelId="{152E6DC9-6D0F-4AC4-9449-4ACC759AC6F7}" type="presOf" srcId="{18763997-B565-441B-9A7B-CE19D2E10C3F}" destId="{6C6A2423-CC17-4FA3-B36B-21A9993FC06A}" srcOrd="1" destOrd="0" presId="urn:microsoft.com/office/officeart/2005/8/layout/process1"/>
    <dgm:cxn modelId="{D96B1DD8-EE68-4C8E-92BE-8414706B0640}" srcId="{1DF37BF2-FA3B-4F3E-9F2C-CD40C1AC0565}" destId="{D310CF32-365B-4AB1-80A4-FAF10FAF598C}" srcOrd="2" destOrd="0" parTransId="{F96CAE2E-E3B0-4BE4-9F4D-0C705F130F1F}" sibTransId="{6293556F-F91D-4406-A8A7-C2CE7466D980}"/>
    <dgm:cxn modelId="{7E8864D8-E59E-4AFB-B5FC-FE366FE37D3C}" type="presOf" srcId="{1DF37BF2-FA3B-4F3E-9F2C-CD40C1AC0565}" destId="{7E6964AE-2CA5-4AB4-8D54-7DD3F3A6EC01}" srcOrd="0" destOrd="0" presId="urn:microsoft.com/office/officeart/2005/8/layout/process1"/>
    <dgm:cxn modelId="{178C0BDE-1206-4484-9893-98A69871A5EA}" srcId="{1DF37BF2-FA3B-4F3E-9F2C-CD40C1AC0565}" destId="{C12E6D71-7CD1-443E-A228-34578284E5BB}" srcOrd="0" destOrd="0" parTransId="{BF359067-A6D6-4154-80E9-DC1C6736F62D}" sibTransId="{18763997-B565-441B-9A7B-CE19D2E10C3F}"/>
    <dgm:cxn modelId="{BB7DCFE4-C3F0-4173-9F7F-2DC3ADCD363C}" type="presOf" srcId="{18763997-B565-441B-9A7B-CE19D2E10C3F}" destId="{945B9A2B-91B0-49DC-9E8E-E1B4E1C3B608}" srcOrd="0" destOrd="0" presId="urn:microsoft.com/office/officeart/2005/8/layout/process1"/>
    <dgm:cxn modelId="{463B3595-16D6-4204-89FD-34F2CDCFBC4E}" type="presParOf" srcId="{7E6964AE-2CA5-4AB4-8D54-7DD3F3A6EC01}" destId="{4DD33D93-0425-4ADB-B28A-0B0473376141}" srcOrd="0" destOrd="0" presId="urn:microsoft.com/office/officeart/2005/8/layout/process1"/>
    <dgm:cxn modelId="{B6162766-BBDC-4DF3-A8A6-9F6D9571DCD4}" type="presParOf" srcId="{7E6964AE-2CA5-4AB4-8D54-7DD3F3A6EC01}" destId="{945B9A2B-91B0-49DC-9E8E-E1B4E1C3B608}" srcOrd="1" destOrd="0" presId="urn:microsoft.com/office/officeart/2005/8/layout/process1"/>
    <dgm:cxn modelId="{78E02F4A-232B-49A9-B43F-B417ED5E1BFD}" type="presParOf" srcId="{945B9A2B-91B0-49DC-9E8E-E1B4E1C3B608}" destId="{6C6A2423-CC17-4FA3-B36B-21A9993FC06A}" srcOrd="0" destOrd="0" presId="urn:microsoft.com/office/officeart/2005/8/layout/process1"/>
    <dgm:cxn modelId="{F20D5BB8-31E4-4DFD-BBF5-44CBBCBF33E1}" type="presParOf" srcId="{7E6964AE-2CA5-4AB4-8D54-7DD3F3A6EC01}" destId="{CFA9B160-91C2-4ABF-BFA4-05944113BE5F}" srcOrd="2" destOrd="0" presId="urn:microsoft.com/office/officeart/2005/8/layout/process1"/>
    <dgm:cxn modelId="{4F21354F-5B0A-4E53-ABB2-1531299999CA}" type="presParOf" srcId="{7E6964AE-2CA5-4AB4-8D54-7DD3F3A6EC01}" destId="{BB4337FA-B1DF-4C40-80D4-6B8EEAB8601B}" srcOrd="3" destOrd="0" presId="urn:microsoft.com/office/officeart/2005/8/layout/process1"/>
    <dgm:cxn modelId="{19227B56-BDA2-4A6A-915A-1CB964F6E96D}" type="presParOf" srcId="{BB4337FA-B1DF-4C40-80D4-6B8EEAB8601B}" destId="{11B6F94B-25A1-4267-8DB4-3B590DF4E734}" srcOrd="0" destOrd="0" presId="urn:microsoft.com/office/officeart/2005/8/layout/process1"/>
    <dgm:cxn modelId="{943D7D25-98CD-4D78-B46D-23007A381A54}" type="presParOf" srcId="{7E6964AE-2CA5-4AB4-8D54-7DD3F3A6EC01}" destId="{CC7AEEC5-CE08-4363-941D-6233E9D3D04C}"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33D93-0425-4ADB-B28A-0B0473376141}">
      <dsp:nvSpPr>
        <dsp:cNvPr id="0" name=""/>
        <dsp:cNvSpPr/>
      </dsp:nvSpPr>
      <dsp:spPr>
        <a:xfrm>
          <a:off x="9242" y="0"/>
          <a:ext cx="2762398" cy="1471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CO" sz="2800" b="1" kern="1200" dirty="0"/>
            <a:t>Business </a:t>
          </a:r>
          <a:r>
            <a:rPr lang="es-CO" sz="2800" b="1" kern="1200" dirty="0" err="1"/>
            <a:t>Understanding</a:t>
          </a:r>
          <a:endParaRPr lang="es-CO" sz="2800" kern="1200" dirty="0"/>
        </a:p>
      </dsp:txBody>
      <dsp:txXfrm>
        <a:off x="52327" y="43085"/>
        <a:ext cx="2676228" cy="1384858"/>
      </dsp:txXfrm>
    </dsp:sp>
    <dsp:sp modelId="{945B9A2B-91B0-49DC-9E8E-E1B4E1C3B608}">
      <dsp:nvSpPr>
        <dsp:cNvPr id="0" name=""/>
        <dsp:cNvSpPr/>
      </dsp:nvSpPr>
      <dsp:spPr>
        <a:xfrm>
          <a:off x="3047880" y="392976"/>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s-CO" sz="2300" kern="1200"/>
        </a:p>
      </dsp:txBody>
      <dsp:txXfrm>
        <a:off x="3047880" y="529991"/>
        <a:ext cx="409940" cy="411044"/>
      </dsp:txXfrm>
    </dsp:sp>
    <dsp:sp modelId="{CFA9B160-91C2-4ABF-BFA4-05944113BE5F}">
      <dsp:nvSpPr>
        <dsp:cNvPr id="0" name=""/>
        <dsp:cNvSpPr/>
      </dsp:nvSpPr>
      <dsp:spPr>
        <a:xfrm>
          <a:off x="3876600" y="0"/>
          <a:ext cx="2762398" cy="1471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CO" sz="2800" b="1" kern="1200" dirty="0"/>
            <a:t>Data </a:t>
          </a:r>
          <a:r>
            <a:rPr lang="es-CO" sz="2800" b="1" kern="1200" dirty="0" err="1"/>
            <a:t>Understanding</a:t>
          </a:r>
          <a:endParaRPr lang="es-CO" sz="2800" kern="1200" dirty="0"/>
        </a:p>
      </dsp:txBody>
      <dsp:txXfrm>
        <a:off x="3919685" y="43085"/>
        <a:ext cx="2676228" cy="1384858"/>
      </dsp:txXfrm>
    </dsp:sp>
    <dsp:sp modelId="{BB4337FA-B1DF-4C40-80D4-6B8EEAB8601B}">
      <dsp:nvSpPr>
        <dsp:cNvPr id="0" name=""/>
        <dsp:cNvSpPr/>
      </dsp:nvSpPr>
      <dsp:spPr>
        <a:xfrm>
          <a:off x="6915239" y="392976"/>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s-CO" sz="2300" kern="1200"/>
        </a:p>
      </dsp:txBody>
      <dsp:txXfrm>
        <a:off x="6915239" y="529991"/>
        <a:ext cx="409940" cy="411044"/>
      </dsp:txXfrm>
    </dsp:sp>
    <dsp:sp modelId="{CC7AEEC5-CE08-4363-941D-6233E9D3D04C}">
      <dsp:nvSpPr>
        <dsp:cNvPr id="0" name=""/>
        <dsp:cNvSpPr/>
      </dsp:nvSpPr>
      <dsp:spPr>
        <a:xfrm>
          <a:off x="7743958" y="0"/>
          <a:ext cx="2762398" cy="1471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CO" sz="2800" b="1" kern="1200"/>
            <a:t>Data </a:t>
          </a:r>
          <a:r>
            <a:rPr lang="es-CO" sz="2800" b="1" kern="1200" dirty="0" err="1"/>
            <a:t>Preparation</a:t>
          </a:r>
          <a:endParaRPr lang="es-CO" sz="2800" kern="1200" dirty="0"/>
        </a:p>
      </dsp:txBody>
      <dsp:txXfrm>
        <a:off x="7787043" y="43085"/>
        <a:ext cx="2676228" cy="13848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353FCC-5847-44A9-B9A2-2333505D7291}" type="datetimeFigureOut">
              <a:rPr lang="es-CO" smtClean="0"/>
              <a:t>28/06/2025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B3BB1-4A80-4BA1-9D18-86630635624D}" type="slidenum">
              <a:rPr lang="es-CO" smtClean="0"/>
              <a:t>‹Nº›</a:t>
            </a:fld>
            <a:endParaRPr lang="es-CO"/>
          </a:p>
        </p:txBody>
      </p:sp>
    </p:spTree>
    <p:extLst>
      <p:ext uri="{BB962C8B-B14F-4D97-AF65-F5344CB8AC3E}">
        <p14:creationId xmlns:p14="http://schemas.microsoft.com/office/powerpoint/2010/main" val="265410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CC6B3BB1-4A80-4BA1-9D18-86630635624D}" type="slidenum">
              <a:rPr lang="es-CO" smtClean="0"/>
              <a:t>48</a:t>
            </a:fld>
            <a:endParaRPr lang="es-CO"/>
          </a:p>
        </p:txBody>
      </p:sp>
    </p:spTree>
    <p:extLst>
      <p:ext uri="{BB962C8B-B14F-4D97-AF65-F5344CB8AC3E}">
        <p14:creationId xmlns:p14="http://schemas.microsoft.com/office/powerpoint/2010/main" val="1533611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CC6B3BB1-4A80-4BA1-9D18-86630635624D}" type="slidenum">
              <a:rPr lang="es-CO" smtClean="0"/>
              <a:t>49</a:t>
            </a:fld>
            <a:endParaRPr lang="es-CO"/>
          </a:p>
        </p:txBody>
      </p:sp>
    </p:spTree>
    <p:extLst>
      <p:ext uri="{BB962C8B-B14F-4D97-AF65-F5344CB8AC3E}">
        <p14:creationId xmlns:p14="http://schemas.microsoft.com/office/powerpoint/2010/main" val="3214813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266C01-AC10-76A6-EF5B-4D9F33D8DF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F78CC0E-71E0-49D9-9151-044FC1371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501931B-11C3-3F06-36A7-41EE182F78DB}"/>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417DDF91-A837-8C12-71DF-B1A2833C4C8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B751DC-D0D1-C26F-8A1F-737FA16A90B2}"/>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402021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49D36-90E7-4936-246D-8FC7485D2D9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20FAD18-D00D-EC99-7D02-90424190089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D0C40D5-E5AC-A3D0-38A0-C7DC5E993123}"/>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2B8DEDFF-FF0C-2015-2E6A-59AA6FE2DCB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0F3CBA9-141B-B518-2788-D80DC68ED9BC}"/>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253303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FDDD8-132A-6A88-2790-1C95D597403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F794FFA-A2F4-819B-18F6-90B9174CA1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E2F2E70-7D8C-2196-88DC-4FD6961D0C7E}"/>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F65032C0-44F5-6293-E33C-2B5E4A4B28D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42632D-AD7C-8500-1DF3-EFB9EDDF060F}"/>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57922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9AC8A-8AEF-A631-FE9C-6539B5B400B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9360563-9628-A67D-F6FC-2B8D412E1CD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F4B0B02-2277-6B42-B4D5-058820C627B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0B15FBC-973F-38ED-CB6B-96352AB1EA6A}"/>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6" name="Marcador de pie de página 5">
            <a:extLst>
              <a:ext uri="{FF2B5EF4-FFF2-40B4-BE49-F238E27FC236}">
                <a16:creationId xmlns:a16="http://schemas.microsoft.com/office/drawing/2014/main" id="{B1AA1419-199A-8B5B-EF65-4D71EE6F0C4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050D61A-EA5C-788C-3127-E01A621CD762}"/>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269673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CCE96F-B7BF-57AA-B1CE-32B0C3BA66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045B669-EE7C-CD78-6DA2-1723E9EC8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5D8791D-7EC8-3ACB-9A03-D4B1BAB962A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99E7FA-7994-995F-09AD-BDCAF66CE7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A95CA99-C0C4-A1B9-9465-AFCB5B9DF8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0B4D68E-9BDA-91AD-717D-F979CB19B6CF}"/>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8" name="Marcador de pie de página 7">
            <a:extLst>
              <a:ext uri="{FF2B5EF4-FFF2-40B4-BE49-F238E27FC236}">
                <a16:creationId xmlns:a16="http://schemas.microsoft.com/office/drawing/2014/main" id="{273F838E-3A69-C45B-2D22-294D332FC9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AC6BA84-E52A-3ED7-4FB9-8C39E797E260}"/>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4275085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0303A6-DD4B-1C56-CB19-A8494883096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A60437-2E26-6575-2D30-664F5BB83C89}"/>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4" name="Marcador de pie de página 3">
            <a:extLst>
              <a:ext uri="{FF2B5EF4-FFF2-40B4-BE49-F238E27FC236}">
                <a16:creationId xmlns:a16="http://schemas.microsoft.com/office/drawing/2014/main" id="{15357D26-5B41-4647-00E0-33B93BF1860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3EEE155-DC9B-D3BC-09FA-CB945CAAC75A}"/>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78892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DC3A07A-D994-E2A2-400E-E38C95AEF072}"/>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3" name="Marcador de pie de página 2">
            <a:extLst>
              <a:ext uri="{FF2B5EF4-FFF2-40B4-BE49-F238E27FC236}">
                <a16:creationId xmlns:a16="http://schemas.microsoft.com/office/drawing/2014/main" id="{8D4DF012-685A-6E59-0CC2-BACDADAB9D9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3BD190F-13D6-2F02-95D4-9422208629DC}"/>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83271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9D61C-CBA7-E601-BF85-F629B6CC35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BCED213-EA9A-1072-C2C4-0D02BFF47D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BB1EE55-65CD-9A64-FE92-45A424264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AFBA2D-1D04-073A-2EE3-F90FFE23A504}"/>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6" name="Marcador de pie de página 5">
            <a:extLst>
              <a:ext uri="{FF2B5EF4-FFF2-40B4-BE49-F238E27FC236}">
                <a16:creationId xmlns:a16="http://schemas.microsoft.com/office/drawing/2014/main" id="{4D888DB0-FF4F-7F7E-7C9F-5A20678C82A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F565546-69B3-0141-F2BD-87460B03B994}"/>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79704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D42E4-9959-8E53-E949-8D68BA004A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136FB9E-90BF-4A04-918D-8AE4E8D7BE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124780D7-D636-01B7-6057-3F3BC329C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622172-6986-EBD6-4DB8-E5F6C8AF7894}"/>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6" name="Marcador de pie de página 5">
            <a:extLst>
              <a:ext uri="{FF2B5EF4-FFF2-40B4-BE49-F238E27FC236}">
                <a16:creationId xmlns:a16="http://schemas.microsoft.com/office/drawing/2014/main" id="{CDE8A601-264F-4E65-C261-D7B82DC8753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226D01A-ACCA-A0A7-13FC-6E387FA92D1D}"/>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031870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545045-B911-B6EE-3C2E-A05CBD54BBC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9503704-9AD2-9637-1267-6D434C0453A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905CE6D-432C-30D6-1F29-1A1AD9B4EAEF}"/>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2C476382-168B-539C-A8BA-B33CFBC85F6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8DE7F6C-EC16-C660-3E1C-3A8D1E9866B9}"/>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46360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9DBE436-DF49-CCD6-1BE6-0F243BE7B22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53E6762-C139-12BB-0358-3CB55ECCE4A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7AAD419-0CE7-A45D-F656-68602E372E39}"/>
              </a:ext>
            </a:extLst>
          </p:cNvPr>
          <p:cNvSpPr>
            <a:spLocks noGrp="1"/>
          </p:cNvSpPr>
          <p:nvPr>
            <p:ph type="dt" sz="half" idx="10"/>
          </p:nvPr>
        </p:nvSpPr>
        <p:spPr/>
        <p:txBody>
          <a:body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A5472289-6D1B-5354-3E41-A3823487B7D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47DCDE6-5EB9-95A5-ADB8-A70C511F35D8}"/>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243046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5C1E176-07E8-5EB5-F6D7-DEB4F9B7E77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Marcador de título 1">
            <a:extLst>
              <a:ext uri="{FF2B5EF4-FFF2-40B4-BE49-F238E27FC236}">
                <a16:creationId xmlns:a16="http://schemas.microsoft.com/office/drawing/2014/main" id="{4049A98D-2845-E1DA-42A5-3B56E58832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92DB6C26-A679-9B3D-C8E0-1DD9BCB1A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2F84354-06B1-F908-15FD-92D645A56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703456-0D41-4FAA-A4DE-FC88BE14D655}" type="datetimeFigureOut">
              <a:rPr lang="es-CO" smtClean="0"/>
              <a:t>28/06/2025</a:t>
            </a:fld>
            <a:endParaRPr lang="es-CO"/>
          </a:p>
        </p:txBody>
      </p:sp>
      <p:sp>
        <p:nvSpPr>
          <p:cNvPr id="5" name="Marcador de pie de página 4">
            <a:extLst>
              <a:ext uri="{FF2B5EF4-FFF2-40B4-BE49-F238E27FC236}">
                <a16:creationId xmlns:a16="http://schemas.microsoft.com/office/drawing/2014/main" id="{8B360379-8F10-AA26-B385-2682EA063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82000"/>
                  </a:schemeClr>
                </a:solidFill>
                <a:latin typeface="Verdana" panose="020B0604030504040204" pitchFamily="34" charset="0"/>
                <a:ea typeface="Verdana" panose="020B0604030504040204" pitchFamily="34" charset="0"/>
              </a:defRPr>
            </a:lvl1pPr>
          </a:lstStyle>
          <a:p>
            <a:endParaRPr lang="es-CO"/>
          </a:p>
        </p:txBody>
      </p:sp>
      <p:sp>
        <p:nvSpPr>
          <p:cNvPr id="6" name="Marcador de número de diapositiva 5">
            <a:extLst>
              <a:ext uri="{FF2B5EF4-FFF2-40B4-BE49-F238E27FC236}">
                <a16:creationId xmlns:a16="http://schemas.microsoft.com/office/drawing/2014/main" id="{3D20F80E-7552-FBAE-8835-F09378C6C0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82000"/>
                  </a:schemeClr>
                </a:solidFill>
                <a:latin typeface="Verdana" panose="020B0604030504040204" pitchFamily="34" charset="0"/>
                <a:ea typeface="Verdana" panose="020B0604030504040204" pitchFamily="34" charset="0"/>
              </a:defRPr>
            </a:lvl1pPr>
          </a:lstStyle>
          <a:p>
            <a:fld id="{2423A29E-CA09-4170-A41B-C2470AA2B376}" type="slidenum">
              <a:rPr lang="es-CO" smtClean="0"/>
              <a:pPr/>
              <a:t>‹Nº›</a:t>
            </a:fld>
            <a:endParaRPr lang="es-CO"/>
          </a:p>
        </p:txBody>
      </p:sp>
    </p:spTree>
    <p:extLst>
      <p:ext uri="{BB962C8B-B14F-4D97-AF65-F5344CB8AC3E}">
        <p14:creationId xmlns:p14="http://schemas.microsoft.com/office/powerpoint/2010/main" val="705052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dbvis.com/wp-content/uploads/2024/04/SQL-Cheat-Sheet.pdf" TargetMode="External"/><Relationship Id="rId2" Type="http://schemas.openxmlformats.org/officeDocument/2006/relationships/hyperlink" Target="https://media.datacamp.com/legacy/image/upload/v1714149594/Marketing/Blog/SQL_for_Data_Science.pdf" TargetMode="External"/><Relationship Id="rId1" Type="http://schemas.openxmlformats.org/officeDocument/2006/relationships/slideLayout" Target="../slideLayouts/slideLayout2.xml"/><Relationship Id="rId4" Type="http://schemas.openxmlformats.org/officeDocument/2006/relationships/hyperlink" Target="https://media.geeksforgeeks.org/wp-content/uploads/20240328180119/SQL-Cheat-Sheet-PDF.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hyperlink" Target="https://aws.amazon.com/compare/the-difference-between-a-data-warehouse-data-lake-and-data-mart/?utm_source=chatgpt.com" TargetMode="External"/><Relationship Id="rId2" Type="http://schemas.openxmlformats.org/officeDocument/2006/relationships/hyperlink" Target="https://azure.microsoft.com/en-us/resources/cloud-computing-dictionary/what-is-a-data-lake?utm_source=chatgpt.com" TargetMode="External"/><Relationship Id="rId1" Type="http://schemas.openxmlformats.org/officeDocument/2006/relationships/slideLayout" Target="../slideLayouts/slideLayout2.xml"/><Relationship Id="rId4" Type="http://schemas.openxmlformats.org/officeDocument/2006/relationships/hyperlink" Target="https://www.qlik.com/us/data-lake/data-lake-vs-data-warehouse?utm_source=chatgpt.co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129682-032B-BB03-0571-E6A9C0DCB416}"/>
              </a:ext>
            </a:extLst>
          </p:cNvPr>
          <p:cNvSpPr>
            <a:spLocks noGrp="1"/>
          </p:cNvSpPr>
          <p:nvPr>
            <p:ph type="title"/>
          </p:nvPr>
        </p:nvSpPr>
        <p:spPr/>
        <p:txBody>
          <a:bodyPr>
            <a:normAutofit/>
          </a:bodyPr>
          <a:lstStyle/>
          <a:p>
            <a:r>
              <a:rPr lang="es-MX" dirty="0">
                <a:latin typeface="Verdana" panose="020B0604030504040204" pitchFamily="34" charset="0"/>
                <a:ea typeface="Verdana" panose="020B0604030504040204" pitchFamily="34" charset="0"/>
              </a:rPr>
              <a:t>Módulo 2 – Consulta de Datos, </a:t>
            </a:r>
            <a:r>
              <a:rPr lang="es-MX" dirty="0" err="1">
                <a:latin typeface="Verdana" panose="020B0604030504040204" pitchFamily="34" charset="0"/>
                <a:ea typeface="Verdana" panose="020B0604030504040204" pitchFamily="34" charset="0"/>
              </a:rPr>
              <a:t>Scraping</a:t>
            </a:r>
            <a:r>
              <a:rPr lang="es-MX" dirty="0">
                <a:latin typeface="Verdana" panose="020B0604030504040204" pitchFamily="34" charset="0"/>
                <a:ea typeface="Verdana" panose="020B0604030504040204" pitchFamily="34" charset="0"/>
              </a:rPr>
              <a:t> e Introducción a Big Data</a:t>
            </a:r>
            <a:endParaRPr lang="es-CO" dirty="0">
              <a:latin typeface="Verdana" panose="020B0604030504040204" pitchFamily="34" charset="0"/>
              <a:ea typeface="Verdana" panose="020B0604030504040204" pitchFamily="34" charset="0"/>
            </a:endParaRPr>
          </a:p>
        </p:txBody>
      </p:sp>
      <p:sp>
        <p:nvSpPr>
          <p:cNvPr id="3" name="Subtítulo 2">
            <a:extLst>
              <a:ext uri="{FF2B5EF4-FFF2-40B4-BE49-F238E27FC236}">
                <a16:creationId xmlns:a16="http://schemas.microsoft.com/office/drawing/2014/main" id="{83185A58-688E-1E9C-71A3-F607F7D48A3B}"/>
              </a:ext>
            </a:extLst>
          </p:cNvPr>
          <p:cNvSpPr>
            <a:spLocks noGrp="1"/>
          </p:cNvSpPr>
          <p:nvPr>
            <p:ph type="body" idx="1"/>
          </p:nvPr>
        </p:nvSpPr>
        <p:spPr/>
        <p:txBody>
          <a:bodyPr>
            <a:normAutofit fontScale="77500" lnSpcReduction="20000"/>
          </a:bodyPr>
          <a:lstStyle/>
          <a:p>
            <a:r>
              <a:rPr lang="es-MX" b="1" dirty="0">
                <a:latin typeface="Verdana" panose="020B0604030504040204" pitchFamily="34" charset="0"/>
                <a:ea typeface="Verdana" panose="020B0604030504040204" pitchFamily="34" charset="0"/>
              </a:rPr>
              <a:t>Especialización en Analítica y Ciencia de Datos Aplicada</a:t>
            </a:r>
          </a:p>
          <a:p>
            <a:endParaRPr lang="es-MX" dirty="0">
              <a:latin typeface="Verdana" panose="020B0604030504040204" pitchFamily="34" charset="0"/>
              <a:ea typeface="Verdana" panose="020B0604030504040204" pitchFamily="34" charset="0"/>
            </a:endParaRPr>
          </a:p>
          <a:p>
            <a:r>
              <a:rPr lang="es-MX" b="1" dirty="0">
                <a:latin typeface="Verdana" panose="020B0604030504040204" pitchFamily="34" charset="0"/>
                <a:ea typeface="Verdana" panose="020B0604030504040204" pitchFamily="34" charset="0"/>
              </a:rPr>
              <a:t>Délany Ramírez del Río</a:t>
            </a:r>
          </a:p>
          <a:p>
            <a:r>
              <a:rPr lang="es-MX" sz="1600" dirty="0">
                <a:latin typeface="Verdana" panose="020B0604030504040204" pitchFamily="34" charset="0"/>
                <a:ea typeface="Verdana" panose="020B0604030504040204" pitchFamily="34" charset="0"/>
              </a:rPr>
              <a:t>Ingeniero Industrial</a:t>
            </a:r>
          </a:p>
          <a:p>
            <a:r>
              <a:rPr lang="es-CO" sz="1600" dirty="0" err="1">
                <a:latin typeface="Verdana" panose="020B0604030504040204" pitchFamily="34" charset="0"/>
                <a:ea typeface="Verdana" panose="020B0604030504040204" pitchFamily="34" charset="0"/>
              </a:rPr>
              <a:t>MSc</a:t>
            </a:r>
            <a:r>
              <a:rPr lang="es-CO" sz="1600" dirty="0">
                <a:latin typeface="Verdana" panose="020B0604030504040204" pitchFamily="34" charset="0"/>
                <a:ea typeface="Verdana" panose="020B0604030504040204" pitchFamily="34" charset="0"/>
              </a:rPr>
              <a:t>. en Investigación Operativa y Estadística</a:t>
            </a:r>
          </a:p>
        </p:txBody>
      </p:sp>
    </p:spTree>
    <p:extLst>
      <p:ext uri="{BB962C8B-B14F-4D97-AF65-F5344CB8AC3E}">
        <p14:creationId xmlns:p14="http://schemas.microsoft.com/office/powerpoint/2010/main" val="152833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229BE7E-91AE-AF08-1AEA-6C9CDCEF3587}"/>
              </a:ext>
            </a:extLst>
          </p:cNvPr>
          <p:cNvSpPr>
            <a:spLocks noGrp="1"/>
          </p:cNvSpPr>
          <p:nvPr>
            <p:ph type="title"/>
          </p:nvPr>
        </p:nvSpPr>
        <p:spPr/>
        <p:txBody>
          <a:bodyPr/>
          <a:lstStyle/>
          <a:p>
            <a:r>
              <a:rPr lang="es-MX" dirty="0">
                <a:latin typeface="Verdana" panose="020B0604030504040204" pitchFamily="34" charset="0"/>
                <a:ea typeface="Verdana" panose="020B0604030504040204" pitchFamily="34" charset="0"/>
              </a:rPr>
              <a:t>Consulta de Datos y </a:t>
            </a:r>
            <a:r>
              <a:rPr lang="es-MX" dirty="0" err="1">
                <a:latin typeface="Verdana" panose="020B0604030504040204" pitchFamily="34" charset="0"/>
                <a:ea typeface="Verdana" panose="020B0604030504040204" pitchFamily="34" charset="0"/>
              </a:rPr>
              <a:t>Scraping</a:t>
            </a:r>
            <a:endParaRPr lang="es-CO" dirty="0">
              <a:latin typeface="Verdana" panose="020B0604030504040204" pitchFamily="34" charset="0"/>
              <a:ea typeface="Verdana" panose="020B0604030504040204" pitchFamily="34" charset="0"/>
            </a:endParaRPr>
          </a:p>
        </p:txBody>
      </p:sp>
      <p:sp>
        <p:nvSpPr>
          <p:cNvPr id="5" name="Marcador de texto 4">
            <a:extLst>
              <a:ext uri="{FF2B5EF4-FFF2-40B4-BE49-F238E27FC236}">
                <a16:creationId xmlns:a16="http://schemas.microsoft.com/office/drawing/2014/main" id="{8611D7C2-634F-7C5D-D825-61F8605EF3FD}"/>
              </a:ext>
            </a:extLst>
          </p:cNvPr>
          <p:cNvSpPr>
            <a:spLocks noGrp="1"/>
          </p:cNvSpPr>
          <p:nvPr>
            <p:ph type="body" idx="1"/>
          </p:nvPr>
        </p:nvSpPr>
        <p:spPr/>
        <p:txBody>
          <a:bodyPr>
            <a:normAutofit fontScale="77500" lnSpcReduction="20000"/>
          </a:bodyPr>
          <a:lstStyle/>
          <a:p>
            <a:r>
              <a:rPr lang="es-MX" dirty="0">
                <a:latin typeface="Verdana" panose="020B0604030504040204" pitchFamily="34" charset="0"/>
                <a:ea typeface="Verdana" panose="020B0604030504040204" pitchFamily="34" charset="0"/>
              </a:rPr>
              <a:t>«Extraer, consultar y preparar datos desde archivos locales, bases SQL y la web para análisis en Python».</a:t>
            </a:r>
          </a:p>
          <a:p>
            <a:pPr marL="342900" indent="-342900">
              <a:buFont typeface="Arial" panose="020B0604020202020204" pitchFamily="34" charset="0"/>
              <a:buChar char="•"/>
            </a:pPr>
            <a:r>
              <a:rPr lang="es-MX" dirty="0">
                <a:latin typeface="Verdana" panose="020B0604030504040204" pitchFamily="34" charset="0"/>
                <a:ea typeface="Verdana" panose="020B0604030504040204" pitchFamily="34" charset="0"/>
              </a:rPr>
              <a:t>Identificar formatos y fuentes de datos. </a:t>
            </a:r>
          </a:p>
          <a:p>
            <a:pPr marL="342900" indent="-342900">
              <a:buFont typeface="Arial" panose="020B0604020202020204" pitchFamily="34" charset="0"/>
              <a:buChar char="•"/>
            </a:pPr>
            <a:r>
              <a:rPr lang="es-MX" dirty="0">
                <a:latin typeface="Verdana" panose="020B0604030504040204" pitchFamily="34" charset="0"/>
                <a:ea typeface="Verdana" panose="020B0604030504040204" pitchFamily="34" charset="0"/>
              </a:rPr>
              <a:t>Aplicar consultas SQL básicas. </a:t>
            </a:r>
          </a:p>
          <a:p>
            <a:pPr marL="342900" indent="-342900">
              <a:buFont typeface="Arial" panose="020B0604020202020204" pitchFamily="34" charset="0"/>
              <a:buChar char="•"/>
            </a:pPr>
            <a:r>
              <a:rPr lang="es-MX" dirty="0">
                <a:latin typeface="Verdana" panose="020B0604030504040204" pitchFamily="34" charset="0"/>
                <a:ea typeface="Verdana" panose="020B0604030504040204" pitchFamily="34" charset="0"/>
              </a:rPr>
              <a:t>Implementar </a:t>
            </a:r>
            <a:r>
              <a:rPr lang="es-MX" dirty="0" err="1">
                <a:latin typeface="Verdana" panose="020B0604030504040204" pitchFamily="34" charset="0"/>
                <a:ea typeface="Verdana" panose="020B0604030504040204" pitchFamily="34" charset="0"/>
              </a:rPr>
              <a:t>scraping</a:t>
            </a:r>
            <a:r>
              <a:rPr lang="es-MX" dirty="0">
                <a:latin typeface="Verdana" panose="020B0604030504040204" pitchFamily="34" charset="0"/>
                <a:ea typeface="Verdana" panose="020B0604030504040204" pitchFamily="34" charset="0"/>
              </a:rPr>
              <a:t> responsable.</a:t>
            </a:r>
          </a:p>
        </p:txBody>
      </p:sp>
    </p:spTree>
    <p:extLst>
      <p:ext uri="{BB962C8B-B14F-4D97-AF65-F5344CB8AC3E}">
        <p14:creationId xmlns:p14="http://schemas.microsoft.com/office/powerpoint/2010/main" val="1063467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620D4-C60B-9343-E14F-EF50DC9F5C4D}"/>
              </a:ext>
            </a:extLst>
          </p:cNvPr>
          <p:cNvSpPr>
            <a:spLocks noGrp="1"/>
          </p:cNvSpPr>
          <p:nvPr>
            <p:ph type="title"/>
          </p:nvPr>
        </p:nvSpPr>
        <p:spPr/>
        <p:txBody>
          <a:bodyPr/>
          <a:lstStyle/>
          <a:p>
            <a:r>
              <a:rPr lang="da-DK" dirty="0">
                <a:latin typeface="Verdana" panose="020B0604030504040204" pitchFamily="34" charset="0"/>
                <a:ea typeface="Verdana" panose="020B0604030504040204" pitchFamily="34" charset="0"/>
              </a:rPr>
              <a:t>CRISP-DM: Data Understanding</a:t>
            </a:r>
            <a:endParaRPr lang="es-CO" dirty="0">
              <a:latin typeface="Verdana" panose="020B0604030504040204" pitchFamily="34" charset="0"/>
              <a:ea typeface="Verdana" panose="020B0604030504040204" pitchFamily="34" charset="0"/>
            </a:endParaRPr>
          </a:p>
        </p:txBody>
      </p:sp>
      <p:graphicFrame>
        <p:nvGraphicFramePr>
          <p:cNvPr id="4" name="Marcador de contenido 3">
            <a:extLst>
              <a:ext uri="{FF2B5EF4-FFF2-40B4-BE49-F238E27FC236}">
                <a16:creationId xmlns:a16="http://schemas.microsoft.com/office/drawing/2014/main" id="{B7B72757-BB4C-E1E3-E5A0-B15C0EC4E81E}"/>
              </a:ext>
            </a:extLst>
          </p:cNvPr>
          <p:cNvGraphicFramePr>
            <a:graphicFrameLocks noGrp="1"/>
          </p:cNvGraphicFramePr>
          <p:nvPr>
            <p:ph idx="1"/>
            <p:extLst>
              <p:ext uri="{D42A27DB-BD31-4B8C-83A1-F6EECF244321}">
                <p14:modId xmlns:p14="http://schemas.microsoft.com/office/powerpoint/2010/main" val="850844486"/>
              </p:ext>
            </p:extLst>
          </p:nvPr>
        </p:nvGraphicFramePr>
        <p:xfrm>
          <a:off x="838200" y="1825625"/>
          <a:ext cx="10515600" cy="1471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F24F05C1-CDCE-F8BC-7B00-65CB37C7FF40}"/>
              </a:ext>
            </a:extLst>
          </p:cNvPr>
          <p:cNvSpPr txBox="1"/>
          <p:nvPr/>
        </p:nvSpPr>
        <p:spPr>
          <a:xfrm>
            <a:off x="838200" y="3783647"/>
            <a:ext cx="10515600" cy="2246769"/>
          </a:xfrm>
          <a:prstGeom prst="rect">
            <a:avLst/>
          </a:prstGeom>
          <a:noFill/>
        </p:spPr>
        <p:txBody>
          <a:bodyPr wrap="square" rtlCol="0">
            <a:spAutoFit/>
          </a:bodyPr>
          <a:lstStyle/>
          <a:p>
            <a:pPr marL="285750" indent="-285750">
              <a:buFont typeface="Arial" panose="020B0604020202020204" pitchFamily="34" charset="0"/>
              <a:buChar char="•"/>
            </a:pPr>
            <a:r>
              <a:rPr lang="es-CO" sz="2800" dirty="0">
                <a:latin typeface="Verdana" panose="020B0604030504040204" pitchFamily="34" charset="0"/>
                <a:ea typeface="Verdana" panose="020B0604030504040204" pitchFamily="34" charset="0"/>
              </a:rPr>
              <a:t>Data </a:t>
            </a:r>
            <a:r>
              <a:rPr lang="es-CO" sz="2800" dirty="0" err="1">
                <a:latin typeface="Verdana" panose="020B0604030504040204" pitchFamily="34" charset="0"/>
                <a:ea typeface="Verdana" panose="020B0604030504040204" pitchFamily="34" charset="0"/>
              </a:rPr>
              <a:t>Understanding</a:t>
            </a:r>
            <a:r>
              <a:rPr lang="es-CO" sz="2800" dirty="0">
                <a:latin typeface="Verdana" panose="020B0604030504040204" pitchFamily="34" charset="0"/>
                <a:ea typeface="Verdana" panose="020B0604030504040204" pitchFamily="34" charset="0"/>
              </a:rPr>
              <a:t> ↔ </a:t>
            </a:r>
            <a:r>
              <a:rPr lang="es-CO" sz="2800" dirty="0" err="1">
                <a:latin typeface="Verdana" panose="020B0604030504040204" pitchFamily="34" charset="0"/>
                <a:ea typeface="Verdana" panose="020B0604030504040204" pitchFamily="34" charset="0"/>
              </a:rPr>
              <a:t>Acquisition</a:t>
            </a:r>
            <a:r>
              <a:rPr lang="es-CO" sz="2800" dirty="0">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endParaRPr lang="es-CO" sz="2800" dirty="0">
              <a:latin typeface="Verdana" panose="020B0604030504040204" pitchFamily="34" charset="0"/>
              <a:ea typeface="Verdana" panose="020B0604030504040204" pitchFamily="34" charset="0"/>
            </a:endParaRPr>
          </a:p>
          <a:p>
            <a:pPr marL="742950" lvl="1" indent="-285750">
              <a:buFont typeface="Arial" panose="020B0604020202020204" pitchFamily="34" charset="0"/>
              <a:buChar char="•"/>
            </a:pPr>
            <a:r>
              <a:rPr lang="es-CO" sz="2800" dirty="0">
                <a:latin typeface="Verdana" panose="020B0604030504040204" pitchFamily="34" charset="0"/>
                <a:ea typeface="Verdana" panose="020B0604030504040204" pitchFamily="34" charset="0"/>
              </a:rPr>
              <a:t>Localizar fuentes (archivos, bases, </a:t>
            </a:r>
            <a:r>
              <a:rPr lang="es-CO" sz="2800" dirty="0" err="1">
                <a:latin typeface="Verdana" panose="020B0604030504040204" pitchFamily="34" charset="0"/>
                <a:ea typeface="Verdana" panose="020B0604030504040204" pitchFamily="34" charset="0"/>
              </a:rPr>
              <a:t>APIs</a:t>
            </a:r>
            <a:r>
              <a:rPr lang="es-CO" sz="2800" dirty="0">
                <a:latin typeface="Verdana" panose="020B0604030504040204" pitchFamily="34" charset="0"/>
                <a:ea typeface="Verdana" panose="020B0604030504040204" pitchFamily="34" charset="0"/>
              </a:rPr>
              <a:t>).</a:t>
            </a:r>
          </a:p>
          <a:p>
            <a:pPr marL="742950" lvl="1" indent="-285750">
              <a:buFont typeface="Arial" panose="020B0604020202020204" pitchFamily="34" charset="0"/>
              <a:buChar char="•"/>
            </a:pPr>
            <a:r>
              <a:rPr lang="es-CO" sz="2800" dirty="0">
                <a:latin typeface="Verdana" panose="020B0604030504040204" pitchFamily="34" charset="0"/>
                <a:ea typeface="Verdana" panose="020B0604030504040204" pitchFamily="34" charset="0"/>
              </a:rPr>
              <a:t>Evaluar calidad (completitud, consistencia).</a:t>
            </a:r>
          </a:p>
          <a:p>
            <a:pPr marL="742950" lvl="1" indent="-285750">
              <a:buFont typeface="Arial" panose="020B0604020202020204" pitchFamily="34" charset="0"/>
              <a:buChar char="•"/>
            </a:pPr>
            <a:r>
              <a:rPr lang="es-CO" sz="2800" dirty="0">
                <a:latin typeface="Verdana" panose="020B0604030504040204" pitchFamily="34" charset="0"/>
                <a:ea typeface="Verdana" panose="020B0604030504040204" pitchFamily="34" charset="0"/>
              </a:rPr>
              <a:t>Documentar metadatos (origen, fecha, licencia).</a:t>
            </a:r>
          </a:p>
        </p:txBody>
      </p:sp>
    </p:spTree>
    <p:extLst>
      <p:ext uri="{BB962C8B-B14F-4D97-AF65-F5344CB8AC3E}">
        <p14:creationId xmlns:p14="http://schemas.microsoft.com/office/powerpoint/2010/main" val="2335868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268CDD-319A-DE5A-B725-5293D9F80D0F}"/>
              </a:ext>
            </a:extLst>
          </p:cNvPr>
          <p:cNvSpPr>
            <a:spLocks noGrp="1"/>
          </p:cNvSpPr>
          <p:nvPr>
            <p:ph type="title"/>
          </p:nvPr>
        </p:nvSpPr>
        <p:spPr/>
        <p:txBody>
          <a:bodyPr/>
          <a:lstStyle/>
          <a:p>
            <a:r>
              <a:rPr lang="es-CO" dirty="0">
                <a:latin typeface="Verdana" panose="020B0604030504040204" pitchFamily="34" charset="0"/>
                <a:ea typeface="Verdana" panose="020B0604030504040204" pitchFamily="34" charset="0"/>
              </a:rPr>
              <a:t>Formatos de almacenamiento local</a:t>
            </a:r>
          </a:p>
        </p:txBody>
      </p:sp>
      <p:graphicFrame>
        <p:nvGraphicFramePr>
          <p:cNvPr id="4" name="Marcador de contenido 3">
            <a:extLst>
              <a:ext uri="{FF2B5EF4-FFF2-40B4-BE49-F238E27FC236}">
                <a16:creationId xmlns:a16="http://schemas.microsoft.com/office/drawing/2014/main" id="{D9C02605-0C57-B466-26B5-53963B53F391}"/>
              </a:ext>
            </a:extLst>
          </p:cNvPr>
          <p:cNvGraphicFramePr>
            <a:graphicFrameLocks noGrp="1"/>
          </p:cNvGraphicFramePr>
          <p:nvPr>
            <p:ph idx="1"/>
            <p:extLst>
              <p:ext uri="{D42A27DB-BD31-4B8C-83A1-F6EECF244321}">
                <p14:modId xmlns:p14="http://schemas.microsoft.com/office/powerpoint/2010/main" val="821914578"/>
              </p:ext>
            </p:extLst>
          </p:nvPr>
        </p:nvGraphicFramePr>
        <p:xfrm>
          <a:off x="838200" y="2401094"/>
          <a:ext cx="10515600" cy="3139440"/>
        </p:xfrm>
        <a:graphic>
          <a:graphicData uri="http://schemas.openxmlformats.org/drawingml/2006/table">
            <a:tbl>
              <a:tblPr firstRow="1" bandRow="1">
                <a:tableStyleId>{9D7B26C5-4107-4FEC-AEDC-1716B250A1EF}</a:tableStyleId>
              </a:tblPr>
              <a:tblGrid>
                <a:gridCol w="2103120">
                  <a:extLst>
                    <a:ext uri="{9D8B030D-6E8A-4147-A177-3AD203B41FA5}">
                      <a16:colId xmlns:a16="http://schemas.microsoft.com/office/drawing/2014/main" val="3274061961"/>
                    </a:ext>
                  </a:extLst>
                </a:gridCol>
                <a:gridCol w="2103120">
                  <a:extLst>
                    <a:ext uri="{9D8B030D-6E8A-4147-A177-3AD203B41FA5}">
                      <a16:colId xmlns:a16="http://schemas.microsoft.com/office/drawing/2014/main" val="2387018362"/>
                    </a:ext>
                  </a:extLst>
                </a:gridCol>
                <a:gridCol w="2103120">
                  <a:extLst>
                    <a:ext uri="{9D8B030D-6E8A-4147-A177-3AD203B41FA5}">
                      <a16:colId xmlns:a16="http://schemas.microsoft.com/office/drawing/2014/main" val="864456353"/>
                    </a:ext>
                  </a:extLst>
                </a:gridCol>
                <a:gridCol w="2103120">
                  <a:extLst>
                    <a:ext uri="{9D8B030D-6E8A-4147-A177-3AD203B41FA5}">
                      <a16:colId xmlns:a16="http://schemas.microsoft.com/office/drawing/2014/main" val="2547975079"/>
                    </a:ext>
                  </a:extLst>
                </a:gridCol>
                <a:gridCol w="2103120">
                  <a:extLst>
                    <a:ext uri="{9D8B030D-6E8A-4147-A177-3AD203B41FA5}">
                      <a16:colId xmlns:a16="http://schemas.microsoft.com/office/drawing/2014/main" val="3470318202"/>
                    </a:ext>
                  </a:extLst>
                </a:gridCol>
              </a:tblGrid>
              <a:tr h="0">
                <a:tc>
                  <a:txBody>
                    <a:bodyPr/>
                    <a:lstStyle/>
                    <a:p>
                      <a:r>
                        <a:rPr lang="es-CO" sz="1600" dirty="0">
                          <a:latin typeface="Verdana" panose="020B0604030504040204" pitchFamily="34" charset="0"/>
                          <a:ea typeface="Verdana" panose="020B0604030504040204" pitchFamily="34" charset="0"/>
                        </a:rPr>
                        <a:t>Formato</a:t>
                      </a:r>
                    </a:p>
                  </a:txBody>
                  <a:tcPr anchor="ctr"/>
                </a:tc>
                <a:tc>
                  <a:txBody>
                    <a:bodyPr/>
                    <a:lstStyle/>
                    <a:p>
                      <a:r>
                        <a:rPr lang="es-CO" sz="1600">
                          <a:latin typeface="Verdana" panose="020B0604030504040204" pitchFamily="34" charset="0"/>
                          <a:ea typeface="Verdana" panose="020B0604030504040204" pitchFamily="34" charset="0"/>
                        </a:rPr>
                        <a:t>Estructura</a:t>
                      </a:r>
                    </a:p>
                  </a:txBody>
                  <a:tcPr anchor="ctr"/>
                </a:tc>
                <a:tc>
                  <a:txBody>
                    <a:bodyPr/>
                    <a:lstStyle/>
                    <a:p>
                      <a:r>
                        <a:rPr lang="es-CO" sz="1600">
                          <a:latin typeface="Verdana" panose="020B0604030504040204" pitchFamily="34" charset="0"/>
                          <a:ea typeface="Verdana" panose="020B0604030504040204" pitchFamily="34" charset="0"/>
                        </a:rPr>
                        <a:t>Ventajas</a:t>
                      </a:r>
                    </a:p>
                  </a:txBody>
                  <a:tcPr anchor="ctr"/>
                </a:tc>
                <a:tc>
                  <a:txBody>
                    <a:bodyPr/>
                    <a:lstStyle/>
                    <a:p>
                      <a:r>
                        <a:rPr lang="es-CO" sz="1600">
                          <a:latin typeface="Verdana" panose="020B0604030504040204" pitchFamily="34" charset="0"/>
                          <a:ea typeface="Verdana" panose="020B0604030504040204" pitchFamily="34" charset="0"/>
                        </a:rPr>
                        <a:t>Riesgos comunes</a:t>
                      </a:r>
                    </a:p>
                  </a:txBody>
                  <a:tcPr anchor="ctr"/>
                </a:tc>
                <a:tc>
                  <a:txBody>
                    <a:bodyPr/>
                    <a:lstStyle/>
                    <a:p>
                      <a:r>
                        <a:rPr lang="es-CO" sz="1600">
                          <a:latin typeface="Verdana" panose="020B0604030504040204" pitchFamily="34" charset="0"/>
                          <a:ea typeface="Verdana" panose="020B0604030504040204" pitchFamily="34" charset="0"/>
                        </a:rPr>
                        <a:t>Carga en Python</a:t>
                      </a:r>
                    </a:p>
                  </a:txBody>
                  <a:tcPr anchor="ctr"/>
                </a:tc>
                <a:extLst>
                  <a:ext uri="{0D108BD9-81ED-4DB2-BD59-A6C34878D82A}">
                    <a16:rowId xmlns:a16="http://schemas.microsoft.com/office/drawing/2014/main" val="1153012474"/>
                  </a:ext>
                </a:extLst>
              </a:tr>
              <a:tr h="0">
                <a:tc>
                  <a:txBody>
                    <a:bodyPr/>
                    <a:lstStyle/>
                    <a:p>
                      <a:r>
                        <a:rPr lang="es-CO" sz="1600" b="1">
                          <a:latin typeface="Verdana" panose="020B0604030504040204" pitchFamily="34" charset="0"/>
                          <a:ea typeface="Verdana" panose="020B0604030504040204" pitchFamily="34" charset="0"/>
                        </a:rPr>
                        <a:t>CSV/TSV</a:t>
                      </a:r>
                      <a:endParaRPr lang="es-CO" sz="1600">
                        <a:latin typeface="Verdana" panose="020B0604030504040204" pitchFamily="34" charset="0"/>
                        <a:ea typeface="Verdana" panose="020B0604030504040204" pitchFamily="34" charset="0"/>
                      </a:endParaRPr>
                    </a:p>
                  </a:txBody>
                  <a:tcPr anchor="ctr"/>
                </a:tc>
                <a:tc>
                  <a:txBody>
                    <a:bodyPr/>
                    <a:lstStyle/>
                    <a:p>
                      <a:r>
                        <a:rPr lang="es-CO" sz="1600">
                          <a:latin typeface="Verdana" panose="020B0604030504040204" pitchFamily="34" charset="0"/>
                          <a:ea typeface="Verdana" panose="020B0604030504040204" pitchFamily="34" charset="0"/>
                        </a:rPr>
                        <a:t>Delimitado (, ó \t)</a:t>
                      </a:r>
                    </a:p>
                  </a:txBody>
                  <a:tcPr anchor="ctr"/>
                </a:tc>
                <a:tc>
                  <a:txBody>
                    <a:bodyPr/>
                    <a:lstStyle/>
                    <a:p>
                      <a:r>
                        <a:rPr lang="es-CO" sz="1600">
                          <a:latin typeface="Verdana" panose="020B0604030504040204" pitchFamily="34" charset="0"/>
                          <a:ea typeface="Verdana" panose="020B0604030504040204" pitchFamily="34" charset="0"/>
                        </a:rPr>
                        <a:t>Ligero y universal</a:t>
                      </a:r>
                    </a:p>
                  </a:txBody>
                  <a:tcPr anchor="ctr"/>
                </a:tc>
                <a:tc>
                  <a:txBody>
                    <a:bodyPr/>
                    <a:lstStyle/>
                    <a:p>
                      <a:r>
                        <a:rPr lang="es-CO" sz="1600">
                          <a:latin typeface="Verdana" panose="020B0604030504040204" pitchFamily="34" charset="0"/>
                          <a:ea typeface="Verdana" panose="020B0604030504040204" pitchFamily="34" charset="0"/>
                        </a:rPr>
                        <a:t>Codificación, separadores</a:t>
                      </a:r>
                    </a:p>
                  </a:txBody>
                  <a:tcPr anchor="ctr"/>
                </a:tc>
                <a:tc>
                  <a:txBody>
                    <a:bodyPr/>
                    <a:lstStyle/>
                    <a:p>
                      <a:r>
                        <a:rPr lang="es-CO" sz="1600">
                          <a:latin typeface="Verdana" panose="020B0604030504040204" pitchFamily="34" charset="0"/>
                          <a:ea typeface="Verdana" panose="020B0604030504040204" pitchFamily="34" charset="0"/>
                        </a:rPr>
                        <a:t>pd.read_csv('file.csv', sep=',')</a:t>
                      </a:r>
                    </a:p>
                  </a:txBody>
                  <a:tcPr anchor="ctr"/>
                </a:tc>
                <a:extLst>
                  <a:ext uri="{0D108BD9-81ED-4DB2-BD59-A6C34878D82A}">
                    <a16:rowId xmlns:a16="http://schemas.microsoft.com/office/drawing/2014/main" val="3098319505"/>
                  </a:ext>
                </a:extLst>
              </a:tr>
              <a:tr h="0">
                <a:tc>
                  <a:txBody>
                    <a:bodyPr/>
                    <a:lstStyle/>
                    <a:p>
                      <a:r>
                        <a:rPr lang="es-CO" sz="1600" b="1">
                          <a:latin typeface="Verdana" panose="020B0604030504040204" pitchFamily="34" charset="0"/>
                          <a:ea typeface="Verdana" panose="020B0604030504040204" pitchFamily="34" charset="0"/>
                        </a:rPr>
                        <a:t>XLSX</a:t>
                      </a:r>
                      <a:endParaRPr lang="es-CO" sz="1600">
                        <a:latin typeface="Verdana" panose="020B0604030504040204" pitchFamily="34" charset="0"/>
                        <a:ea typeface="Verdana" panose="020B0604030504040204" pitchFamily="34" charset="0"/>
                      </a:endParaRPr>
                    </a:p>
                  </a:txBody>
                  <a:tcPr anchor="ctr"/>
                </a:tc>
                <a:tc>
                  <a:txBody>
                    <a:bodyPr/>
                    <a:lstStyle/>
                    <a:p>
                      <a:r>
                        <a:rPr lang="es-CO" sz="1600">
                          <a:latin typeface="Verdana" panose="020B0604030504040204" pitchFamily="34" charset="0"/>
                          <a:ea typeface="Verdana" panose="020B0604030504040204" pitchFamily="34" charset="0"/>
                        </a:rPr>
                        <a:t>Celdas y hojas</a:t>
                      </a:r>
                    </a:p>
                  </a:txBody>
                  <a:tcPr anchor="ctr"/>
                </a:tc>
                <a:tc>
                  <a:txBody>
                    <a:bodyPr/>
                    <a:lstStyle/>
                    <a:p>
                      <a:r>
                        <a:rPr lang="es-CO" sz="1600" dirty="0">
                          <a:latin typeface="Verdana" panose="020B0604030504040204" pitchFamily="34" charset="0"/>
                          <a:ea typeface="Verdana" panose="020B0604030504040204" pitchFamily="34" charset="0"/>
                        </a:rPr>
                        <a:t>Fórmulas, tipos explícitos</a:t>
                      </a:r>
                    </a:p>
                  </a:txBody>
                  <a:tcPr anchor="ctr"/>
                </a:tc>
                <a:tc>
                  <a:txBody>
                    <a:bodyPr/>
                    <a:lstStyle/>
                    <a:p>
                      <a:r>
                        <a:rPr lang="es-CO" sz="1600" dirty="0">
                          <a:latin typeface="Verdana" panose="020B0604030504040204" pitchFamily="34" charset="0"/>
                          <a:ea typeface="Verdana" panose="020B0604030504040204" pitchFamily="34" charset="0"/>
                        </a:rPr>
                        <a:t>Celdas fusionadas</a:t>
                      </a:r>
                    </a:p>
                  </a:txBody>
                  <a:tcPr anchor="ctr"/>
                </a:tc>
                <a:tc>
                  <a:txBody>
                    <a:bodyPr/>
                    <a:lstStyle/>
                    <a:p>
                      <a:r>
                        <a:rPr lang="en-US" sz="1600" dirty="0" err="1">
                          <a:latin typeface="Verdana" panose="020B0604030504040204" pitchFamily="34" charset="0"/>
                          <a:ea typeface="Verdana" panose="020B0604030504040204" pitchFamily="34" charset="0"/>
                        </a:rPr>
                        <a:t>pd.read_excel</a:t>
                      </a:r>
                      <a:r>
                        <a:rPr lang="en-US" sz="1600" dirty="0">
                          <a:latin typeface="Verdana" panose="020B0604030504040204" pitchFamily="34" charset="0"/>
                          <a:ea typeface="Verdana" panose="020B0604030504040204" pitchFamily="34" charset="0"/>
                        </a:rPr>
                        <a:t>('file.xlsx', </a:t>
                      </a:r>
                      <a:r>
                        <a:rPr lang="en-US" sz="1600" dirty="0" err="1">
                          <a:latin typeface="Verdana" panose="020B0604030504040204" pitchFamily="34" charset="0"/>
                          <a:ea typeface="Verdana" panose="020B0604030504040204" pitchFamily="34" charset="0"/>
                        </a:rPr>
                        <a:t>sheet_name</a:t>
                      </a:r>
                      <a:r>
                        <a:rPr lang="en-US" sz="1600" dirty="0">
                          <a:latin typeface="Verdana" panose="020B0604030504040204" pitchFamily="34" charset="0"/>
                          <a:ea typeface="Verdana" panose="020B0604030504040204" pitchFamily="34" charset="0"/>
                        </a:rPr>
                        <a:t>=0)</a:t>
                      </a:r>
                    </a:p>
                  </a:txBody>
                  <a:tcPr anchor="ctr"/>
                </a:tc>
                <a:extLst>
                  <a:ext uri="{0D108BD9-81ED-4DB2-BD59-A6C34878D82A}">
                    <a16:rowId xmlns:a16="http://schemas.microsoft.com/office/drawing/2014/main" val="3552073392"/>
                  </a:ext>
                </a:extLst>
              </a:tr>
              <a:tr h="0">
                <a:tc>
                  <a:txBody>
                    <a:bodyPr/>
                    <a:lstStyle/>
                    <a:p>
                      <a:r>
                        <a:rPr lang="es-CO" sz="1600" b="1">
                          <a:latin typeface="Verdana" panose="020B0604030504040204" pitchFamily="34" charset="0"/>
                          <a:ea typeface="Verdana" panose="020B0604030504040204" pitchFamily="34" charset="0"/>
                        </a:rPr>
                        <a:t>XML</a:t>
                      </a:r>
                      <a:endParaRPr lang="es-CO" sz="1600">
                        <a:latin typeface="Verdana" panose="020B0604030504040204" pitchFamily="34" charset="0"/>
                        <a:ea typeface="Verdana" panose="020B0604030504040204" pitchFamily="34" charset="0"/>
                      </a:endParaRPr>
                    </a:p>
                  </a:txBody>
                  <a:tcPr anchor="ctr"/>
                </a:tc>
                <a:tc>
                  <a:txBody>
                    <a:bodyPr/>
                    <a:lstStyle/>
                    <a:p>
                      <a:r>
                        <a:rPr lang="es-CO" sz="1600">
                          <a:latin typeface="Verdana" panose="020B0604030504040204" pitchFamily="34" charset="0"/>
                          <a:ea typeface="Verdana" panose="020B0604030504040204" pitchFamily="34" charset="0"/>
                        </a:rPr>
                        <a:t>Árbol etiquetas</a:t>
                      </a:r>
                    </a:p>
                  </a:txBody>
                  <a:tcPr anchor="ctr"/>
                </a:tc>
                <a:tc>
                  <a:txBody>
                    <a:bodyPr/>
                    <a:lstStyle/>
                    <a:p>
                      <a:r>
                        <a:rPr lang="es-CO" sz="1600">
                          <a:latin typeface="Verdana" panose="020B0604030504040204" pitchFamily="34" charset="0"/>
                          <a:ea typeface="Verdana" panose="020B0604030504040204" pitchFamily="34" charset="0"/>
                        </a:rPr>
                        <a:t>Jerarquía flexible</a:t>
                      </a:r>
                    </a:p>
                  </a:txBody>
                  <a:tcPr anchor="ctr"/>
                </a:tc>
                <a:tc>
                  <a:txBody>
                    <a:bodyPr/>
                    <a:lstStyle/>
                    <a:p>
                      <a:r>
                        <a:rPr lang="es-CO" sz="1600">
                          <a:latin typeface="Verdana" panose="020B0604030504040204" pitchFamily="34" charset="0"/>
                          <a:ea typeface="Verdana" panose="020B0604030504040204" pitchFamily="34" charset="0"/>
                        </a:rPr>
                        <a:t>Verbosidad</a:t>
                      </a:r>
                    </a:p>
                  </a:txBody>
                  <a:tcPr anchor="ctr"/>
                </a:tc>
                <a:tc>
                  <a:txBody>
                    <a:bodyPr/>
                    <a:lstStyle/>
                    <a:p>
                      <a:r>
                        <a:rPr lang="es-CO" sz="1600">
                          <a:latin typeface="Verdana" panose="020B0604030504040204" pitchFamily="34" charset="0"/>
                          <a:ea typeface="Verdana" panose="020B0604030504040204" pitchFamily="34" charset="0"/>
                        </a:rPr>
                        <a:t>pd.read_xml('file.xml')</a:t>
                      </a:r>
                    </a:p>
                  </a:txBody>
                  <a:tcPr anchor="ctr"/>
                </a:tc>
                <a:extLst>
                  <a:ext uri="{0D108BD9-81ED-4DB2-BD59-A6C34878D82A}">
                    <a16:rowId xmlns:a16="http://schemas.microsoft.com/office/drawing/2014/main" val="203654970"/>
                  </a:ext>
                </a:extLst>
              </a:tr>
              <a:tr h="0">
                <a:tc>
                  <a:txBody>
                    <a:bodyPr/>
                    <a:lstStyle/>
                    <a:p>
                      <a:r>
                        <a:rPr lang="es-CO" sz="1600" b="1" dirty="0">
                          <a:latin typeface="Verdana" panose="020B0604030504040204" pitchFamily="34" charset="0"/>
                          <a:ea typeface="Verdana" panose="020B0604030504040204" pitchFamily="34" charset="0"/>
                        </a:rPr>
                        <a:t>JSON</a:t>
                      </a:r>
                      <a:endParaRPr lang="es-CO" sz="1600" dirty="0">
                        <a:latin typeface="Verdana" panose="020B0604030504040204" pitchFamily="34" charset="0"/>
                        <a:ea typeface="Verdana" panose="020B0604030504040204" pitchFamily="34" charset="0"/>
                      </a:endParaRPr>
                    </a:p>
                  </a:txBody>
                  <a:tcPr anchor="ctr"/>
                </a:tc>
                <a:tc>
                  <a:txBody>
                    <a:bodyPr/>
                    <a:lstStyle/>
                    <a:p>
                      <a:r>
                        <a:rPr lang="es-CO" sz="1600">
                          <a:latin typeface="Verdana" panose="020B0604030504040204" pitchFamily="34" charset="0"/>
                          <a:ea typeface="Verdana" panose="020B0604030504040204" pitchFamily="34" charset="0"/>
                        </a:rPr>
                        <a:t>Clave-valor anidado</a:t>
                      </a:r>
                    </a:p>
                  </a:txBody>
                  <a:tcPr anchor="ctr"/>
                </a:tc>
                <a:tc>
                  <a:txBody>
                    <a:bodyPr/>
                    <a:lstStyle/>
                    <a:p>
                      <a:r>
                        <a:rPr lang="es-CO" sz="1600">
                          <a:latin typeface="Verdana" panose="020B0604030504040204" pitchFamily="34" charset="0"/>
                          <a:ea typeface="Verdana" panose="020B0604030504040204" pitchFamily="34" charset="0"/>
                        </a:rPr>
                        <a:t>APIs modernas</a:t>
                      </a:r>
                    </a:p>
                  </a:txBody>
                  <a:tcPr anchor="ctr"/>
                </a:tc>
                <a:tc>
                  <a:txBody>
                    <a:bodyPr/>
                    <a:lstStyle/>
                    <a:p>
                      <a:r>
                        <a:rPr lang="es-CO" sz="1600">
                          <a:latin typeface="Verdana" panose="020B0604030504040204" pitchFamily="34" charset="0"/>
                          <a:ea typeface="Verdana" panose="020B0604030504040204" pitchFamily="34" charset="0"/>
                        </a:rPr>
                        <a:t>Profundidad irregular</a:t>
                      </a:r>
                    </a:p>
                  </a:txBody>
                  <a:tcPr anchor="ctr"/>
                </a:tc>
                <a:tc>
                  <a:txBody>
                    <a:bodyPr/>
                    <a:lstStyle/>
                    <a:p>
                      <a:r>
                        <a:rPr lang="es-CO" sz="1600" dirty="0" err="1">
                          <a:latin typeface="Verdana" panose="020B0604030504040204" pitchFamily="34" charset="0"/>
                          <a:ea typeface="Verdana" panose="020B0604030504040204" pitchFamily="34" charset="0"/>
                        </a:rPr>
                        <a:t>pd.json_normalize</a:t>
                      </a:r>
                      <a:r>
                        <a:rPr lang="es-CO" sz="1600" dirty="0">
                          <a:latin typeface="Verdana" panose="020B0604030504040204" pitchFamily="34" charset="0"/>
                          <a:ea typeface="Verdana" panose="020B0604030504040204" pitchFamily="34" charset="0"/>
                        </a:rPr>
                        <a:t>(data)</a:t>
                      </a:r>
                    </a:p>
                  </a:txBody>
                  <a:tcPr anchor="ctr"/>
                </a:tc>
                <a:extLst>
                  <a:ext uri="{0D108BD9-81ED-4DB2-BD59-A6C34878D82A}">
                    <a16:rowId xmlns:a16="http://schemas.microsoft.com/office/drawing/2014/main" val="2953605500"/>
                  </a:ext>
                </a:extLst>
              </a:tr>
            </a:tbl>
          </a:graphicData>
        </a:graphic>
      </p:graphicFrame>
    </p:spTree>
    <p:extLst>
      <p:ext uri="{BB962C8B-B14F-4D97-AF65-F5344CB8AC3E}">
        <p14:creationId xmlns:p14="http://schemas.microsoft.com/office/powerpoint/2010/main" val="348506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64A539-1473-0860-95FC-5090AE423798}"/>
              </a:ext>
            </a:extLst>
          </p:cNvPr>
          <p:cNvSpPr>
            <a:spLocks noGrp="1"/>
          </p:cNvSpPr>
          <p:nvPr>
            <p:ph type="title"/>
          </p:nvPr>
        </p:nvSpPr>
        <p:spPr/>
        <p:txBody>
          <a:bodyPr>
            <a:normAutofit/>
          </a:bodyPr>
          <a:lstStyle/>
          <a:p>
            <a:r>
              <a:rPr lang="es-CO" sz="4000" dirty="0">
                <a:latin typeface="Verdana" panose="020B0604030504040204" pitchFamily="34" charset="0"/>
                <a:ea typeface="Verdana" panose="020B0604030504040204" pitchFamily="34" charset="0"/>
              </a:rPr>
              <a:t>Formatos de almacenamiento local</a:t>
            </a:r>
          </a:p>
        </p:txBody>
      </p:sp>
      <p:sp>
        <p:nvSpPr>
          <p:cNvPr id="3" name="Marcador de texto 2">
            <a:extLst>
              <a:ext uri="{FF2B5EF4-FFF2-40B4-BE49-F238E27FC236}">
                <a16:creationId xmlns:a16="http://schemas.microsoft.com/office/drawing/2014/main" id="{A2E5E96E-6C39-73D6-C3DB-78BD59C09BF5}"/>
              </a:ext>
            </a:extLst>
          </p:cNvPr>
          <p:cNvSpPr>
            <a:spLocks noGrp="1"/>
          </p:cNvSpPr>
          <p:nvPr>
            <p:ph type="body" idx="1"/>
          </p:nvPr>
        </p:nvSpPr>
        <p:spPr/>
        <p:txBody>
          <a:bodyPr>
            <a:normAutofit/>
          </a:bodyPr>
          <a:lstStyle/>
          <a:p>
            <a:r>
              <a:rPr lang="es-MX" sz="2000" dirty="0">
                <a:latin typeface="Verdana" panose="020B0604030504040204" pitchFamily="34" charset="0"/>
                <a:ea typeface="Verdana" panose="020B0604030504040204" pitchFamily="34" charset="0"/>
              </a:rPr>
              <a:t>.</a:t>
            </a:r>
            <a:r>
              <a:rPr lang="es-MX" sz="2000" dirty="0" err="1">
                <a:latin typeface="Verdana" panose="020B0604030504040204" pitchFamily="34" charset="0"/>
                <a:ea typeface="Verdana" panose="020B0604030504040204" pitchFamily="34" charset="0"/>
              </a:rPr>
              <a:t>csv</a:t>
            </a:r>
            <a:endParaRPr lang="es-CO" sz="2000" dirty="0">
              <a:latin typeface="Verdana" panose="020B0604030504040204" pitchFamily="34" charset="0"/>
              <a:ea typeface="Verdana" panose="020B0604030504040204" pitchFamily="34" charset="0"/>
            </a:endParaRPr>
          </a:p>
        </p:txBody>
      </p:sp>
      <p:sp>
        <p:nvSpPr>
          <p:cNvPr id="5" name="Marcador de texto 4">
            <a:extLst>
              <a:ext uri="{FF2B5EF4-FFF2-40B4-BE49-F238E27FC236}">
                <a16:creationId xmlns:a16="http://schemas.microsoft.com/office/drawing/2014/main" id="{737CE650-1AA9-4437-5EBA-C5E9143D29D4}"/>
              </a:ext>
            </a:extLst>
          </p:cNvPr>
          <p:cNvSpPr>
            <a:spLocks noGrp="1"/>
          </p:cNvSpPr>
          <p:nvPr>
            <p:ph type="body" sz="quarter" idx="3"/>
          </p:nvPr>
        </p:nvSpPr>
        <p:spPr/>
        <p:txBody>
          <a:bodyPr>
            <a:normAutofit/>
          </a:bodyPr>
          <a:lstStyle/>
          <a:p>
            <a:r>
              <a:rPr lang="es-MX" sz="2000" dirty="0">
                <a:latin typeface="Verdana" panose="020B0604030504040204" pitchFamily="34" charset="0"/>
                <a:ea typeface="Verdana" panose="020B0604030504040204" pitchFamily="34" charset="0"/>
              </a:rPr>
              <a:t>.</a:t>
            </a:r>
            <a:r>
              <a:rPr lang="es-MX" sz="2000" dirty="0" err="1">
                <a:latin typeface="Verdana" panose="020B0604030504040204" pitchFamily="34" charset="0"/>
                <a:ea typeface="Verdana" panose="020B0604030504040204" pitchFamily="34" charset="0"/>
              </a:rPr>
              <a:t>xslx</a:t>
            </a:r>
            <a:endParaRPr lang="es-CO" sz="2000" dirty="0">
              <a:latin typeface="Verdana" panose="020B0604030504040204" pitchFamily="34" charset="0"/>
              <a:ea typeface="Verdana" panose="020B0604030504040204" pitchFamily="34" charset="0"/>
            </a:endParaRPr>
          </a:p>
        </p:txBody>
      </p:sp>
      <p:pic>
        <p:nvPicPr>
          <p:cNvPr id="3074" name="Picture 2" descr="Open CSV File and Chart CSV Data - Peltier Tech">
            <a:extLst>
              <a:ext uri="{FF2B5EF4-FFF2-40B4-BE49-F238E27FC236}">
                <a16:creationId xmlns:a16="http://schemas.microsoft.com/office/drawing/2014/main" id="{1121962A-B14F-7ED3-D98D-F625DBB45E0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351756" y="2785269"/>
            <a:ext cx="4133850" cy="3124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ad Excel File in R (6 Examples) | xlsx, xls, read_excel, readxl, openxlsx">
            <a:extLst>
              <a:ext uri="{FF2B5EF4-FFF2-40B4-BE49-F238E27FC236}">
                <a16:creationId xmlns:a16="http://schemas.microsoft.com/office/drawing/2014/main" id="{B65A0085-B44B-5EC9-B819-60671A598596}"/>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172200" y="2946909"/>
            <a:ext cx="5183188" cy="280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28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2B10-73CF-2817-03D6-B8D1F44BC3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D81B26-BF28-ECE1-487B-3781337DAF16}"/>
              </a:ext>
            </a:extLst>
          </p:cNvPr>
          <p:cNvSpPr>
            <a:spLocks noGrp="1"/>
          </p:cNvSpPr>
          <p:nvPr>
            <p:ph type="title"/>
          </p:nvPr>
        </p:nvSpPr>
        <p:spPr/>
        <p:txBody>
          <a:bodyPr>
            <a:normAutofit/>
          </a:bodyPr>
          <a:lstStyle/>
          <a:p>
            <a:r>
              <a:rPr lang="es-CO" sz="4000" dirty="0">
                <a:latin typeface="Verdana" panose="020B0604030504040204" pitchFamily="34" charset="0"/>
                <a:ea typeface="Verdana" panose="020B0604030504040204" pitchFamily="34" charset="0"/>
              </a:rPr>
              <a:t>Formatos de almacenamiento local</a:t>
            </a:r>
          </a:p>
        </p:txBody>
      </p:sp>
      <p:sp>
        <p:nvSpPr>
          <p:cNvPr id="3" name="Marcador de texto 2">
            <a:extLst>
              <a:ext uri="{FF2B5EF4-FFF2-40B4-BE49-F238E27FC236}">
                <a16:creationId xmlns:a16="http://schemas.microsoft.com/office/drawing/2014/main" id="{707EC2A7-188F-55CD-98A5-86237B30BE23}"/>
              </a:ext>
            </a:extLst>
          </p:cNvPr>
          <p:cNvSpPr>
            <a:spLocks noGrp="1"/>
          </p:cNvSpPr>
          <p:nvPr>
            <p:ph type="body" idx="1"/>
          </p:nvPr>
        </p:nvSpPr>
        <p:spPr/>
        <p:txBody>
          <a:bodyPr>
            <a:normAutofit/>
          </a:bodyPr>
          <a:lstStyle/>
          <a:p>
            <a:r>
              <a:rPr lang="es-MX" sz="2000" dirty="0">
                <a:latin typeface="Verdana" panose="020B0604030504040204" pitchFamily="34" charset="0"/>
                <a:ea typeface="Verdana" panose="020B0604030504040204" pitchFamily="34" charset="0"/>
              </a:rPr>
              <a:t>.</a:t>
            </a:r>
            <a:r>
              <a:rPr lang="es-MX" sz="2000" dirty="0" err="1">
                <a:latin typeface="Verdana" panose="020B0604030504040204" pitchFamily="34" charset="0"/>
                <a:ea typeface="Verdana" panose="020B0604030504040204" pitchFamily="34" charset="0"/>
              </a:rPr>
              <a:t>xml</a:t>
            </a:r>
            <a:endParaRPr lang="es-CO" sz="2000" dirty="0">
              <a:latin typeface="Verdana" panose="020B0604030504040204" pitchFamily="34" charset="0"/>
              <a:ea typeface="Verdana" panose="020B0604030504040204" pitchFamily="34" charset="0"/>
            </a:endParaRPr>
          </a:p>
        </p:txBody>
      </p:sp>
      <p:sp>
        <p:nvSpPr>
          <p:cNvPr id="5" name="Marcador de texto 4">
            <a:extLst>
              <a:ext uri="{FF2B5EF4-FFF2-40B4-BE49-F238E27FC236}">
                <a16:creationId xmlns:a16="http://schemas.microsoft.com/office/drawing/2014/main" id="{6B3BD9DD-6EC4-3D96-A85F-960B3D9D35DF}"/>
              </a:ext>
            </a:extLst>
          </p:cNvPr>
          <p:cNvSpPr>
            <a:spLocks noGrp="1"/>
          </p:cNvSpPr>
          <p:nvPr>
            <p:ph type="body" sz="quarter" idx="3"/>
          </p:nvPr>
        </p:nvSpPr>
        <p:spPr/>
        <p:txBody>
          <a:bodyPr>
            <a:normAutofit/>
          </a:bodyPr>
          <a:lstStyle/>
          <a:p>
            <a:r>
              <a:rPr lang="es-MX" sz="2000" dirty="0">
                <a:latin typeface="Verdana" panose="020B0604030504040204" pitchFamily="34" charset="0"/>
                <a:ea typeface="Verdana" panose="020B0604030504040204" pitchFamily="34" charset="0"/>
              </a:rPr>
              <a:t>.</a:t>
            </a:r>
            <a:r>
              <a:rPr lang="es-MX" sz="2000" dirty="0" err="1">
                <a:latin typeface="Verdana" panose="020B0604030504040204" pitchFamily="34" charset="0"/>
                <a:ea typeface="Verdana" panose="020B0604030504040204" pitchFamily="34" charset="0"/>
              </a:rPr>
              <a:t>json</a:t>
            </a:r>
            <a:endParaRPr lang="es-CO" sz="2000" dirty="0">
              <a:latin typeface="Verdana" panose="020B0604030504040204" pitchFamily="34" charset="0"/>
              <a:ea typeface="Verdana" panose="020B0604030504040204" pitchFamily="34" charset="0"/>
            </a:endParaRPr>
          </a:p>
        </p:txBody>
      </p:sp>
      <p:pic>
        <p:nvPicPr>
          <p:cNvPr id="4098" name="Picture 2" descr="Example 1: Read XML File">
            <a:extLst>
              <a:ext uri="{FF2B5EF4-FFF2-40B4-BE49-F238E27FC236}">
                <a16:creationId xmlns:a16="http://schemas.microsoft.com/office/drawing/2014/main" id="{C2DD035B-2B13-028E-8C3D-2E6C37AB51A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461021" y="2589761"/>
            <a:ext cx="3915321" cy="351521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ow to Read JSON Data and Insert it into a Database Training Page |  GoAnywhere">
            <a:extLst>
              <a:ext uri="{FF2B5EF4-FFF2-40B4-BE49-F238E27FC236}">
                <a16:creationId xmlns:a16="http://schemas.microsoft.com/office/drawing/2014/main" id="{D6FD0662-2F8F-3596-E5A2-B21638D76DF3}"/>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91791" y="2594524"/>
            <a:ext cx="4344006" cy="350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959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126037-9939-A7AC-C691-4EF3CA87BA55}"/>
              </a:ext>
            </a:extLst>
          </p:cNvPr>
          <p:cNvSpPr>
            <a:spLocks noGrp="1"/>
          </p:cNvSpPr>
          <p:nvPr>
            <p:ph type="title"/>
          </p:nvPr>
        </p:nvSpPr>
        <p:spPr/>
        <p:txBody>
          <a:bodyPr>
            <a:normAutofit/>
          </a:bodyPr>
          <a:lstStyle/>
          <a:p>
            <a:r>
              <a:rPr lang="es-CO" sz="3600" dirty="0">
                <a:latin typeface="Verdana" panose="020B0604030504040204" pitchFamily="34" charset="0"/>
                <a:ea typeface="Verdana" panose="020B0604030504040204" pitchFamily="34" charset="0"/>
              </a:rPr>
              <a:t>Buenas prácticas al importar</a:t>
            </a:r>
          </a:p>
        </p:txBody>
      </p:sp>
      <p:sp>
        <p:nvSpPr>
          <p:cNvPr id="3" name="Marcador de contenido 2">
            <a:extLst>
              <a:ext uri="{FF2B5EF4-FFF2-40B4-BE49-F238E27FC236}">
                <a16:creationId xmlns:a16="http://schemas.microsoft.com/office/drawing/2014/main" id="{A831F658-7BA3-E137-FE3C-B6F131288D99}"/>
              </a:ext>
            </a:extLst>
          </p:cNvPr>
          <p:cNvSpPr>
            <a:spLocks noGrp="1"/>
          </p:cNvSpPr>
          <p:nvPr>
            <p:ph idx="1"/>
          </p:nvPr>
        </p:nvSpPr>
        <p:spPr/>
        <p:txBody>
          <a:bodyPr>
            <a:normAutofit/>
          </a:bodyPr>
          <a:lstStyle/>
          <a:p>
            <a:r>
              <a:rPr lang="es-CO" sz="2000" dirty="0">
                <a:latin typeface="Verdana" panose="020B0604030504040204" pitchFamily="34" charset="0"/>
                <a:ea typeface="Verdana" panose="020B0604030504040204" pitchFamily="34" charset="0"/>
              </a:rPr>
              <a:t>Verificar </a:t>
            </a:r>
            <a:r>
              <a:rPr lang="es-CO" sz="2000" b="1" dirty="0" err="1">
                <a:latin typeface="Verdana" panose="020B0604030504040204" pitchFamily="34" charset="0"/>
                <a:ea typeface="Verdana" panose="020B0604030504040204" pitchFamily="34" charset="0"/>
              </a:rPr>
              <a:t>encoding</a:t>
            </a:r>
            <a:r>
              <a:rPr lang="es-CO" sz="2000" dirty="0">
                <a:latin typeface="Verdana" panose="020B0604030504040204" pitchFamily="34" charset="0"/>
                <a:ea typeface="Verdana" panose="020B0604030504040204" pitchFamily="34" charset="0"/>
              </a:rPr>
              <a:t> ('</a:t>
            </a:r>
            <a:r>
              <a:rPr lang="es-CO" sz="2000" i="1" dirty="0">
                <a:latin typeface="Verdana" panose="020B0604030504040204" pitchFamily="34" charset="0"/>
                <a:ea typeface="Verdana" panose="020B0604030504040204" pitchFamily="34" charset="0"/>
              </a:rPr>
              <a:t>utf-8</a:t>
            </a:r>
            <a:r>
              <a:rPr lang="es-CO" sz="2000" dirty="0">
                <a:latin typeface="Verdana" panose="020B0604030504040204" pitchFamily="34" charset="0"/>
                <a:ea typeface="Verdana" panose="020B0604030504040204" pitchFamily="34" charset="0"/>
              </a:rPr>
              <a:t>', '</a:t>
            </a:r>
            <a:r>
              <a:rPr lang="es-CO" sz="2000" i="1" dirty="0">
                <a:latin typeface="Verdana" panose="020B0604030504040204" pitchFamily="34" charset="0"/>
                <a:ea typeface="Verdana" panose="020B0604030504040204" pitchFamily="34" charset="0"/>
              </a:rPr>
              <a:t>latin-1</a:t>
            </a:r>
            <a:r>
              <a:rPr lang="es-CO" sz="2000" dirty="0">
                <a:latin typeface="Verdana" panose="020B0604030504040204" pitchFamily="34" charset="0"/>
                <a:ea typeface="Verdana" panose="020B0604030504040204" pitchFamily="34" charset="0"/>
              </a:rPr>
              <a:t>’).</a:t>
            </a:r>
          </a:p>
          <a:p>
            <a:pPr lvl="1"/>
            <a:r>
              <a:rPr lang="es-MX" sz="1800" dirty="0">
                <a:latin typeface="Verdana" panose="020B0604030504040204" pitchFamily="34" charset="0"/>
                <a:ea typeface="Verdana" panose="020B0604030504040204" pitchFamily="34" charset="0"/>
              </a:rPr>
              <a:t>Al cargar datos con una codificación incorrecta (mala codificación), puedes encontrarte con caracteres extraños o ilegibles en lugar de los caracteres deseados. Esto sucede porque el sistema interpreta incorrectamente la secuencia de bytes del archivo, tratando cada byte como un carácter en lugar de un byte dentro de una secuencia que representa un carácter Unicode.</a:t>
            </a:r>
          </a:p>
          <a:p>
            <a:pPr lvl="1"/>
            <a:r>
              <a:rPr lang="es-MX" sz="1800" b="1" dirty="0">
                <a:latin typeface="Verdana" panose="020B0604030504040204" pitchFamily="34" charset="0"/>
                <a:ea typeface="Verdana" panose="020B0604030504040204" pitchFamily="34" charset="0"/>
              </a:rPr>
              <a:t>Ejemplos de problemas de codificación: </a:t>
            </a:r>
            <a:r>
              <a:rPr lang="es-MX" sz="1800" dirty="0">
                <a:latin typeface="Verdana" panose="020B0604030504040204" pitchFamily="34" charset="0"/>
                <a:ea typeface="Verdana" panose="020B0604030504040204" pitchFamily="34" charset="0"/>
              </a:rPr>
              <a:t>Caracteres como "Ã©", "Ã\</a:t>
            </a:r>
            <a:r>
              <a:rPr lang="es-MX" sz="1800" dirty="0" err="1">
                <a:latin typeface="Verdana" panose="020B0604030504040204" pitchFamily="34" charset="0"/>
                <a:ea typeface="Verdana" panose="020B0604030504040204" pitchFamily="34" charset="0"/>
              </a:rPr>
              <a:t>xad</a:t>
            </a:r>
            <a:r>
              <a:rPr lang="es-MX" sz="1800" dirty="0">
                <a:latin typeface="Verdana" panose="020B0604030504040204" pitchFamily="34" charset="0"/>
                <a:ea typeface="Verdana" panose="020B0604030504040204" pitchFamily="34" charset="0"/>
              </a:rPr>
              <a:t>", "â‚¬" en lugar de "é", "í", "€":</a:t>
            </a:r>
            <a:endParaRPr lang="es-CO" sz="1800" dirty="0">
              <a:latin typeface="Verdana" panose="020B0604030504040204" pitchFamily="34" charset="0"/>
              <a:ea typeface="Verdana" panose="020B0604030504040204" pitchFamily="34" charset="0"/>
            </a:endParaRPr>
          </a:p>
          <a:p>
            <a:r>
              <a:rPr lang="es-CO" sz="2000" dirty="0">
                <a:latin typeface="Verdana" panose="020B0604030504040204" pitchFamily="34" charset="0"/>
                <a:ea typeface="Verdana" panose="020B0604030504040204" pitchFamily="34" charset="0"/>
              </a:rPr>
              <a:t>Declarar tipos con </a:t>
            </a:r>
            <a:r>
              <a:rPr lang="es-CO" sz="2000" dirty="0" err="1">
                <a:latin typeface="Verdana" panose="020B0604030504040204" pitchFamily="34" charset="0"/>
                <a:ea typeface="Verdana" panose="020B0604030504040204" pitchFamily="34" charset="0"/>
              </a:rPr>
              <a:t>dtype</a:t>
            </a:r>
            <a:r>
              <a:rPr lang="es-CO" sz="2000" dirty="0">
                <a:latin typeface="Verdana" panose="020B0604030504040204" pitchFamily="34" charset="0"/>
                <a:ea typeface="Verdana" panose="020B0604030504040204" pitchFamily="34" charset="0"/>
              </a:rPr>
              <a:t>= para ahorrar memoria.</a:t>
            </a:r>
          </a:p>
          <a:p>
            <a:r>
              <a:rPr lang="es-CO" sz="2000" dirty="0">
                <a:latin typeface="Verdana" panose="020B0604030504040204" pitchFamily="34" charset="0"/>
                <a:ea typeface="Verdana" panose="020B0604030504040204" pitchFamily="34" charset="0"/>
              </a:rPr>
              <a:t>Usar </a:t>
            </a:r>
            <a:r>
              <a:rPr lang="es-CO" sz="2000" i="1" dirty="0" err="1">
                <a:latin typeface="Verdana" panose="020B0604030504040204" pitchFamily="34" charset="0"/>
                <a:ea typeface="Verdana" panose="020B0604030504040204" pitchFamily="34" charset="0"/>
              </a:rPr>
              <a:t>na_values</a:t>
            </a:r>
            <a:r>
              <a:rPr lang="es-CO" sz="2000" dirty="0">
                <a:latin typeface="Verdana" panose="020B0604030504040204" pitchFamily="34" charset="0"/>
                <a:ea typeface="Verdana" panose="020B0604030504040204" pitchFamily="34" charset="0"/>
              </a:rPr>
              <a:t> para estandarizar faltantes.</a:t>
            </a:r>
          </a:p>
          <a:p>
            <a:r>
              <a:rPr lang="es-CO" sz="2000" dirty="0">
                <a:latin typeface="Verdana" panose="020B0604030504040204" pitchFamily="34" charset="0"/>
                <a:ea typeface="Verdana" panose="020B0604030504040204" pitchFamily="34" charset="0"/>
              </a:rPr>
              <a:t>Validar filas/columnas inesperadas:</a:t>
            </a:r>
          </a:p>
        </p:txBody>
      </p:sp>
      <p:sp>
        <p:nvSpPr>
          <p:cNvPr id="8" name="CuadroTexto 7">
            <a:extLst>
              <a:ext uri="{FF2B5EF4-FFF2-40B4-BE49-F238E27FC236}">
                <a16:creationId xmlns:a16="http://schemas.microsoft.com/office/drawing/2014/main" id="{D4B6C0C5-F219-DF0B-70F8-ABC037264D29}"/>
              </a:ext>
            </a:extLst>
          </p:cNvPr>
          <p:cNvSpPr txBox="1"/>
          <p:nvPr/>
        </p:nvSpPr>
        <p:spPr>
          <a:xfrm>
            <a:off x="1696451" y="5988734"/>
            <a:ext cx="8795086" cy="646331"/>
          </a:xfrm>
          <a:prstGeom prst="rect">
            <a:avLst/>
          </a:prstGeom>
          <a:noFill/>
        </p:spPr>
        <p:txBody>
          <a:bodyPr wrap="square">
            <a:spAutoFit/>
          </a:bodyPr>
          <a:lstStyle/>
          <a:p>
            <a:r>
              <a:rPr lang="es-CO" dirty="0" err="1">
                <a:latin typeface="Lucida Console" panose="020B0609040504020204" pitchFamily="49" charset="0"/>
              </a:rPr>
              <a:t>df</a:t>
            </a:r>
            <a:r>
              <a:rPr lang="es-CO" dirty="0">
                <a:latin typeface="Lucida Console" panose="020B0609040504020204" pitchFamily="49" charset="0"/>
              </a:rPr>
              <a:t> = </a:t>
            </a:r>
            <a:r>
              <a:rPr lang="es-CO" dirty="0" err="1">
                <a:latin typeface="Lucida Console" panose="020B0609040504020204" pitchFamily="49" charset="0"/>
              </a:rPr>
              <a:t>pd.read_csv</a:t>
            </a:r>
            <a:r>
              <a:rPr lang="es-CO" dirty="0">
                <a:latin typeface="Lucida Console" panose="020B0609040504020204" pitchFamily="49" charset="0"/>
              </a:rPr>
              <a:t>('ventas.csv', </a:t>
            </a:r>
            <a:r>
              <a:rPr lang="es-CO" dirty="0" err="1">
                <a:latin typeface="Lucida Console" panose="020B0609040504020204" pitchFamily="49" charset="0"/>
              </a:rPr>
              <a:t>on_bad_lines</a:t>
            </a:r>
            <a:r>
              <a:rPr lang="es-CO" dirty="0">
                <a:latin typeface="Lucida Console" panose="020B0609040504020204" pitchFamily="49" charset="0"/>
              </a:rPr>
              <a:t>='</a:t>
            </a:r>
            <a:r>
              <a:rPr lang="es-CO" dirty="0" err="1">
                <a:latin typeface="Lucida Console" panose="020B0609040504020204" pitchFamily="49" charset="0"/>
              </a:rPr>
              <a:t>skip</a:t>
            </a:r>
            <a:r>
              <a:rPr lang="es-CO" dirty="0">
                <a:latin typeface="Lucida Console" panose="020B0609040504020204" pitchFamily="49" charset="0"/>
              </a:rPr>
              <a:t>')</a:t>
            </a:r>
          </a:p>
          <a:p>
            <a:r>
              <a:rPr lang="es-CO" dirty="0" err="1">
                <a:latin typeface="Lucida Console" panose="020B0609040504020204" pitchFamily="49" charset="0"/>
              </a:rPr>
              <a:t>assert</a:t>
            </a:r>
            <a:r>
              <a:rPr lang="es-CO" dirty="0">
                <a:latin typeface="Lucida Console" panose="020B0609040504020204" pitchFamily="49" charset="0"/>
              </a:rPr>
              <a:t> </a:t>
            </a:r>
            <a:r>
              <a:rPr lang="es-CO" dirty="0" err="1">
                <a:latin typeface="Lucida Console" panose="020B0609040504020204" pitchFamily="49" charset="0"/>
              </a:rPr>
              <a:t>df.isnull</a:t>
            </a:r>
            <a:r>
              <a:rPr lang="es-CO" dirty="0">
                <a:latin typeface="Lucida Console" panose="020B0609040504020204" pitchFamily="49" charset="0"/>
              </a:rPr>
              <a:t>().mean().</a:t>
            </a:r>
            <a:r>
              <a:rPr lang="es-CO" dirty="0" err="1">
                <a:latin typeface="Lucida Console" panose="020B0609040504020204" pitchFamily="49" charset="0"/>
              </a:rPr>
              <a:t>max</a:t>
            </a:r>
            <a:r>
              <a:rPr lang="es-CO" dirty="0">
                <a:latin typeface="Lucida Console" panose="020B0609040504020204" pitchFamily="49" charset="0"/>
              </a:rPr>
              <a:t>() &lt; 0.1, "Exceso de NA"</a:t>
            </a:r>
          </a:p>
        </p:txBody>
      </p:sp>
    </p:spTree>
    <p:extLst>
      <p:ext uri="{BB962C8B-B14F-4D97-AF65-F5344CB8AC3E}">
        <p14:creationId xmlns:p14="http://schemas.microsoft.com/office/powerpoint/2010/main" val="632353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7CB7F7-1561-A602-DBC8-C6A8CE109D84}"/>
              </a:ext>
            </a:extLst>
          </p:cNvPr>
          <p:cNvSpPr>
            <a:spLocks noGrp="1"/>
          </p:cNvSpPr>
          <p:nvPr>
            <p:ph type="title"/>
          </p:nvPr>
        </p:nvSpPr>
        <p:spPr/>
        <p:txBody>
          <a:bodyPr/>
          <a:lstStyle/>
          <a:p>
            <a:r>
              <a:rPr lang="es-CO" dirty="0">
                <a:latin typeface="Verdana" panose="020B0604030504040204" pitchFamily="34" charset="0"/>
                <a:ea typeface="Verdana" panose="020B0604030504040204" pitchFamily="34" charset="0"/>
              </a:rPr>
              <a:t>Demo rápida (</a:t>
            </a:r>
            <a:r>
              <a:rPr lang="es-CO" dirty="0" err="1">
                <a:latin typeface="Verdana" panose="020B0604030504040204" pitchFamily="34" charset="0"/>
                <a:ea typeface="Verdana" panose="020B0604030504040204" pitchFamily="34" charset="0"/>
              </a:rPr>
              <a:t>Jupyter</a:t>
            </a:r>
            <a:r>
              <a:rPr lang="es-CO" dirty="0">
                <a:latin typeface="Verdana" panose="020B0604030504040204" pitchFamily="34" charset="0"/>
                <a:ea typeface="Verdana" panose="020B0604030504040204" pitchFamily="34" charset="0"/>
              </a:rPr>
              <a:t>)</a:t>
            </a:r>
          </a:p>
        </p:txBody>
      </p:sp>
      <p:sp>
        <p:nvSpPr>
          <p:cNvPr id="3" name="Marcador de contenido 2">
            <a:extLst>
              <a:ext uri="{FF2B5EF4-FFF2-40B4-BE49-F238E27FC236}">
                <a16:creationId xmlns:a16="http://schemas.microsoft.com/office/drawing/2014/main" id="{9DDA78CF-EB1B-EFEC-970A-B9AEFC8D07B5}"/>
              </a:ext>
            </a:extLst>
          </p:cNvPr>
          <p:cNvSpPr>
            <a:spLocks noGrp="1"/>
          </p:cNvSpPr>
          <p:nvPr>
            <p:ph idx="1"/>
          </p:nvPr>
        </p:nvSpPr>
        <p:spPr/>
        <p:txBody>
          <a:bodyPr anchor="ctr">
            <a:normAutofit/>
          </a:bodyPr>
          <a:lstStyle/>
          <a:p>
            <a:r>
              <a:rPr lang="es-CO" dirty="0">
                <a:latin typeface="Verdana" panose="020B0604030504040204" pitchFamily="34" charset="0"/>
                <a:ea typeface="Verdana" panose="020B0604030504040204" pitchFamily="34" charset="0"/>
              </a:rPr>
              <a:t>Ver notebook sesion02-dataload.ipynb</a:t>
            </a:r>
          </a:p>
          <a:p>
            <a:endParaRPr lang="es-CO" dirty="0">
              <a:solidFill>
                <a:srgbClr val="FF000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23791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E9590-9F8D-82CC-360D-9D7DB28F6578}"/>
              </a:ext>
            </a:extLst>
          </p:cNvPr>
          <p:cNvSpPr>
            <a:spLocks noGrp="1"/>
          </p:cNvSpPr>
          <p:nvPr>
            <p:ph type="title"/>
          </p:nvPr>
        </p:nvSpPr>
        <p:spPr/>
        <p:txBody>
          <a:bodyPr/>
          <a:lstStyle/>
          <a:p>
            <a:r>
              <a:rPr lang="fr-FR" dirty="0">
                <a:latin typeface="Verdana" panose="020B0604030504040204" pitchFamily="34" charset="0"/>
                <a:ea typeface="Verdana" panose="020B0604030504040204" pitchFamily="34" charset="0"/>
              </a:rPr>
              <a:t>Web </a:t>
            </a:r>
            <a:r>
              <a:rPr lang="fr-FR" dirty="0" err="1">
                <a:latin typeface="Verdana" panose="020B0604030504040204" pitchFamily="34" charset="0"/>
                <a:ea typeface="Verdana" panose="020B0604030504040204" pitchFamily="34" charset="0"/>
              </a:rPr>
              <a:t>Scraping</a:t>
            </a:r>
            <a:r>
              <a:rPr lang="fr-FR" dirty="0">
                <a:latin typeface="Verdana" panose="020B0604030504040204" pitchFamily="34" charset="0"/>
                <a:ea typeface="Verdana" panose="020B0604030504040204" pitchFamily="34" charset="0"/>
              </a:rPr>
              <a:t> responsable en Python</a:t>
            </a:r>
            <a:endParaRPr lang="es-CO" dirty="0">
              <a:latin typeface="Verdana" panose="020B0604030504040204" pitchFamily="34" charset="0"/>
              <a:ea typeface="Verdana" panose="020B0604030504040204" pitchFamily="34" charset="0"/>
            </a:endParaRPr>
          </a:p>
        </p:txBody>
      </p:sp>
      <p:sp>
        <p:nvSpPr>
          <p:cNvPr id="3" name="Marcador de texto 2">
            <a:extLst>
              <a:ext uri="{FF2B5EF4-FFF2-40B4-BE49-F238E27FC236}">
                <a16:creationId xmlns:a16="http://schemas.microsoft.com/office/drawing/2014/main" id="{9FBE2151-BC03-D95F-CBE3-B2A49C198BBC}"/>
              </a:ext>
            </a:extLst>
          </p:cNvPr>
          <p:cNvSpPr>
            <a:spLocks noGrp="1"/>
          </p:cNvSpPr>
          <p:nvPr>
            <p:ph type="body" idx="1"/>
          </p:nvPr>
        </p:nvSpPr>
        <p:spPr/>
        <p:txBody>
          <a:bodyPr/>
          <a:lstStyle/>
          <a:p>
            <a:endParaRPr lang="es-CO">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0959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629FD-4566-890A-1EEC-075F32ECFFC8}"/>
              </a:ext>
            </a:extLst>
          </p:cNvPr>
          <p:cNvSpPr>
            <a:spLocks noGrp="1"/>
          </p:cNvSpPr>
          <p:nvPr>
            <p:ph type="title"/>
          </p:nvPr>
        </p:nvSpPr>
        <p:spPr/>
        <p:txBody>
          <a:bodyPr/>
          <a:lstStyle/>
          <a:p>
            <a:r>
              <a:rPr lang="es-MX" b="1" dirty="0">
                <a:solidFill>
                  <a:srgbClr val="0D0D0D"/>
                </a:solidFill>
                <a:latin typeface="ui-sans-serif"/>
              </a:rPr>
              <a:t>¿Qué es Web </a:t>
            </a:r>
            <a:r>
              <a:rPr lang="es-MX" b="1" dirty="0" err="1">
                <a:solidFill>
                  <a:srgbClr val="0D0D0D"/>
                </a:solidFill>
                <a:latin typeface="ui-sans-serif"/>
              </a:rPr>
              <a:t>Scraping</a:t>
            </a:r>
            <a:r>
              <a:rPr lang="es-MX" b="1" dirty="0">
                <a:solidFill>
                  <a:srgbClr val="0D0D0D"/>
                </a:solidFill>
                <a:latin typeface="ui-sans-serif"/>
              </a:rPr>
              <a:t>?</a:t>
            </a:r>
            <a:endParaRPr lang="es-CO" dirty="0"/>
          </a:p>
        </p:txBody>
      </p:sp>
      <p:sp>
        <p:nvSpPr>
          <p:cNvPr id="3" name="Marcador de contenido 2">
            <a:extLst>
              <a:ext uri="{FF2B5EF4-FFF2-40B4-BE49-F238E27FC236}">
                <a16:creationId xmlns:a16="http://schemas.microsoft.com/office/drawing/2014/main" id="{E62F23C8-E99F-05EF-9F51-1BECAFDDC016}"/>
              </a:ext>
            </a:extLst>
          </p:cNvPr>
          <p:cNvSpPr>
            <a:spLocks noGrp="1"/>
          </p:cNvSpPr>
          <p:nvPr>
            <p:ph idx="1"/>
          </p:nvPr>
        </p:nvSpPr>
        <p:spPr/>
        <p:txBody>
          <a:bodyPr anchor="ctr"/>
          <a:lstStyle/>
          <a:p>
            <a:pPr>
              <a:spcAft>
                <a:spcPts val="1200"/>
              </a:spcAft>
            </a:pPr>
            <a:r>
              <a:rPr lang="es-MX" dirty="0">
                <a:solidFill>
                  <a:srgbClr val="0D0D0D"/>
                </a:solidFill>
                <a:latin typeface="ui-sans-serif"/>
              </a:rPr>
              <a:t>Extracción automática de contenido </a:t>
            </a:r>
            <a:r>
              <a:rPr lang="es-MX" b="1" dirty="0">
                <a:solidFill>
                  <a:srgbClr val="0D0D0D"/>
                </a:solidFill>
                <a:latin typeface="ui-sans-serif"/>
              </a:rPr>
              <a:t>HTML</a:t>
            </a:r>
            <a:r>
              <a:rPr lang="es-MX" dirty="0">
                <a:solidFill>
                  <a:srgbClr val="0D0D0D"/>
                </a:solidFill>
                <a:latin typeface="ui-sans-serif"/>
              </a:rPr>
              <a:t> o </a:t>
            </a:r>
            <a:r>
              <a:rPr lang="es-MX" b="1" dirty="0">
                <a:solidFill>
                  <a:srgbClr val="0D0D0D"/>
                </a:solidFill>
                <a:latin typeface="ui-sans-serif"/>
              </a:rPr>
              <a:t>JSON</a:t>
            </a:r>
            <a:r>
              <a:rPr lang="es-MX" dirty="0">
                <a:solidFill>
                  <a:srgbClr val="0D0D0D"/>
                </a:solidFill>
                <a:latin typeface="ui-sans-serif"/>
              </a:rPr>
              <a:t> publicado en la Web.</a:t>
            </a:r>
          </a:p>
          <a:p>
            <a:pPr>
              <a:spcAft>
                <a:spcPts val="1200"/>
              </a:spcAft>
            </a:pPr>
            <a:r>
              <a:rPr lang="es-MX" b="1" dirty="0">
                <a:solidFill>
                  <a:srgbClr val="0D0D0D"/>
                </a:solidFill>
                <a:latin typeface="ui-sans-serif"/>
              </a:rPr>
              <a:t>Casos de uso</a:t>
            </a:r>
            <a:r>
              <a:rPr lang="es-MX" dirty="0">
                <a:solidFill>
                  <a:srgbClr val="0D0D0D"/>
                </a:solidFill>
                <a:latin typeface="ui-sans-serif"/>
              </a:rPr>
              <a:t>: seguimiento de precios, estudios de opinión, </a:t>
            </a:r>
            <a:r>
              <a:rPr lang="es-MX" dirty="0" err="1">
                <a:solidFill>
                  <a:srgbClr val="0D0D0D"/>
                </a:solidFill>
                <a:latin typeface="ui-sans-serif"/>
              </a:rPr>
              <a:t>datasets</a:t>
            </a:r>
            <a:r>
              <a:rPr lang="es-MX" dirty="0">
                <a:solidFill>
                  <a:srgbClr val="0D0D0D"/>
                </a:solidFill>
                <a:latin typeface="ui-sans-serif"/>
              </a:rPr>
              <a:t> abiertos.</a:t>
            </a:r>
          </a:p>
          <a:p>
            <a:pPr>
              <a:spcAft>
                <a:spcPts val="1200"/>
              </a:spcAft>
            </a:pPr>
            <a:r>
              <a:rPr lang="es-MX" b="1" dirty="0">
                <a:solidFill>
                  <a:srgbClr val="0D0D0D"/>
                </a:solidFill>
                <a:latin typeface="ui-sans-serif"/>
              </a:rPr>
              <a:t>Diferencia con </a:t>
            </a:r>
            <a:r>
              <a:rPr lang="es-MX" b="1" dirty="0" err="1">
                <a:solidFill>
                  <a:srgbClr val="0D0D0D"/>
                </a:solidFill>
                <a:latin typeface="ui-sans-serif"/>
              </a:rPr>
              <a:t>APIs</a:t>
            </a:r>
            <a:r>
              <a:rPr lang="es-MX" dirty="0">
                <a:solidFill>
                  <a:srgbClr val="0D0D0D"/>
                </a:solidFill>
                <a:latin typeface="ui-sans-serif"/>
              </a:rPr>
              <a:t>: la página no fue diseñada para consumo máquina.</a:t>
            </a:r>
            <a:endParaRPr lang="es-CO" dirty="0"/>
          </a:p>
        </p:txBody>
      </p:sp>
    </p:spTree>
    <p:extLst>
      <p:ext uri="{BB962C8B-B14F-4D97-AF65-F5344CB8AC3E}">
        <p14:creationId xmlns:p14="http://schemas.microsoft.com/office/powerpoint/2010/main" val="728260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8EC125-3A2C-C973-733E-310388FEC31F}"/>
              </a:ext>
            </a:extLst>
          </p:cNvPr>
          <p:cNvSpPr>
            <a:spLocks noGrp="1"/>
          </p:cNvSpPr>
          <p:nvPr>
            <p:ph type="title"/>
          </p:nvPr>
        </p:nvSpPr>
        <p:spPr/>
        <p:txBody>
          <a:bodyPr/>
          <a:lstStyle/>
          <a:p>
            <a:r>
              <a:rPr lang="es-MX" b="1" dirty="0">
                <a:solidFill>
                  <a:srgbClr val="0D0D0D"/>
                </a:solidFill>
                <a:latin typeface="ui-sans-serif"/>
              </a:rPr>
              <a:t>Anatomía de una petición HTTP</a:t>
            </a:r>
            <a:endParaRPr lang="es-CO" dirty="0"/>
          </a:p>
        </p:txBody>
      </p:sp>
      <p:graphicFrame>
        <p:nvGraphicFramePr>
          <p:cNvPr id="4" name="Marcador de contenido 3">
            <a:extLst>
              <a:ext uri="{FF2B5EF4-FFF2-40B4-BE49-F238E27FC236}">
                <a16:creationId xmlns:a16="http://schemas.microsoft.com/office/drawing/2014/main" id="{6A2F2FBF-6A20-E135-B6C8-BABFA87742DC}"/>
              </a:ext>
            </a:extLst>
          </p:cNvPr>
          <p:cNvGraphicFramePr>
            <a:graphicFrameLocks noGrp="1"/>
          </p:cNvGraphicFramePr>
          <p:nvPr>
            <p:ph idx="1"/>
          </p:nvPr>
        </p:nvGraphicFramePr>
        <p:xfrm>
          <a:off x="838200" y="2064210"/>
          <a:ext cx="10515600" cy="4297680"/>
        </p:xfrm>
        <a:graphic>
          <a:graphicData uri="http://schemas.openxmlformats.org/drawingml/2006/table">
            <a:tbl>
              <a:tblPr firstRow="1" bandRow="1">
                <a:tableStyleId>{9D7B26C5-4107-4FEC-AEDC-1716B250A1EF}</a:tableStyleId>
              </a:tblPr>
              <a:tblGrid>
                <a:gridCol w="3505200">
                  <a:extLst>
                    <a:ext uri="{9D8B030D-6E8A-4147-A177-3AD203B41FA5}">
                      <a16:colId xmlns:a16="http://schemas.microsoft.com/office/drawing/2014/main" val="2242817342"/>
                    </a:ext>
                  </a:extLst>
                </a:gridCol>
                <a:gridCol w="3505200">
                  <a:extLst>
                    <a:ext uri="{9D8B030D-6E8A-4147-A177-3AD203B41FA5}">
                      <a16:colId xmlns:a16="http://schemas.microsoft.com/office/drawing/2014/main" val="2817215995"/>
                    </a:ext>
                  </a:extLst>
                </a:gridCol>
                <a:gridCol w="3505200">
                  <a:extLst>
                    <a:ext uri="{9D8B030D-6E8A-4147-A177-3AD203B41FA5}">
                      <a16:colId xmlns:a16="http://schemas.microsoft.com/office/drawing/2014/main" val="1767041494"/>
                    </a:ext>
                  </a:extLst>
                </a:gridCol>
              </a:tblGrid>
              <a:tr h="0">
                <a:tc>
                  <a:txBody>
                    <a:bodyPr/>
                    <a:lstStyle/>
                    <a:p>
                      <a:r>
                        <a:rPr lang="es-CO" sz="2800"/>
                        <a:t>Elemento</a:t>
                      </a:r>
                    </a:p>
                  </a:txBody>
                  <a:tcPr anchor="ctr"/>
                </a:tc>
                <a:tc>
                  <a:txBody>
                    <a:bodyPr/>
                    <a:lstStyle/>
                    <a:p>
                      <a:r>
                        <a:rPr lang="es-CO" sz="2800"/>
                        <a:t>Ejemplo</a:t>
                      </a:r>
                    </a:p>
                  </a:txBody>
                  <a:tcPr anchor="ctr"/>
                </a:tc>
                <a:tc>
                  <a:txBody>
                    <a:bodyPr/>
                    <a:lstStyle/>
                    <a:p>
                      <a:r>
                        <a:rPr lang="es-CO" sz="2800"/>
                        <a:t>Uso</a:t>
                      </a:r>
                    </a:p>
                  </a:txBody>
                  <a:tcPr anchor="ctr"/>
                </a:tc>
                <a:extLst>
                  <a:ext uri="{0D108BD9-81ED-4DB2-BD59-A6C34878D82A}">
                    <a16:rowId xmlns:a16="http://schemas.microsoft.com/office/drawing/2014/main" val="2825363764"/>
                  </a:ext>
                </a:extLst>
              </a:tr>
              <a:tr h="0">
                <a:tc>
                  <a:txBody>
                    <a:bodyPr/>
                    <a:lstStyle/>
                    <a:p>
                      <a:r>
                        <a:rPr lang="es-CO" sz="2800"/>
                        <a:t>Método</a:t>
                      </a:r>
                    </a:p>
                  </a:txBody>
                  <a:tcPr anchor="ctr"/>
                </a:tc>
                <a:tc>
                  <a:txBody>
                    <a:bodyPr/>
                    <a:lstStyle/>
                    <a:p>
                      <a:r>
                        <a:rPr lang="es-CO" sz="2800"/>
                        <a:t>GET, POST</a:t>
                      </a:r>
                    </a:p>
                  </a:txBody>
                  <a:tcPr anchor="ctr"/>
                </a:tc>
                <a:tc>
                  <a:txBody>
                    <a:bodyPr/>
                    <a:lstStyle/>
                    <a:p>
                      <a:r>
                        <a:rPr lang="es-MX" sz="2800"/>
                        <a:t>Descarga o envío de datos</a:t>
                      </a:r>
                    </a:p>
                  </a:txBody>
                  <a:tcPr anchor="ctr"/>
                </a:tc>
                <a:extLst>
                  <a:ext uri="{0D108BD9-81ED-4DB2-BD59-A6C34878D82A}">
                    <a16:rowId xmlns:a16="http://schemas.microsoft.com/office/drawing/2014/main" val="1187867072"/>
                  </a:ext>
                </a:extLst>
              </a:tr>
              <a:tr h="0">
                <a:tc>
                  <a:txBody>
                    <a:bodyPr/>
                    <a:lstStyle/>
                    <a:p>
                      <a:r>
                        <a:rPr lang="es-CO" sz="2800"/>
                        <a:t>URL</a:t>
                      </a:r>
                    </a:p>
                  </a:txBody>
                  <a:tcPr anchor="ctr"/>
                </a:tc>
                <a:tc>
                  <a:txBody>
                    <a:bodyPr/>
                    <a:lstStyle/>
                    <a:p>
                      <a:r>
                        <a:rPr lang="es-CO" sz="2800" dirty="0"/>
                        <a:t>https://site.com/page?qp=1</a:t>
                      </a:r>
                    </a:p>
                  </a:txBody>
                  <a:tcPr anchor="ctr"/>
                </a:tc>
                <a:tc>
                  <a:txBody>
                    <a:bodyPr/>
                    <a:lstStyle/>
                    <a:p>
                      <a:r>
                        <a:rPr lang="es-CO" sz="2800"/>
                        <a:t>Recurso a solicitar</a:t>
                      </a:r>
                    </a:p>
                  </a:txBody>
                  <a:tcPr anchor="ctr"/>
                </a:tc>
                <a:extLst>
                  <a:ext uri="{0D108BD9-81ED-4DB2-BD59-A6C34878D82A}">
                    <a16:rowId xmlns:a16="http://schemas.microsoft.com/office/drawing/2014/main" val="2803512940"/>
                  </a:ext>
                </a:extLst>
              </a:tr>
              <a:tr h="0">
                <a:tc>
                  <a:txBody>
                    <a:bodyPr/>
                    <a:lstStyle/>
                    <a:p>
                      <a:r>
                        <a:rPr lang="es-CO" sz="2800"/>
                        <a:t>Headers</a:t>
                      </a:r>
                    </a:p>
                  </a:txBody>
                  <a:tcPr anchor="ctr"/>
                </a:tc>
                <a:tc>
                  <a:txBody>
                    <a:bodyPr/>
                    <a:lstStyle/>
                    <a:p>
                      <a:r>
                        <a:rPr lang="es-CO" sz="2800" dirty="0" err="1"/>
                        <a:t>User-Agent</a:t>
                      </a:r>
                      <a:r>
                        <a:rPr lang="es-CO" sz="2800" dirty="0"/>
                        <a:t>, </a:t>
                      </a:r>
                      <a:r>
                        <a:rPr lang="es-CO" sz="2800" dirty="0" err="1"/>
                        <a:t>Referer</a:t>
                      </a:r>
                      <a:endParaRPr lang="es-CO" sz="2800" dirty="0"/>
                    </a:p>
                  </a:txBody>
                  <a:tcPr anchor="ctr"/>
                </a:tc>
                <a:tc>
                  <a:txBody>
                    <a:bodyPr/>
                    <a:lstStyle/>
                    <a:p>
                      <a:r>
                        <a:rPr lang="es-CO" sz="2800" dirty="0"/>
                        <a:t>Evitar bloqueo / sesión</a:t>
                      </a:r>
                    </a:p>
                  </a:txBody>
                  <a:tcPr anchor="ctr"/>
                </a:tc>
                <a:extLst>
                  <a:ext uri="{0D108BD9-81ED-4DB2-BD59-A6C34878D82A}">
                    <a16:rowId xmlns:a16="http://schemas.microsoft.com/office/drawing/2014/main" val="3258384855"/>
                  </a:ext>
                </a:extLst>
              </a:tr>
              <a:tr h="0">
                <a:tc>
                  <a:txBody>
                    <a:bodyPr/>
                    <a:lstStyle/>
                    <a:p>
                      <a:r>
                        <a:rPr lang="es-CO" sz="2800" dirty="0"/>
                        <a:t>Código</a:t>
                      </a:r>
                    </a:p>
                  </a:txBody>
                  <a:tcPr anchor="ctr"/>
                </a:tc>
                <a:tc>
                  <a:txBody>
                    <a:bodyPr/>
                    <a:lstStyle/>
                    <a:p>
                      <a:r>
                        <a:rPr lang="en-US" sz="2800" dirty="0"/>
                        <a:t>200 OK, 404 Not Found</a:t>
                      </a:r>
                    </a:p>
                  </a:txBody>
                  <a:tcPr anchor="ctr"/>
                </a:tc>
                <a:tc>
                  <a:txBody>
                    <a:bodyPr/>
                    <a:lstStyle/>
                    <a:p>
                      <a:r>
                        <a:rPr lang="es-CO" sz="2800" dirty="0"/>
                        <a:t>Control de flujo</a:t>
                      </a:r>
                    </a:p>
                  </a:txBody>
                  <a:tcPr anchor="ctr"/>
                </a:tc>
                <a:extLst>
                  <a:ext uri="{0D108BD9-81ED-4DB2-BD59-A6C34878D82A}">
                    <a16:rowId xmlns:a16="http://schemas.microsoft.com/office/drawing/2014/main" val="1747901359"/>
                  </a:ext>
                </a:extLst>
              </a:tr>
            </a:tbl>
          </a:graphicData>
        </a:graphic>
      </p:graphicFrame>
    </p:spTree>
    <p:extLst>
      <p:ext uri="{BB962C8B-B14F-4D97-AF65-F5344CB8AC3E}">
        <p14:creationId xmlns:p14="http://schemas.microsoft.com/office/powerpoint/2010/main" val="57884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6E00F-019A-5267-2958-26245CCD4544}"/>
              </a:ext>
            </a:extLst>
          </p:cNvPr>
          <p:cNvSpPr>
            <a:spLocks noGrp="1"/>
          </p:cNvSpPr>
          <p:nvPr>
            <p:ph type="title"/>
          </p:nvPr>
        </p:nvSpPr>
        <p:spPr/>
        <p:txBody>
          <a:bodyPr/>
          <a:lstStyle/>
          <a:p>
            <a:r>
              <a:rPr lang="es-CO" dirty="0"/>
              <a:t>Librería </a:t>
            </a:r>
            <a:r>
              <a:rPr lang="es-CO" dirty="0" err="1"/>
              <a:t>requests</a:t>
            </a:r>
            <a:endParaRPr lang="es-CO" dirty="0"/>
          </a:p>
        </p:txBody>
      </p:sp>
      <p:sp>
        <p:nvSpPr>
          <p:cNvPr id="3" name="Marcador de contenido 2">
            <a:extLst>
              <a:ext uri="{FF2B5EF4-FFF2-40B4-BE49-F238E27FC236}">
                <a16:creationId xmlns:a16="http://schemas.microsoft.com/office/drawing/2014/main" id="{42992043-F623-40C5-EB8B-C182DEF43373}"/>
              </a:ext>
            </a:extLst>
          </p:cNvPr>
          <p:cNvSpPr>
            <a:spLocks noGrp="1"/>
          </p:cNvSpPr>
          <p:nvPr>
            <p:ph idx="1"/>
          </p:nvPr>
        </p:nvSpPr>
        <p:spPr/>
        <p:txBody>
          <a:bodyPr anchor="ctr"/>
          <a:lstStyle/>
          <a:p>
            <a:pPr marL="0" indent="0">
              <a:buNone/>
            </a:pPr>
            <a:r>
              <a:rPr lang="es-CO" sz="2000" dirty="0" err="1">
                <a:latin typeface="Consolas" panose="020B0609020204030204" pitchFamily="49" charset="0"/>
              </a:rPr>
              <a:t>import</a:t>
            </a:r>
            <a:r>
              <a:rPr lang="es-CO" sz="2000" dirty="0">
                <a:latin typeface="Consolas" panose="020B0609020204030204" pitchFamily="49" charset="0"/>
              </a:rPr>
              <a:t> </a:t>
            </a:r>
            <a:r>
              <a:rPr lang="es-CO" sz="2000" dirty="0" err="1">
                <a:latin typeface="Consolas" panose="020B0609020204030204" pitchFamily="49" charset="0"/>
              </a:rPr>
              <a:t>requests</a:t>
            </a:r>
            <a:r>
              <a:rPr lang="es-CO" sz="2000" dirty="0">
                <a:latin typeface="Consolas" panose="020B0609020204030204" pitchFamily="49" charset="0"/>
              </a:rPr>
              <a:t>, time</a:t>
            </a:r>
          </a:p>
          <a:p>
            <a:pPr marL="0" indent="0">
              <a:buNone/>
            </a:pPr>
            <a:r>
              <a:rPr lang="es-CO" sz="2000" dirty="0" err="1">
                <a:latin typeface="Consolas" panose="020B0609020204030204" pitchFamily="49" charset="0"/>
              </a:rPr>
              <a:t>url</a:t>
            </a:r>
            <a:r>
              <a:rPr lang="es-CO" sz="2000" dirty="0">
                <a:latin typeface="Consolas" panose="020B0609020204030204" pitchFamily="49" charset="0"/>
              </a:rPr>
              <a:t> = 'https://books.toscrape.com/'</a:t>
            </a:r>
          </a:p>
          <a:p>
            <a:pPr marL="0" indent="0">
              <a:buNone/>
            </a:pPr>
            <a:r>
              <a:rPr lang="es-CO" sz="2000" dirty="0" err="1">
                <a:latin typeface="Consolas" panose="020B0609020204030204" pitchFamily="49" charset="0"/>
              </a:rPr>
              <a:t>resp</a:t>
            </a:r>
            <a:r>
              <a:rPr lang="es-CO" sz="2000" dirty="0">
                <a:latin typeface="Consolas" panose="020B0609020204030204" pitchFamily="49" charset="0"/>
              </a:rPr>
              <a:t> = </a:t>
            </a:r>
            <a:r>
              <a:rPr lang="es-CO" sz="2000" dirty="0" err="1">
                <a:latin typeface="Consolas" panose="020B0609020204030204" pitchFamily="49" charset="0"/>
              </a:rPr>
              <a:t>requests.get</a:t>
            </a:r>
            <a:r>
              <a:rPr lang="es-CO" sz="2000" dirty="0">
                <a:latin typeface="Consolas" panose="020B0609020204030204" pitchFamily="49" charset="0"/>
              </a:rPr>
              <a:t>(</a:t>
            </a:r>
            <a:r>
              <a:rPr lang="es-CO" sz="2000" dirty="0" err="1">
                <a:latin typeface="Consolas" panose="020B0609020204030204" pitchFamily="49" charset="0"/>
              </a:rPr>
              <a:t>url</a:t>
            </a:r>
            <a:r>
              <a:rPr lang="es-CO" sz="2000" dirty="0">
                <a:latin typeface="Consolas" panose="020B0609020204030204" pitchFamily="49" charset="0"/>
              </a:rPr>
              <a:t>, </a:t>
            </a:r>
            <a:r>
              <a:rPr lang="es-CO" sz="2000" dirty="0" err="1">
                <a:latin typeface="Consolas" panose="020B0609020204030204" pitchFamily="49" charset="0"/>
              </a:rPr>
              <a:t>headers</a:t>
            </a:r>
            <a:r>
              <a:rPr lang="es-CO" sz="2000" dirty="0">
                <a:latin typeface="Consolas" panose="020B0609020204030204" pitchFamily="49" charset="0"/>
              </a:rPr>
              <a:t>={'</a:t>
            </a:r>
            <a:r>
              <a:rPr lang="es-CO" sz="2000" dirty="0" err="1">
                <a:latin typeface="Consolas" panose="020B0609020204030204" pitchFamily="49" charset="0"/>
              </a:rPr>
              <a:t>User-Agent</a:t>
            </a:r>
            <a:r>
              <a:rPr lang="es-CO" sz="2000" dirty="0">
                <a:latin typeface="Consolas" panose="020B0609020204030204" pitchFamily="49" charset="0"/>
              </a:rPr>
              <a:t>': 'UTP-MD-2025'})</a:t>
            </a:r>
          </a:p>
          <a:p>
            <a:pPr marL="0" indent="0">
              <a:buNone/>
            </a:pPr>
            <a:r>
              <a:rPr lang="es-CO" sz="2000" dirty="0" err="1">
                <a:latin typeface="Consolas" panose="020B0609020204030204" pitchFamily="49" charset="0"/>
              </a:rPr>
              <a:t>resp.raise_for_status</a:t>
            </a:r>
            <a:r>
              <a:rPr lang="es-CO" sz="2000" dirty="0">
                <a:latin typeface="Consolas" panose="020B0609020204030204" pitchFamily="49" charset="0"/>
              </a:rPr>
              <a:t>()       # detiene ante error &gt;399</a:t>
            </a:r>
          </a:p>
          <a:p>
            <a:pPr marL="0" indent="0">
              <a:buNone/>
            </a:pPr>
            <a:r>
              <a:rPr lang="es-CO" sz="2000" dirty="0" err="1">
                <a:latin typeface="Consolas" panose="020B0609020204030204" pitchFamily="49" charset="0"/>
              </a:rPr>
              <a:t>html</a:t>
            </a:r>
            <a:r>
              <a:rPr lang="es-CO" sz="2000" dirty="0">
                <a:latin typeface="Consolas" panose="020B0609020204030204" pitchFamily="49" charset="0"/>
              </a:rPr>
              <a:t> = </a:t>
            </a:r>
            <a:r>
              <a:rPr lang="es-CO" sz="2000" dirty="0" err="1">
                <a:latin typeface="Consolas" panose="020B0609020204030204" pitchFamily="49" charset="0"/>
              </a:rPr>
              <a:t>resp.text</a:t>
            </a:r>
            <a:endParaRPr lang="es-CO" sz="2000" dirty="0">
              <a:latin typeface="Consolas" panose="020B0609020204030204" pitchFamily="49" charset="0"/>
            </a:endParaRPr>
          </a:p>
          <a:p>
            <a:pPr marL="0" indent="0">
              <a:buNone/>
            </a:pPr>
            <a:r>
              <a:rPr lang="es-CO" sz="2000" dirty="0" err="1">
                <a:latin typeface="Consolas" panose="020B0609020204030204" pitchFamily="49" charset="0"/>
              </a:rPr>
              <a:t>time.sleep</a:t>
            </a:r>
            <a:r>
              <a:rPr lang="es-CO" sz="2000" dirty="0">
                <a:latin typeface="Consolas" panose="020B0609020204030204" pitchFamily="49" charset="0"/>
              </a:rPr>
              <a:t>(1)                 # polite </a:t>
            </a:r>
            <a:r>
              <a:rPr lang="es-CO" sz="2000" dirty="0" err="1">
                <a:latin typeface="Consolas" panose="020B0609020204030204" pitchFamily="49" charset="0"/>
              </a:rPr>
              <a:t>delay</a:t>
            </a:r>
            <a:endParaRPr lang="es-CO" dirty="0"/>
          </a:p>
        </p:txBody>
      </p:sp>
    </p:spTree>
    <p:extLst>
      <p:ext uri="{BB962C8B-B14F-4D97-AF65-F5344CB8AC3E}">
        <p14:creationId xmlns:p14="http://schemas.microsoft.com/office/powerpoint/2010/main" val="3028438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26177-F332-A7A5-FBC2-B974510996F7}"/>
              </a:ext>
            </a:extLst>
          </p:cNvPr>
          <p:cNvSpPr>
            <a:spLocks noGrp="1"/>
          </p:cNvSpPr>
          <p:nvPr>
            <p:ph type="title"/>
          </p:nvPr>
        </p:nvSpPr>
        <p:spPr/>
        <p:txBody>
          <a:bodyPr/>
          <a:lstStyle/>
          <a:p>
            <a:r>
              <a:rPr lang="es-MX" dirty="0"/>
              <a:t>Datos Estructurados</a:t>
            </a:r>
            <a:endParaRPr lang="es-CO" dirty="0"/>
          </a:p>
        </p:txBody>
      </p:sp>
      <p:sp>
        <p:nvSpPr>
          <p:cNvPr id="3" name="Marcador de texto 2">
            <a:extLst>
              <a:ext uri="{FF2B5EF4-FFF2-40B4-BE49-F238E27FC236}">
                <a16:creationId xmlns:a16="http://schemas.microsoft.com/office/drawing/2014/main" id="{6377AC44-5F64-8D0A-9C6B-40AECF0C5952}"/>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40993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14ED72-A4F9-992F-1E49-CF48C890D93B}"/>
              </a:ext>
            </a:extLst>
          </p:cNvPr>
          <p:cNvSpPr>
            <a:spLocks noGrp="1"/>
          </p:cNvSpPr>
          <p:nvPr>
            <p:ph type="title"/>
          </p:nvPr>
        </p:nvSpPr>
        <p:spPr>
          <a:xfrm>
            <a:off x="630936" y="640080"/>
            <a:ext cx="4818888" cy="1481328"/>
          </a:xfrm>
        </p:spPr>
        <p:txBody>
          <a:bodyPr anchor="b">
            <a:normAutofit fontScale="90000"/>
          </a:bodyPr>
          <a:lstStyle/>
          <a:p>
            <a:r>
              <a:rPr lang="es-MX" sz="4600"/>
              <a:t>¿Qué son los Datos Estructurados?</a:t>
            </a:r>
            <a:endParaRPr lang="es-CO" sz="4600"/>
          </a:p>
        </p:txBody>
      </p:sp>
      <p:sp>
        <p:nvSpPr>
          <p:cNvPr id="3" name="Marcador de contenido 2">
            <a:extLst>
              <a:ext uri="{FF2B5EF4-FFF2-40B4-BE49-F238E27FC236}">
                <a16:creationId xmlns:a16="http://schemas.microsoft.com/office/drawing/2014/main" id="{E760B6A2-221E-C77C-8528-DD2F8B4B870B}"/>
              </a:ext>
            </a:extLst>
          </p:cNvPr>
          <p:cNvSpPr>
            <a:spLocks noGrp="1"/>
          </p:cNvSpPr>
          <p:nvPr>
            <p:ph idx="1"/>
          </p:nvPr>
        </p:nvSpPr>
        <p:spPr>
          <a:xfrm>
            <a:off x="630936" y="2660904"/>
            <a:ext cx="4818888" cy="3547872"/>
          </a:xfrm>
        </p:spPr>
        <p:txBody>
          <a:bodyPr anchor="t">
            <a:normAutofit/>
          </a:bodyPr>
          <a:lstStyle/>
          <a:p>
            <a:pPr>
              <a:buFont typeface="Arial" panose="020B0604020202020204" pitchFamily="34" charset="0"/>
              <a:buChar char="•"/>
            </a:pPr>
            <a:r>
              <a:rPr lang="es-MX" sz="1700" b="1" i="0">
                <a:effectLst/>
                <a:highlight>
                  <a:srgbClr val="FFFFFF"/>
                </a:highlight>
                <a:latin typeface="Söhne"/>
              </a:rPr>
              <a:t>Definición:</a:t>
            </a:r>
            <a:r>
              <a:rPr lang="es-MX" sz="1700" b="0" i="0">
                <a:effectLst/>
                <a:highlight>
                  <a:srgbClr val="FFFFFF"/>
                </a:highlight>
                <a:latin typeface="Söhne"/>
              </a:rPr>
              <a:t> Los datos estructurados son aquellos que están organizados en un formato predefinido, facilitando su búsqueda y manipulación. Comúnmente están almacenados en tablas de bases de datos o en hojas de cálculo.</a:t>
            </a:r>
          </a:p>
          <a:p>
            <a:pPr>
              <a:buFont typeface="Arial" panose="020B0604020202020204" pitchFamily="34" charset="0"/>
              <a:buChar char="•"/>
            </a:pPr>
            <a:r>
              <a:rPr lang="es-MX" sz="1700" b="1" i="0">
                <a:effectLst/>
                <a:highlight>
                  <a:srgbClr val="FFFFFF"/>
                </a:highlight>
                <a:latin typeface="Söhne"/>
              </a:rPr>
              <a:t>Ejemplos:</a:t>
            </a:r>
            <a:r>
              <a:rPr lang="es-MX" sz="1700" b="0" i="0">
                <a:effectLst/>
                <a:highlight>
                  <a:srgbClr val="FFFFFF"/>
                </a:highlight>
                <a:latin typeface="Söhne"/>
              </a:rPr>
              <a:t> Bases de datos SQL, hojas de Excel, y CSV donde las columnas representan variables y las filas representan registros.</a:t>
            </a:r>
          </a:p>
          <a:p>
            <a:pPr>
              <a:buFont typeface="Arial" panose="020B0604020202020204" pitchFamily="34" charset="0"/>
              <a:buChar char="•"/>
            </a:pPr>
            <a:r>
              <a:rPr lang="es-MX" sz="1700" b="1" i="0">
                <a:effectLst/>
                <a:highlight>
                  <a:srgbClr val="FFFFFF"/>
                </a:highlight>
                <a:latin typeface="Söhne"/>
              </a:rPr>
              <a:t>Importancia:</a:t>
            </a:r>
            <a:r>
              <a:rPr lang="es-MX" sz="1700" b="0" i="0">
                <a:effectLst/>
                <a:highlight>
                  <a:srgbClr val="FFFFFF"/>
                </a:highlight>
                <a:latin typeface="Söhne"/>
              </a:rPr>
              <a:t> Facilitan el análisis automatizado y la generación de informes, son esenciales para operaciones masivas de datos y para el entrenamiento de modelos de aprendizaje automático.</a:t>
            </a:r>
          </a:p>
          <a:p>
            <a:endParaRPr lang="es-CO" sz="1700"/>
          </a:p>
        </p:txBody>
      </p:sp>
      <p:pic>
        <p:nvPicPr>
          <p:cNvPr id="1026" name="Picture 2" descr="Tipos de datos estructurados para posicionarse en Google. 🥇">
            <a:extLst>
              <a:ext uri="{FF2B5EF4-FFF2-40B4-BE49-F238E27FC236}">
                <a16:creationId xmlns:a16="http://schemas.microsoft.com/office/drawing/2014/main" id="{5E11E774-E4B0-BEE6-E028-BD3C6B8DC28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914136"/>
            <a:ext cx="5458968" cy="302972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E24D29A-8FEA-F24B-4608-7622CEA19E0F}"/>
              </a:ext>
            </a:extLst>
          </p:cNvPr>
          <p:cNvSpPr txBox="1"/>
          <p:nvPr/>
        </p:nvSpPr>
        <p:spPr>
          <a:xfrm>
            <a:off x="10548601" y="6507487"/>
            <a:ext cx="1643399" cy="253916"/>
          </a:xfrm>
          <a:prstGeom prst="rect">
            <a:avLst/>
          </a:prstGeom>
          <a:noFill/>
        </p:spPr>
        <p:txBody>
          <a:bodyPr wrap="none" rtlCol="0">
            <a:spAutoFit/>
          </a:bodyPr>
          <a:lstStyle/>
          <a:p>
            <a:r>
              <a:rPr lang="es-MX" sz="1050" b="1" dirty="0">
                <a:solidFill>
                  <a:schemeClr val="tx1">
                    <a:lumMod val="50000"/>
                    <a:lumOff val="50000"/>
                  </a:schemeClr>
                </a:solidFill>
              </a:rPr>
              <a:t>Fuente Imagen</a:t>
            </a:r>
            <a:r>
              <a:rPr lang="es-MX" sz="1050" dirty="0">
                <a:solidFill>
                  <a:schemeClr val="tx1">
                    <a:lumMod val="50000"/>
                    <a:lumOff val="50000"/>
                  </a:schemeClr>
                </a:solidFill>
              </a:rPr>
              <a:t>: Salesforce</a:t>
            </a:r>
            <a:endParaRPr lang="es-CO" sz="1050" dirty="0">
              <a:solidFill>
                <a:schemeClr val="tx1">
                  <a:lumMod val="50000"/>
                  <a:lumOff val="50000"/>
                </a:schemeClr>
              </a:solidFill>
            </a:endParaRPr>
          </a:p>
        </p:txBody>
      </p:sp>
    </p:spTree>
    <p:extLst>
      <p:ext uri="{BB962C8B-B14F-4D97-AF65-F5344CB8AC3E}">
        <p14:creationId xmlns:p14="http://schemas.microsoft.com/office/powerpoint/2010/main" val="3376852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A7BC3-C6B9-A66B-E81B-98CD8A7CFED9}"/>
              </a:ext>
            </a:extLst>
          </p:cNvPr>
          <p:cNvSpPr>
            <a:spLocks noGrp="1"/>
          </p:cNvSpPr>
          <p:nvPr>
            <p:ph type="title"/>
          </p:nvPr>
        </p:nvSpPr>
        <p:spPr>
          <a:xfrm>
            <a:off x="6739128" y="638089"/>
            <a:ext cx="4818888" cy="1476801"/>
          </a:xfrm>
        </p:spPr>
        <p:txBody>
          <a:bodyPr anchor="b">
            <a:normAutofit fontScale="90000"/>
          </a:bodyPr>
          <a:lstStyle/>
          <a:p>
            <a:r>
              <a:rPr lang="es-MX" sz="3400"/>
              <a:t>Características Principales de los Datos Estructurados</a:t>
            </a:r>
            <a:endParaRPr lang="es-CO" sz="3400"/>
          </a:p>
        </p:txBody>
      </p:sp>
      <p:pic>
        <p:nvPicPr>
          <p:cNvPr id="2050" name="Picture 2" descr="tipos de variables: datasets | Mineria de datos, Analitica web, Notas  academicas">
            <a:extLst>
              <a:ext uri="{FF2B5EF4-FFF2-40B4-BE49-F238E27FC236}">
                <a16:creationId xmlns:a16="http://schemas.microsoft.com/office/drawing/2014/main" id="{C6CB7A60-DDB9-DAF5-81AF-E977478608D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0936" y="1723072"/>
            <a:ext cx="5458968" cy="341185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AD929BC9-642F-6FB4-C51C-1048F7A8FF01}"/>
              </a:ext>
            </a:extLst>
          </p:cNvPr>
          <p:cNvSpPr>
            <a:spLocks noGrp="1"/>
          </p:cNvSpPr>
          <p:nvPr>
            <p:ph idx="1"/>
          </p:nvPr>
        </p:nvSpPr>
        <p:spPr>
          <a:xfrm>
            <a:off x="6739128" y="2659488"/>
            <a:ext cx="4818888" cy="3550789"/>
          </a:xfrm>
        </p:spPr>
        <p:txBody>
          <a:bodyPr anchor="t">
            <a:normAutofit/>
          </a:bodyPr>
          <a:lstStyle/>
          <a:p>
            <a:pPr>
              <a:buFont typeface="Arial" panose="020B0604020202020204" pitchFamily="34" charset="0"/>
              <a:buChar char="•"/>
            </a:pPr>
            <a:r>
              <a:rPr lang="es-MX" sz="1700" b="1" i="0">
                <a:effectLst/>
                <a:highlight>
                  <a:srgbClr val="FFFFFF"/>
                </a:highlight>
                <a:latin typeface="Söhne"/>
              </a:rPr>
              <a:t>Formato Estándar:</a:t>
            </a:r>
            <a:r>
              <a:rPr lang="es-MX" sz="1700" b="0" i="0">
                <a:effectLst/>
                <a:highlight>
                  <a:srgbClr val="FFFFFF"/>
                </a:highlight>
                <a:latin typeface="Söhne"/>
              </a:rPr>
              <a:t> La información sigue un modelo que define el tipo de datos de cada columna (numérico, texto, fecha, etc.).</a:t>
            </a:r>
          </a:p>
          <a:p>
            <a:pPr>
              <a:buFont typeface="Arial" panose="020B0604020202020204" pitchFamily="34" charset="0"/>
              <a:buChar char="•"/>
            </a:pPr>
            <a:r>
              <a:rPr lang="es-MX" sz="1700" b="1" i="0">
                <a:effectLst/>
                <a:highlight>
                  <a:srgbClr val="FFFFFF"/>
                </a:highlight>
                <a:latin typeface="Söhne"/>
              </a:rPr>
              <a:t>Facilidad de Acceso:</a:t>
            </a:r>
            <a:r>
              <a:rPr lang="es-MX" sz="1700" b="0" i="0">
                <a:effectLst/>
                <a:highlight>
                  <a:srgbClr val="FFFFFF"/>
                </a:highlight>
                <a:latin typeface="Söhne"/>
              </a:rPr>
              <a:t> Los datos se pueden acceder mediante consultas estructuradas (como SQL).</a:t>
            </a:r>
          </a:p>
          <a:p>
            <a:pPr>
              <a:buFont typeface="Arial" panose="020B0604020202020204" pitchFamily="34" charset="0"/>
              <a:buChar char="•"/>
            </a:pPr>
            <a:r>
              <a:rPr lang="es-MX" sz="1700" b="1" i="0">
                <a:effectLst/>
                <a:highlight>
                  <a:srgbClr val="FFFFFF"/>
                </a:highlight>
                <a:latin typeface="Söhne"/>
              </a:rPr>
              <a:t>Escalabilidad:</a:t>
            </a:r>
            <a:r>
              <a:rPr lang="es-MX" sz="1700" b="0" i="0">
                <a:effectLst/>
                <a:highlight>
                  <a:srgbClr val="FFFFFF"/>
                </a:highlight>
                <a:latin typeface="Söhne"/>
              </a:rPr>
              <a:t> Adecuados para manejar grandes volúmenes de datos de manera eficiente.</a:t>
            </a:r>
          </a:p>
          <a:p>
            <a:pPr>
              <a:buFont typeface="Arial" panose="020B0604020202020204" pitchFamily="34" charset="0"/>
              <a:buChar char="•"/>
            </a:pPr>
            <a:r>
              <a:rPr lang="es-MX" sz="1700" b="1" i="0">
                <a:effectLst/>
                <a:highlight>
                  <a:srgbClr val="FFFFFF"/>
                </a:highlight>
                <a:latin typeface="Söhne"/>
              </a:rPr>
              <a:t>Interoperabilidad:</a:t>
            </a:r>
            <a:r>
              <a:rPr lang="es-MX" sz="1700" b="0" i="0">
                <a:effectLst/>
                <a:highlight>
                  <a:srgbClr val="FFFFFF"/>
                </a:highlight>
                <a:latin typeface="Söhne"/>
              </a:rPr>
              <a:t> Pueden ser fácilmente compartidos entre diferentes sistemas y aplicaciones.</a:t>
            </a:r>
          </a:p>
          <a:p>
            <a:endParaRPr lang="es-CO" sz="1700"/>
          </a:p>
        </p:txBody>
      </p:sp>
    </p:spTree>
    <p:extLst>
      <p:ext uri="{BB962C8B-B14F-4D97-AF65-F5344CB8AC3E}">
        <p14:creationId xmlns:p14="http://schemas.microsoft.com/office/powerpoint/2010/main" val="3360347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A9D3AD-953F-85C2-DB62-C35CA2A11D64}"/>
              </a:ext>
            </a:extLst>
          </p:cNvPr>
          <p:cNvSpPr>
            <a:spLocks noGrp="1"/>
          </p:cNvSpPr>
          <p:nvPr>
            <p:ph type="title"/>
          </p:nvPr>
        </p:nvSpPr>
        <p:spPr/>
        <p:txBody>
          <a:bodyPr/>
          <a:lstStyle/>
          <a:p>
            <a:r>
              <a:rPr lang="es-MX" dirty="0"/>
              <a:t>Recomendaciones para Formatear una Tabla para Análisis</a:t>
            </a:r>
            <a:endParaRPr lang="es-CO" dirty="0"/>
          </a:p>
        </p:txBody>
      </p:sp>
      <p:sp>
        <p:nvSpPr>
          <p:cNvPr id="3" name="Marcador de contenido 2">
            <a:extLst>
              <a:ext uri="{FF2B5EF4-FFF2-40B4-BE49-F238E27FC236}">
                <a16:creationId xmlns:a16="http://schemas.microsoft.com/office/drawing/2014/main" id="{2D83642D-959D-5924-4DA2-F98038A94E42}"/>
              </a:ext>
            </a:extLst>
          </p:cNvPr>
          <p:cNvSpPr>
            <a:spLocks noGrp="1"/>
          </p:cNvSpPr>
          <p:nvPr>
            <p:ph idx="1"/>
          </p:nvPr>
        </p:nvSpPr>
        <p:spPr/>
        <p:txBody>
          <a:bodyPr numCol="2">
            <a:normAutofit fontScale="92500" lnSpcReduction="10000"/>
          </a:bodyPr>
          <a:lstStyle/>
          <a:p>
            <a:pPr algn="l">
              <a:buFont typeface="+mj-lt"/>
              <a:buAutoNum type="arabicPeriod"/>
            </a:pPr>
            <a:r>
              <a:rPr lang="es-MX" b="1" i="0" dirty="0">
                <a:solidFill>
                  <a:srgbClr val="0D0D0D"/>
                </a:solidFill>
                <a:effectLst/>
                <a:highlight>
                  <a:srgbClr val="FFFFFF"/>
                </a:highlight>
                <a:latin typeface="Söhne"/>
              </a:rPr>
              <a:t>Claridad en la Estructura:</a:t>
            </a:r>
            <a:endParaRPr lang="es-MX" b="0" i="0" dirty="0">
              <a:solidFill>
                <a:srgbClr val="0D0D0D"/>
              </a:solidFill>
              <a:effectLst/>
              <a:highlight>
                <a:srgbClr val="FFFFFF"/>
              </a:highlight>
              <a:latin typeface="Söhne"/>
            </a:endParaRPr>
          </a:p>
          <a:p>
            <a:pPr lvl="1"/>
            <a:r>
              <a:rPr lang="es-MX" b="0" i="0" dirty="0">
                <a:solidFill>
                  <a:srgbClr val="0D0D0D"/>
                </a:solidFill>
                <a:effectLst/>
                <a:highlight>
                  <a:srgbClr val="FFFFFF"/>
                </a:highlight>
                <a:latin typeface="Söhne"/>
              </a:rPr>
              <a:t>Cada columna debe tener un encabezado descriptivo único. Se recomienda no usar espacios, tildes o caracteres especiales si se va a utilizar algún software estadístico.</a:t>
            </a:r>
          </a:p>
          <a:p>
            <a:pPr lvl="1"/>
            <a:r>
              <a:rPr lang="es-MX" b="0" i="0" dirty="0">
                <a:solidFill>
                  <a:srgbClr val="0D0D0D"/>
                </a:solidFill>
                <a:effectLst/>
                <a:highlight>
                  <a:srgbClr val="FFFFFF"/>
                </a:highlight>
                <a:latin typeface="Söhne"/>
              </a:rPr>
              <a:t>Cada fila representa un único registro o unidad de observación.</a:t>
            </a:r>
          </a:p>
          <a:p>
            <a:pPr lvl="1"/>
            <a:endParaRPr lang="es-MX" b="0" i="0" dirty="0">
              <a:solidFill>
                <a:srgbClr val="0D0D0D"/>
              </a:solidFill>
              <a:effectLst/>
              <a:highlight>
                <a:srgbClr val="FFFFFF"/>
              </a:highlight>
              <a:latin typeface="Söhne"/>
            </a:endParaRPr>
          </a:p>
          <a:p>
            <a:pPr algn="l">
              <a:buFont typeface="+mj-lt"/>
              <a:buAutoNum type="arabicPeriod"/>
            </a:pPr>
            <a:r>
              <a:rPr lang="es-MX" b="1" i="0" dirty="0">
                <a:solidFill>
                  <a:srgbClr val="0D0D0D"/>
                </a:solidFill>
                <a:effectLst/>
                <a:highlight>
                  <a:srgbClr val="FFFFFF"/>
                </a:highlight>
                <a:latin typeface="Söhne"/>
              </a:rPr>
              <a:t>Consistencia en los Datos:</a:t>
            </a:r>
            <a:endParaRPr lang="es-MX" b="0" i="0" dirty="0">
              <a:solidFill>
                <a:srgbClr val="0D0D0D"/>
              </a:solidFill>
              <a:effectLst/>
              <a:highlight>
                <a:srgbClr val="FFFFFF"/>
              </a:highlight>
              <a:latin typeface="Söhne"/>
            </a:endParaRPr>
          </a:p>
          <a:p>
            <a:pPr lvl="1"/>
            <a:r>
              <a:rPr lang="es-MX" b="0" i="0" dirty="0">
                <a:solidFill>
                  <a:srgbClr val="0D0D0D"/>
                </a:solidFill>
                <a:effectLst/>
                <a:highlight>
                  <a:srgbClr val="FFFFFF"/>
                </a:highlight>
                <a:latin typeface="Söhne"/>
              </a:rPr>
              <a:t>Utilizar el mismo formato para datos similares (ej. fechas, números).</a:t>
            </a:r>
          </a:p>
          <a:p>
            <a:pPr lvl="1"/>
            <a:r>
              <a:rPr lang="es-MX" b="0" i="0" dirty="0">
                <a:solidFill>
                  <a:srgbClr val="0D0D0D"/>
                </a:solidFill>
                <a:effectLst/>
                <a:highlight>
                  <a:srgbClr val="FFFFFF"/>
                </a:highlight>
                <a:latin typeface="Söhne"/>
              </a:rPr>
              <a:t>Mantener la misma unidad de medida en las observaciones.</a:t>
            </a:r>
          </a:p>
          <a:p>
            <a:pPr algn="l">
              <a:buFont typeface="+mj-lt"/>
              <a:buAutoNum type="arabicPeriod"/>
            </a:pPr>
            <a:endParaRPr lang="es-MX" b="1" i="0" dirty="0">
              <a:solidFill>
                <a:srgbClr val="0D0D0D"/>
              </a:solidFill>
              <a:effectLst/>
              <a:highlight>
                <a:srgbClr val="FFFFFF"/>
              </a:highlight>
              <a:latin typeface="Söhne"/>
            </a:endParaRPr>
          </a:p>
          <a:p>
            <a:pPr algn="l">
              <a:buFont typeface="+mj-lt"/>
              <a:buAutoNum type="arabicPeriod"/>
            </a:pPr>
            <a:r>
              <a:rPr lang="es-MX" b="1" i="0" dirty="0">
                <a:solidFill>
                  <a:srgbClr val="0D0D0D"/>
                </a:solidFill>
                <a:effectLst/>
                <a:highlight>
                  <a:srgbClr val="FFFFFF"/>
                </a:highlight>
                <a:latin typeface="Söhne"/>
              </a:rPr>
              <a:t>Limpieza de Datos:</a:t>
            </a:r>
            <a:endParaRPr lang="es-MX" b="0" i="0" dirty="0">
              <a:solidFill>
                <a:srgbClr val="0D0D0D"/>
              </a:solidFill>
              <a:effectLst/>
              <a:highlight>
                <a:srgbClr val="FFFFFF"/>
              </a:highlight>
              <a:latin typeface="Söhne"/>
            </a:endParaRPr>
          </a:p>
          <a:p>
            <a:pPr lvl="1"/>
            <a:r>
              <a:rPr lang="es-MX" b="0" i="0" dirty="0">
                <a:solidFill>
                  <a:srgbClr val="0D0D0D"/>
                </a:solidFill>
                <a:effectLst/>
                <a:highlight>
                  <a:srgbClr val="FFFFFF"/>
                </a:highlight>
                <a:latin typeface="Söhne"/>
              </a:rPr>
              <a:t>Eliminar o corregir registros duplicados o erróneos.</a:t>
            </a:r>
          </a:p>
          <a:p>
            <a:pPr lvl="1"/>
            <a:r>
              <a:rPr lang="es-MX" b="0" i="0" dirty="0">
                <a:solidFill>
                  <a:srgbClr val="0D0D0D"/>
                </a:solidFill>
                <a:effectLst/>
                <a:highlight>
                  <a:srgbClr val="FFFFFF"/>
                </a:highlight>
                <a:latin typeface="Söhne"/>
              </a:rPr>
              <a:t>Llenar o manejar valores faltantes adecuadamente.</a:t>
            </a:r>
          </a:p>
          <a:p>
            <a:pPr lvl="1"/>
            <a:endParaRPr lang="es-MX" b="0" i="0" dirty="0">
              <a:solidFill>
                <a:srgbClr val="0D0D0D"/>
              </a:solidFill>
              <a:effectLst/>
              <a:highlight>
                <a:srgbClr val="FFFFFF"/>
              </a:highlight>
              <a:latin typeface="Söhne"/>
            </a:endParaRPr>
          </a:p>
          <a:p>
            <a:pPr algn="l">
              <a:buFont typeface="+mj-lt"/>
              <a:buAutoNum type="arabicPeriod"/>
            </a:pPr>
            <a:r>
              <a:rPr lang="es-MX" b="1" i="0" dirty="0">
                <a:solidFill>
                  <a:srgbClr val="0D0D0D"/>
                </a:solidFill>
                <a:effectLst/>
                <a:highlight>
                  <a:srgbClr val="FFFFFF"/>
                </a:highlight>
                <a:latin typeface="Söhne"/>
              </a:rPr>
              <a:t>Normalización:</a:t>
            </a:r>
            <a:endParaRPr lang="es-MX" b="0" i="0" dirty="0">
              <a:solidFill>
                <a:srgbClr val="0D0D0D"/>
              </a:solidFill>
              <a:effectLst/>
              <a:highlight>
                <a:srgbClr val="FFFFFF"/>
              </a:highlight>
              <a:latin typeface="Söhne"/>
            </a:endParaRPr>
          </a:p>
          <a:p>
            <a:pPr lvl="1"/>
            <a:r>
              <a:rPr lang="es-MX" b="0" i="0" dirty="0">
                <a:solidFill>
                  <a:srgbClr val="0D0D0D"/>
                </a:solidFill>
                <a:effectLst/>
                <a:highlight>
                  <a:srgbClr val="FFFFFF"/>
                </a:highlight>
                <a:latin typeface="Söhne"/>
              </a:rPr>
              <a:t>Establecer rangos consistentes para datos numéricos (ej. escala de 0 a 100).</a:t>
            </a:r>
          </a:p>
          <a:p>
            <a:pPr lvl="1"/>
            <a:r>
              <a:rPr lang="es-MX" b="0" i="0" dirty="0">
                <a:solidFill>
                  <a:srgbClr val="0D0D0D"/>
                </a:solidFill>
                <a:effectLst/>
                <a:highlight>
                  <a:srgbClr val="FFFFFF"/>
                </a:highlight>
                <a:latin typeface="Söhne"/>
              </a:rPr>
              <a:t>Convertir todas las entradas a un formato común cuando sea posible (ej. convertir todas las temperaturas a Celsius).</a:t>
            </a:r>
          </a:p>
          <a:p>
            <a:endParaRPr lang="es-CO" dirty="0"/>
          </a:p>
        </p:txBody>
      </p:sp>
    </p:spTree>
    <p:extLst>
      <p:ext uri="{BB962C8B-B14F-4D97-AF65-F5344CB8AC3E}">
        <p14:creationId xmlns:p14="http://schemas.microsoft.com/office/powerpoint/2010/main" val="265638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12" end="12"/>
                                            </p:txEl>
                                          </p:spTgt>
                                        </p:tgtEl>
                                        <p:attrNameLst>
                                          <p:attrName>style.visibility</p:attrName>
                                        </p:attrNameLst>
                                      </p:cBhvr>
                                      <p:to>
                                        <p:strVal val="visible"/>
                                      </p:to>
                                    </p:set>
                                    <p:animEffect transition="in" filter="fade">
                                      <p:cBhvr>
                                        <p:cTn id="40" dur="500"/>
                                        <p:tgtEl>
                                          <p:spTgt spid="3">
                                            <p:txEl>
                                              <p:pRg st="12" end="1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fade">
                                      <p:cBhvr>
                                        <p:cTn id="43" dur="500"/>
                                        <p:tgtEl>
                                          <p:spTgt spid="3">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fade">
                                      <p:cBhvr>
                                        <p:cTn id="4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F08C73-0BD9-2FA5-7450-C64EFEA63497}"/>
              </a:ext>
            </a:extLst>
          </p:cNvPr>
          <p:cNvSpPr>
            <a:spLocks noGrp="1"/>
          </p:cNvSpPr>
          <p:nvPr>
            <p:ph type="title"/>
          </p:nvPr>
        </p:nvSpPr>
        <p:spPr/>
        <p:txBody>
          <a:bodyPr/>
          <a:lstStyle/>
          <a:p>
            <a:r>
              <a:rPr lang="es-MX" dirty="0"/>
              <a:t>Buenas Prácticas en la Gestión de Datos Estructurados</a:t>
            </a:r>
            <a:endParaRPr lang="es-CO" dirty="0"/>
          </a:p>
        </p:txBody>
      </p:sp>
      <p:sp>
        <p:nvSpPr>
          <p:cNvPr id="3" name="Marcador de contenido 2">
            <a:extLst>
              <a:ext uri="{FF2B5EF4-FFF2-40B4-BE49-F238E27FC236}">
                <a16:creationId xmlns:a16="http://schemas.microsoft.com/office/drawing/2014/main" id="{2B842971-EC6E-9C4C-A292-ED8DF19160AC}"/>
              </a:ext>
            </a:extLst>
          </p:cNvPr>
          <p:cNvSpPr>
            <a:spLocks noGrp="1"/>
          </p:cNvSpPr>
          <p:nvPr>
            <p:ph idx="1"/>
          </p:nvPr>
        </p:nvSpPr>
        <p:spPr/>
        <p:txBody>
          <a:bodyPr/>
          <a:lstStyle/>
          <a:p>
            <a:pPr algn="l">
              <a:buFont typeface="Arial" panose="020B0604020202020204" pitchFamily="34" charset="0"/>
              <a:buChar char="•"/>
            </a:pPr>
            <a:r>
              <a:rPr lang="es-MX" b="1" i="0" dirty="0">
                <a:solidFill>
                  <a:srgbClr val="0D0D0D"/>
                </a:solidFill>
                <a:effectLst/>
                <a:highlight>
                  <a:srgbClr val="FFFFFF"/>
                </a:highlight>
                <a:latin typeface="Söhne"/>
              </a:rPr>
              <a:t>Seguridad de los Datos:</a:t>
            </a:r>
            <a:r>
              <a:rPr lang="es-MX" b="0" i="0" dirty="0">
                <a:solidFill>
                  <a:srgbClr val="0D0D0D"/>
                </a:solidFill>
                <a:effectLst/>
                <a:highlight>
                  <a:srgbClr val="FFFFFF"/>
                </a:highlight>
                <a:latin typeface="Söhne"/>
              </a:rPr>
              <a:t> Asegurarse de que los datos están protegidos contra accesos no autorizados.</a:t>
            </a:r>
          </a:p>
          <a:p>
            <a:pPr algn="l">
              <a:buFont typeface="Arial" panose="020B0604020202020204" pitchFamily="34" charset="0"/>
              <a:buChar char="•"/>
            </a:pPr>
            <a:r>
              <a:rPr lang="es-MX" b="1" i="0" dirty="0">
                <a:solidFill>
                  <a:srgbClr val="0D0D0D"/>
                </a:solidFill>
                <a:effectLst/>
                <a:highlight>
                  <a:srgbClr val="FFFFFF"/>
                </a:highlight>
                <a:latin typeface="Söhne"/>
              </a:rPr>
              <a:t>Documentación:</a:t>
            </a:r>
            <a:r>
              <a:rPr lang="es-MX" b="0" i="0" dirty="0">
                <a:solidFill>
                  <a:srgbClr val="0D0D0D"/>
                </a:solidFill>
                <a:effectLst/>
                <a:highlight>
                  <a:srgbClr val="FFFFFF"/>
                </a:highlight>
                <a:latin typeface="Söhne"/>
              </a:rPr>
              <a:t> Mantener una documentación completa que describa el origen, el significado y el uso de cada columna en la tabla.</a:t>
            </a:r>
          </a:p>
          <a:p>
            <a:pPr algn="l">
              <a:buFont typeface="Arial" panose="020B0604020202020204" pitchFamily="34" charset="0"/>
              <a:buChar char="•"/>
            </a:pPr>
            <a:r>
              <a:rPr lang="es-MX" b="1" i="0" dirty="0">
                <a:solidFill>
                  <a:srgbClr val="0D0D0D"/>
                </a:solidFill>
                <a:effectLst/>
                <a:highlight>
                  <a:srgbClr val="FFFFFF"/>
                </a:highlight>
                <a:latin typeface="Söhne"/>
              </a:rPr>
              <a:t>Actualización y Mantenimiento:</a:t>
            </a:r>
            <a:r>
              <a:rPr lang="es-MX" b="0" i="0" dirty="0">
                <a:solidFill>
                  <a:srgbClr val="0D0D0D"/>
                </a:solidFill>
                <a:effectLst/>
                <a:highlight>
                  <a:srgbClr val="FFFFFF"/>
                </a:highlight>
                <a:latin typeface="Söhne"/>
              </a:rPr>
              <a:t> Regularmente revisar y actualizar los datos para asegurar su relevancia y precisión.</a:t>
            </a:r>
          </a:p>
          <a:p>
            <a:pPr algn="l">
              <a:buFont typeface="Arial" panose="020B0604020202020204" pitchFamily="34" charset="0"/>
              <a:buChar char="•"/>
            </a:pPr>
            <a:r>
              <a:rPr lang="es-MX" b="1" i="0" dirty="0">
                <a:solidFill>
                  <a:srgbClr val="0D0D0D"/>
                </a:solidFill>
                <a:effectLst/>
                <a:highlight>
                  <a:srgbClr val="FFFFFF"/>
                </a:highlight>
                <a:latin typeface="Söhne"/>
              </a:rPr>
              <a:t>Análisis Preliminar:</a:t>
            </a:r>
            <a:r>
              <a:rPr lang="es-MX" b="0" i="0" dirty="0">
                <a:solidFill>
                  <a:srgbClr val="0D0D0D"/>
                </a:solidFill>
                <a:effectLst/>
                <a:highlight>
                  <a:srgbClr val="FFFFFF"/>
                </a:highlight>
                <a:latin typeface="Söhne"/>
              </a:rPr>
              <a:t> Realizar un análisis exploratorio de los datos antes de proceder a análisis más complejos para identificar posibles problemas o peculiaridades en los datos.</a:t>
            </a:r>
          </a:p>
          <a:p>
            <a:endParaRPr lang="es-CO" dirty="0"/>
          </a:p>
        </p:txBody>
      </p:sp>
    </p:spTree>
    <p:extLst>
      <p:ext uri="{BB962C8B-B14F-4D97-AF65-F5344CB8AC3E}">
        <p14:creationId xmlns:p14="http://schemas.microsoft.com/office/powerpoint/2010/main" val="2131192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967939-92F9-79A9-B37C-9475190C09D4}"/>
              </a:ext>
            </a:extLst>
          </p:cNvPr>
          <p:cNvSpPr>
            <a:spLocks noGrp="1"/>
          </p:cNvSpPr>
          <p:nvPr>
            <p:ph type="title"/>
          </p:nvPr>
        </p:nvSpPr>
        <p:spPr/>
        <p:txBody>
          <a:bodyPr/>
          <a:lstStyle/>
          <a:p>
            <a:r>
              <a:rPr lang="es-MX" dirty="0"/>
              <a:t>Y entonces… ¿Qué son los Datos No Estructurados?</a:t>
            </a:r>
            <a:endParaRPr lang="es-CO" dirty="0"/>
          </a:p>
        </p:txBody>
      </p:sp>
      <p:sp>
        <p:nvSpPr>
          <p:cNvPr id="3" name="Marcador de contenido 2">
            <a:extLst>
              <a:ext uri="{FF2B5EF4-FFF2-40B4-BE49-F238E27FC236}">
                <a16:creationId xmlns:a16="http://schemas.microsoft.com/office/drawing/2014/main" id="{41BB6C2E-02C1-151F-885C-7FC329BBE80F}"/>
              </a:ext>
            </a:extLst>
          </p:cNvPr>
          <p:cNvSpPr>
            <a:spLocks noGrp="1"/>
          </p:cNvSpPr>
          <p:nvPr>
            <p:ph idx="1"/>
          </p:nvPr>
        </p:nvSpPr>
        <p:spPr/>
        <p:txBody>
          <a:bodyPr>
            <a:normAutofit lnSpcReduction="10000"/>
          </a:bodyPr>
          <a:lstStyle/>
          <a:p>
            <a:pPr algn="l">
              <a:buFont typeface="Arial" panose="020B0604020202020204" pitchFamily="34" charset="0"/>
              <a:buChar char="•"/>
            </a:pPr>
            <a:r>
              <a:rPr lang="es-MX" b="0" i="0" dirty="0">
                <a:solidFill>
                  <a:srgbClr val="0D0D0D"/>
                </a:solidFill>
                <a:effectLst/>
                <a:highlight>
                  <a:srgbClr val="FFFFFF"/>
                </a:highlight>
                <a:latin typeface="Söhne"/>
              </a:rPr>
              <a:t>Los datos no estructurados son aquellos que no tienen un formato predefinido ni una estructura fácilmente identificable. Representan la mayoría de los datos generados en el mundo digital. (Ejemplo: Textos libres, imágenes, vídeos, audios, correos electrónicos, y publicaciones en redes sociales).</a:t>
            </a:r>
          </a:p>
          <a:p>
            <a:pPr algn="l">
              <a:buFont typeface="Arial" panose="020B0604020202020204" pitchFamily="34" charset="0"/>
              <a:buChar char="•"/>
            </a:pPr>
            <a:r>
              <a:rPr lang="es-MX" b="1" i="0" dirty="0">
                <a:solidFill>
                  <a:srgbClr val="0D0D0D"/>
                </a:solidFill>
                <a:effectLst/>
                <a:highlight>
                  <a:srgbClr val="FFFFFF"/>
                </a:highlight>
                <a:latin typeface="Söhne"/>
              </a:rPr>
              <a:t>Características:</a:t>
            </a:r>
            <a:endParaRPr lang="es-MX" b="0" i="0" dirty="0">
              <a:solidFill>
                <a:srgbClr val="0D0D0D"/>
              </a:solidFill>
              <a:effectLst/>
              <a:highlight>
                <a:srgbClr val="FFFFFF"/>
              </a:highlight>
              <a:latin typeface="Söhne"/>
            </a:endParaRPr>
          </a:p>
          <a:p>
            <a:pPr marL="742950" lvl="1" indent="-285750" algn="l">
              <a:buFont typeface="Arial" panose="020B0604020202020204" pitchFamily="34" charset="0"/>
              <a:buChar char="•"/>
            </a:pPr>
            <a:r>
              <a:rPr lang="es-MX" b="1" i="0" dirty="0">
                <a:solidFill>
                  <a:srgbClr val="0D0D0D"/>
                </a:solidFill>
                <a:effectLst/>
                <a:highlight>
                  <a:srgbClr val="FFFFFF"/>
                </a:highlight>
                <a:latin typeface="Söhne"/>
              </a:rPr>
              <a:t>Variabilidad:</a:t>
            </a:r>
            <a:r>
              <a:rPr lang="es-MX" b="0" i="0" dirty="0">
                <a:solidFill>
                  <a:srgbClr val="0D0D0D"/>
                </a:solidFill>
                <a:effectLst/>
                <a:highlight>
                  <a:srgbClr val="FFFFFF"/>
                </a:highlight>
                <a:latin typeface="Söhne"/>
              </a:rPr>
              <a:t> Los formatos pueden variar ampliamente, incluso dentro del mismo tipo de datos.</a:t>
            </a:r>
          </a:p>
          <a:p>
            <a:pPr marL="742950" lvl="1" indent="-285750" algn="l">
              <a:buFont typeface="Arial" panose="020B0604020202020204" pitchFamily="34" charset="0"/>
              <a:buChar char="•"/>
            </a:pPr>
            <a:r>
              <a:rPr lang="es-MX" b="1" i="0" dirty="0">
                <a:solidFill>
                  <a:srgbClr val="0D0D0D"/>
                </a:solidFill>
                <a:effectLst/>
                <a:highlight>
                  <a:srgbClr val="FFFFFF"/>
                </a:highlight>
                <a:latin typeface="Söhne"/>
              </a:rPr>
              <a:t>Complejidad:</a:t>
            </a:r>
            <a:r>
              <a:rPr lang="es-MX" b="0" i="0" dirty="0">
                <a:solidFill>
                  <a:srgbClr val="0D0D0D"/>
                </a:solidFill>
                <a:effectLst/>
                <a:highlight>
                  <a:srgbClr val="FFFFFF"/>
                </a:highlight>
                <a:latin typeface="Söhne"/>
              </a:rPr>
              <a:t> Requieren técnicas más avanzadas para su procesamiento, como el procesamiento de lenguaje natural (NLP) para textos o algoritmos de visión por computadora para imágenes.</a:t>
            </a:r>
          </a:p>
          <a:p>
            <a:pPr algn="l">
              <a:buFont typeface="Arial" panose="020B0604020202020204" pitchFamily="34" charset="0"/>
              <a:buChar char="•"/>
            </a:pPr>
            <a:r>
              <a:rPr lang="es-MX" b="0" i="0" dirty="0">
                <a:solidFill>
                  <a:srgbClr val="0D0D0D"/>
                </a:solidFill>
                <a:effectLst/>
                <a:highlight>
                  <a:srgbClr val="FFFFFF"/>
                </a:highlight>
                <a:latin typeface="Söhne"/>
              </a:rPr>
              <a:t>Aunque no se estructuran fácilmente, contienen una rica fuente de información y conocimientos que pueden ser vitales para el análisis cualitativo y la toma de decisiones.</a:t>
            </a:r>
          </a:p>
          <a:p>
            <a:endParaRPr lang="es-CO" dirty="0"/>
          </a:p>
        </p:txBody>
      </p:sp>
    </p:spTree>
    <p:extLst>
      <p:ext uri="{BB962C8B-B14F-4D97-AF65-F5344CB8AC3E}">
        <p14:creationId xmlns:p14="http://schemas.microsoft.com/office/powerpoint/2010/main" val="4024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074195-1379-8C31-D745-2F6A01905A48}"/>
              </a:ext>
            </a:extLst>
          </p:cNvPr>
          <p:cNvSpPr>
            <a:spLocks noGrp="1"/>
          </p:cNvSpPr>
          <p:nvPr>
            <p:ph type="title"/>
          </p:nvPr>
        </p:nvSpPr>
        <p:spPr/>
        <p:txBody>
          <a:bodyPr/>
          <a:lstStyle/>
          <a:p>
            <a:r>
              <a:rPr lang="es-MX" dirty="0"/>
              <a:t>Bases de datos relacionales</a:t>
            </a:r>
            <a:endParaRPr lang="es-CO" dirty="0"/>
          </a:p>
        </p:txBody>
      </p:sp>
      <p:sp>
        <p:nvSpPr>
          <p:cNvPr id="3" name="Marcador de texto 2">
            <a:extLst>
              <a:ext uri="{FF2B5EF4-FFF2-40B4-BE49-F238E27FC236}">
                <a16:creationId xmlns:a16="http://schemas.microsoft.com/office/drawing/2014/main" id="{8B57851B-3D7A-2DCD-B833-5F0120E09D41}"/>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765368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FF468-97E2-4A9D-7677-461076EF825D}"/>
              </a:ext>
            </a:extLst>
          </p:cNvPr>
          <p:cNvSpPr>
            <a:spLocks noGrp="1"/>
          </p:cNvSpPr>
          <p:nvPr>
            <p:ph type="title"/>
          </p:nvPr>
        </p:nvSpPr>
        <p:spPr/>
        <p:txBody>
          <a:bodyPr/>
          <a:lstStyle/>
          <a:p>
            <a:r>
              <a:rPr lang="es-MX" dirty="0"/>
              <a:t>Relevancia de las bases de datos</a:t>
            </a:r>
            <a:endParaRPr lang="es-CO" dirty="0"/>
          </a:p>
        </p:txBody>
      </p:sp>
      <p:sp>
        <p:nvSpPr>
          <p:cNvPr id="3" name="Marcador de contenido 2">
            <a:extLst>
              <a:ext uri="{FF2B5EF4-FFF2-40B4-BE49-F238E27FC236}">
                <a16:creationId xmlns:a16="http://schemas.microsoft.com/office/drawing/2014/main" id="{C370F278-B826-C60F-10E8-05F23D6A83AA}"/>
              </a:ext>
            </a:extLst>
          </p:cNvPr>
          <p:cNvSpPr>
            <a:spLocks noGrp="1"/>
          </p:cNvSpPr>
          <p:nvPr>
            <p:ph sz="half" idx="1"/>
          </p:nvPr>
        </p:nvSpPr>
        <p:spPr/>
        <p:txBody>
          <a:bodyPr>
            <a:normAutofit/>
          </a:bodyPr>
          <a:lstStyle/>
          <a:p>
            <a:pPr algn="just"/>
            <a:r>
              <a:rPr lang="es-MX" dirty="0"/>
              <a:t>Las BD actúan como </a:t>
            </a:r>
            <a:r>
              <a:rPr lang="es-MX" b="1" dirty="0"/>
              <a:t>depósitos estructurados</a:t>
            </a:r>
            <a:r>
              <a:rPr lang="es-MX" dirty="0"/>
              <a:t> que resguardan información crítica, garantizando acceso seguro, continuidad operativa y posibilidades de compartición.</a:t>
            </a:r>
          </a:p>
          <a:p>
            <a:pPr algn="just"/>
            <a:endParaRPr lang="es-MX" dirty="0"/>
          </a:p>
          <a:p>
            <a:pPr algn="just"/>
            <a:r>
              <a:rPr lang="es-MX" dirty="0"/>
              <a:t>Su gestión responsable es esencial para cumplir normas éticas y evitar riesgos legales al tratar datos. </a:t>
            </a:r>
          </a:p>
          <a:p>
            <a:endParaRPr lang="es-CO" dirty="0"/>
          </a:p>
        </p:txBody>
      </p:sp>
      <p:pic>
        <p:nvPicPr>
          <p:cNvPr id="5122" name="Picture 2" descr="Qué es la integración de bases de datos? Descripción general y beneficios">
            <a:extLst>
              <a:ext uri="{FF2B5EF4-FFF2-40B4-BE49-F238E27FC236}">
                <a16:creationId xmlns:a16="http://schemas.microsoft.com/office/drawing/2014/main" id="{CD016EA0-4302-9D5A-1DE9-55C3D6EA554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00844" y="1825625"/>
            <a:ext cx="412431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514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21DDA-0884-F2EA-FE25-22A6976C571A}"/>
              </a:ext>
            </a:extLst>
          </p:cNvPr>
          <p:cNvSpPr>
            <a:spLocks noGrp="1"/>
          </p:cNvSpPr>
          <p:nvPr>
            <p:ph type="title"/>
          </p:nvPr>
        </p:nvSpPr>
        <p:spPr/>
        <p:txBody>
          <a:bodyPr>
            <a:normAutofit/>
          </a:bodyPr>
          <a:lstStyle/>
          <a:p>
            <a:r>
              <a:rPr lang="es-MX" b="1" dirty="0"/>
              <a:t>Definición y función del Sistema Gestor de Bases de Datos (SGBD)</a:t>
            </a:r>
            <a:endParaRPr lang="es-CO" dirty="0"/>
          </a:p>
        </p:txBody>
      </p:sp>
      <p:sp>
        <p:nvSpPr>
          <p:cNvPr id="3" name="Marcador de contenido 2">
            <a:extLst>
              <a:ext uri="{FF2B5EF4-FFF2-40B4-BE49-F238E27FC236}">
                <a16:creationId xmlns:a16="http://schemas.microsoft.com/office/drawing/2014/main" id="{D3AF333A-4E31-78C5-E4D3-3A863407E4B4}"/>
              </a:ext>
            </a:extLst>
          </p:cNvPr>
          <p:cNvSpPr>
            <a:spLocks noGrp="1"/>
          </p:cNvSpPr>
          <p:nvPr>
            <p:ph sz="half" idx="1"/>
          </p:nvPr>
        </p:nvSpPr>
        <p:spPr/>
        <p:txBody>
          <a:bodyPr anchor="ctr">
            <a:normAutofit/>
          </a:bodyPr>
          <a:lstStyle/>
          <a:p>
            <a:pPr algn="just"/>
            <a:r>
              <a:rPr lang="es-MX" sz="2000" dirty="0"/>
              <a:t>Una </a:t>
            </a:r>
            <a:r>
              <a:rPr lang="es-MX" sz="2000" b="1" dirty="0"/>
              <a:t>base de datos</a:t>
            </a:r>
            <a:r>
              <a:rPr lang="es-MX" sz="2000" dirty="0"/>
              <a:t> es un conjunto organizado de datos interrelacionados, diseñado para apoyar la toma de decisiones.</a:t>
            </a:r>
          </a:p>
          <a:p>
            <a:pPr algn="just"/>
            <a:endParaRPr lang="es-MX" sz="2000" dirty="0"/>
          </a:p>
          <a:p>
            <a:pPr algn="just"/>
            <a:r>
              <a:rPr lang="es-MX" sz="2000" dirty="0"/>
              <a:t>El </a:t>
            </a:r>
            <a:r>
              <a:rPr lang="es-MX" sz="2000" b="1" dirty="0"/>
              <a:t>Sistema Gestor de Bases de Datos (SGBD)</a:t>
            </a:r>
            <a:r>
              <a:rPr lang="es-MX" sz="2000" dirty="0"/>
              <a:t> es el software que facilita la creación, almacenamiento, protección y consulta de esos datos, ofreciendo lenguaje de consulta estandarizado y mecanismos de recuperación ante fallas. </a:t>
            </a:r>
            <a:endParaRPr lang="es-CO" sz="2000" dirty="0"/>
          </a:p>
        </p:txBody>
      </p:sp>
      <p:pic>
        <p:nvPicPr>
          <p:cNvPr id="6146" name="Picture 2" descr="SGBD o SMBD: «Sistema Manejador de Base de Datos» | Bases de Datos">
            <a:extLst>
              <a:ext uri="{FF2B5EF4-FFF2-40B4-BE49-F238E27FC236}">
                <a16:creationId xmlns:a16="http://schemas.microsoft.com/office/drawing/2014/main" id="{1482ED53-4506-7F2F-0908-33722BFFF6E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520296"/>
            <a:ext cx="5181600" cy="296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334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22AB96-C622-953D-52DB-5C524165A92E}"/>
              </a:ext>
            </a:extLst>
          </p:cNvPr>
          <p:cNvSpPr>
            <a:spLocks noGrp="1"/>
          </p:cNvSpPr>
          <p:nvPr>
            <p:ph type="title"/>
          </p:nvPr>
        </p:nvSpPr>
        <p:spPr/>
        <p:txBody>
          <a:bodyPr/>
          <a:lstStyle/>
          <a:p>
            <a:r>
              <a:rPr lang="es-MX" b="1" dirty="0"/>
              <a:t>Enfoque relacional</a:t>
            </a:r>
            <a:endParaRPr lang="es-CO" dirty="0"/>
          </a:p>
        </p:txBody>
      </p:sp>
      <p:sp>
        <p:nvSpPr>
          <p:cNvPr id="3" name="Marcador de contenido 2">
            <a:extLst>
              <a:ext uri="{FF2B5EF4-FFF2-40B4-BE49-F238E27FC236}">
                <a16:creationId xmlns:a16="http://schemas.microsoft.com/office/drawing/2014/main" id="{3E11A8AE-7E96-DD04-A56E-36CE81C71963}"/>
              </a:ext>
            </a:extLst>
          </p:cNvPr>
          <p:cNvSpPr>
            <a:spLocks noGrp="1"/>
          </p:cNvSpPr>
          <p:nvPr>
            <p:ph sz="half" idx="1"/>
          </p:nvPr>
        </p:nvSpPr>
        <p:spPr/>
        <p:txBody>
          <a:bodyPr anchor="ctr">
            <a:normAutofit fontScale="92500"/>
          </a:bodyPr>
          <a:lstStyle/>
          <a:p>
            <a:r>
              <a:rPr lang="es-MX" dirty="0"/>
              <a:t>En el </a:t>
            </a:r>
            <a:r>
              <a:rPr lang="es-MX" b="1" dirty="0"/>
              <a:t>modelo relacional</a:t>
            </a:r>
            <a:r>
              <a:rPr lang="es-MX" dirty="0"/>
              <a:t> la información se distribuye en </a:t>
            </a:r>
            <a:r>
              <a:rPr lang="es-MX" b="1" dirty="0"/>
              <a:t>tablas</a:t>
            </a:r>
            <a:r>
              <a:rPr lang="es-MX" dirty="0"/>
              <a:t> conectadas entre sí; este paradigma, propuesto por Edgar F. Codd en 1970, se popularizó rápidamente por su flexibilidad y solidez teórica.</a:t>
            </a:r>
          </a:p>
          <a:p>
            <a:endParaRPr lang="es-MX" dirty="0"/>
          </a:p>
          <a:p>
            <a:r>
              <a:rPr lang="es-MX" dirty="0"/>
              <a:t>Las relaciones permiten combinar datos de distintas tablas mediante </a:t>
            </a:r>
            <a:r>
              <a:rPr lang="es-MX" b="1" dirty="0"/>
              <a:t>SQL</a:t>
            </a:r>
            <a:r>
              <a:rPr lang="es-MX" dirty="0"/>
              <a:t>, lo que posibilita múltiples formas de reorganizar y analizar la información.</a:t>
            </a:r>
          </a:p>
          <a:p>
            <a:endParaRPr lang="es-CO" dirty="0"/>
          </a:p>
        </p:txBody>
      </p:sp>
      <p:pic>
        <p:nvPicPr>
          <p:cNvPr id="7170" name="Picture 2" descr="3. Modelos relacionales de base de datos – TIC´s II">
            <a:extLst>
              <a:ext uri="{FF2B5EF4-FFF2-40B4-BE49-F238E27FC236}">
                <a16:creationId xmlns:a16="http://schemas.microsoft.com/office/drawing/2014/main" id="{97859A4D-964B-DF69-AEAC-57E230BEAB5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827077"/>
            <a:ext cx="5181600" cy="2348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535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9A8A5-2764-A841-13A6-B1260BD7D951}"/>
              </a:ext>
            </a:extLst>
          </p:cNvPr>
          <p:cNvSpPr>
            <a:spLocks noGrp="1"/>
          </p:cNvSpPr>
          <p:nvPr>
            <p:ph type="title"/>
          </p:nvPr>
        </p:nvSpPr>
        <p:spPr/>
        <p:txBody>
          <a:bodyPr/>
          <a:lstStyle/>
          <a:p>
            <a:r>
              <a:rPr lang="es-MX" b="1" dirty="0"/>
              <a:t>Elementos claves de una BD relacional</a:t>
            </a:r>
            <a:endParaRPr lang="es-CO" dirty="0"/>
          </a:p>
        </p:txBody>
      </p:sp>
      <p:sp>
        <p:nvSpPr>
          <p:cNvPr id="3" name="Marcador de contenido 2">
            <a:extLst>
              <a:ext uri="{FF2B5EF4-FFF2-40B4-BE49-F238E27FC236}">
                <a16:creationId xmlns:a16="http://schemas.microsoft.com/office/drawing/2014/main" id="{1EBBE719-2A62-DBFD-1FE3-D493C37F0742}"/>
              </a:ext>
            </a:extLst>
          </p:cNvPr>
          <p:cNvSpPr>
            <a:spLocks noGrp="1"/>
          </p:cNvSpPr>
          <p:nvPr>
            <p:ph sz="half" idx="1"/>
          </p:nvPr>
        </p:nvSpPr>
        <p:spPr/>
        <p:txBody>
          <a:bodyPr anchor="ctr">
            <a:normAutofit lnSpcReduction="10000"/>
          </a:bodyPr>
          <a:lstStyle/>
          <a:p>
            <a:r>
              <a:rPr lang="es-MX" b="1" dirty="0"/>
              <a:t>Tablas</a:t>
            </a:r>
            <a:r>
              <a:rPr lang="es-MX" dirty="0"/>
              <a:t>: estructuras en filas y columnas que albergan los registros.</a:t>
            </a:r>
          </a:p>
          <a:p>
            <a:r>
              <a:rPr lang="es-MX" b="1" dirty="0"/>
              <a:t>Registros y campos</a:t>
            </a:r>
            <a:r>
              <a:rPr lang="es-MX" dirty="0"/>
              <a:t>: cada fila describe una instancia; cada columna define un atributo.</a:t>
            </a:r>
          </a:p>
          <a:p>
            <a:r>
              <a:rPr lang="es-MX" b="1" dirty="0"/>
              <a:t>Dominios</a:t>
            </a:r>
            <a:r>
              <a:rPr lang="es-MX" dirty="0"/>
              <a:t>: conjunto válido de valores para un atributo.</a:t>
            </a:r>
          </a:p>
          <a:p>
            <a:r>
              <a:rPr lang="es-MX" b="1" dirty="0"/>
              <a:t>Relaciones</a:t>
            </a:r>
            <a:r>
              <a:rPr lang="es-MX" dirty="0"/>
              <a:t>: vínculos lógicos entre tablas que se explotan con consultas. </a:t>
            </a:r>
            <a:endParaRPr lang="es-CO" dirty="0"/>
          </a:p>
        </p:txBody>
      </p:sp>
      <p:pic>
        <p:nvPicPr>
          <p:cNvPr id="8194" name="Picture 2" descr="Modelo relacional de base de datos. Incluye siete afinidades (Árboles,... |  Download Scientific Diagram">
            <a:extLst>
              <a:ext uri="{FF2B5EF4-FFF2-40B4-BE49-F238E27FC236}">
                <a16:creationId xmlns:a16="http://schemas.microsoft.com/office/drawing/2014/main" id="{EF064C28-C25B-5AE6-4185-B09C077FA0F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480342"/>
            <a:ext cx="5181600" cy="304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442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530F4-0DE3-D176-EE72-CC535F66C707}"/>
              </a:ext>
            </a:extLst>
          </p:cNvPr>
          <p:cNvSpPr>
            <a:spLocks noGrp="1"/>
          </p:cNvSpPr>
          <p:nvPr>
            <p:ph type="title"/>
          </p:nvPr>
        </p:nvSpPr>
        <p:spPr/>
        <p:txBody>
          <a:bodyPr/>
          <a:lstStyle/>
          <a:p>
            <a:r>
              <a:rPr lang="es-MX" b="1" dirty="0"/>
              <a:t>Llaves y reglas de integridad</a:t>
            </a:r>
            <a:endParaRPr lang="es-CO" dirty="0"/>
          </a:p>
        </p:txBody>
      </p:sp>
      <p:sp>
        <p:nvSpPr>
          <p:cNvPr id="3" name="Marcador de contenido 2">
            <a:extLst>
              <a:ext uri="{FF2B5EF4-FFF2-40B4-BE49-F238E27FC236}">
                <a16:creationId xmlns:a16="http://schemas.microsoft.com/office/drawing/2014/main" id="{A55F5650-9531-D0CA-8523-DC8A6682C6EE}"/>
              </a:ext>
            </a:extLst>
          </p:cNvPr>
          <p:cNvSpPr>
            <a:spLocks noGrp="1"/>
          </p:cNvSpPr>
          <p:nvPr>
            <p:ph sz="half" idx="1"/>
          </p:nvPr>
        </p:nvSpPr>
        <p:spPr/>
        <p:txBody>
          <a:bodyPr>
            <a:normAutofit/>
          </a:bodyPr>
          <a:lstStyle/>
          <a:p>
            <a:r>
              <a:rPr lang="es-MX" b="1" dirty="0"/>
              <a:t>Llave primaria (PK)</a:t>
            </a:r>
            <a:r>
              <a:rPr lang="es-MX" dirty="0"/>
              <a:t>: identifica de forma única cada registro y asegura integridad a nivel de entidad.</a:t>
            </a:r>
          </a:p>
          <a:p>
            <a:endParaRPr lang="es-MX" dirty="0"/>
          </a:p>
          <a:p>
            <a:r>
              <a:rPr lang="es-MX" b="1" dirty="0"/>
              <a:t>Llave foránea (FK)</a:t>
            </a:r>
            <a:r>
              <a:rPr lang="es-MX" dirty="0"/>
              <a:t>: hace referencia a la PK de otra tabla, preservando la integridad referencial y consolidando la estructura padre-hijo. </a:t>
            </a:r>
            <a:endParaRPr lang="es-CO" dirty="0"/>
          </a:p>
        </p:txBody>
      </p:sp>
      <p:pic>
        <p:nvPicPr>
          <p:cNvPr id="9218" name="Picture 2" descr="SQL — Primary key Vs Foreign Key. As we know that relationship between… |  by Ryan Arjun | Medium">
            <a:extLst>
              <a:ext uri="{FF2B5EF4-FFF2-40B4-BE49-F238E27FC236}">
                <a16:creationId xmlns:a16="http://schemas.microsoft.com/office/drawing/2014/main" id="{8A67BAED-B3C8-802D-93EB-2D1A9A3898F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3085878"/>
            <a:ext cx="5181600" cy="183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720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D3899E-6FA7-3644-306E-0DD7828E26E6}"/>
              </a:ext>
            </a:extLst>
          </p:cNvPr>
          <p:cNvSpPr>
            <a:spLocks noGrp="1"/>
          </p:cNvSpPr>
          <p:nvPr>
            <p:ph type="title"/>
          </p:nvPr>
        </p:nvSpPr>
        <p:spPr/>
        <p:txBody>
          <a:bodyPr/>
          <a:lstStyle/>
          <a:p>
            <a:r>
              <a:rPr lang="es-MX" b="1" dirty="0"/>
              <a:t>Cardinalidad de las relaciones</a:t>
            </a:r>
            <a:endParaRPr lang="es-CO" dirty="0"/>
          </a:p>
        </p:txBody>
      </p:sp>
      <p:sp>
        <p:nvSpPr>
          <p:cNvPr id="3" name="Marcador de contenido 2">
            <a:extLst>
              <a:ext uri="{FF2B5EF4-FFF2-40B4-BE49-F238E27FC236}">
                <a16:creationId xmlns:a16="http://schemas.microsoft.com/office/drawing/2014/main" id="{B9792DFB-8EEC-16D3-FA47-2C1571A2D445}"/>
              </a:ext>
            </a:extLst>
          </p:cNvPr>
          <p:cNvSpPr>
            <a:spLocks noGrp="1"/>
          </p:cNvSpPr>
          <p:nvPr>
            <p:ph idx="1"/>
          </p:nvPr>
        </p:nvSpPr>
        <p:spPr/>
        <p:txBody>
          <a:bodyPr/>
          <a:lstStyle/>
          <a:p>
            <a:r>
              <a:rPr lang="es-MX" b="1" dirty="0"/>
              <a:t>¿Por qué interesa la cardinalidad?</a:t>
            </a:r>
            <a:br>
              <a:rPr lang="es-MX" dirty="0"/>
            </a:br>
            <a:endParaRPr lang="es-MX" dirty="0"/>
          </a:p>
          <a:p>
            <a:r>
              <a:rPr lang="es-MX" dirty="0"/>
              <a:t>Define cuántos registros de una tabla pueden vincularse con los de otra, guía el diseño lógico y la creación de llaves primarias (PK) y foráneas (FK). Las “relaciones” son el mecanismo que conecta las tablas en un RDBMS </a:t>
            </a:r>
          </a:p>
          <a:p>
            <a:endParaRPr lang="es-CO" dirty="0"/>
          </a:p>
        </p:txBody>
      </p:sp>
    </p:spTree>
    <p:extLst>
      <p:ext uri="{BB962C8B-B14F-4D97-AF65-F5344CB8AC3E}">
        <p14:creationId xmlns:p14="http://schemas.microsoft.com/office/powerpoint/2010/main" val="4119302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AAE6C-2EC2-1376-51E6-BDBDB439D2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3AE767-7530-FA68-6DA1-28592F5BDED6}"/>
              </a:ext>
            </a:extLst>
          </p:cNvPr>
          <p:cNvSpPr>
            <a:spLocks noGrp="1"/>
          </p:cNvSpPr>
          <p:nvPr>
            <p:ph type="title"/>
          </p:nvPr>
        </p:nvSpPr>
        <p:spPr/>
        <p:txBody>
          <a:bodyPr/>
          <a:lstStyle/>
          <a:p>
            <a:r>
              <a:rPr lang="es-MX" b="1" dirty="0"/>
              <a:t>Cardinalidad de las relaciones</a:t>
            </a:r>
            <a:endParaRPr lang="es-CO" dirty="0"/>
          </a:p>
        </p:txBody>
      </p:sp>
      <p:graphicFrame>
        <p:nvGraphicFramePr>
          <p:cNvPr id="6" name="Marcador de contenido 5">
            <a:extLst>
              <a:ext uri="{FF2B5EF4-FFF2-40B4-BE49-F238E27FC236}">
                <a16:creationId xmlns:a16="http://schemas.microsoft.com/office/drawing/2014/main" id="{E0C1EB61-B800-DDB2-083A-52CCCCDDB23F}"/>
              </a:ext>
            </a:extLst>
          </p:cNvPr>
          <p:cNvGraphicFramePr>
            <a:graphicFrameLocks noGrp="1"/>
          </p:cNvGraphicFramePr>
          <p:nvPr>
            <p:ph idx="1"/>
            <p:extLst>
              <p:ext uri="{D42A27DB-BD31-4B8C-83A1-F6EECF244321}">
                <p14:modId xmlns:p14="http://schemas.microsoft.com/office/powerpoint/2010/main" val="2792929125"/>
              </p:ext>
            </p:extLst>
          </p:nvPr>
        </p:nvGraphicFramePr>
        <p:xfrm>
          <a:off x="1091962" y="1825625"/>
          <a:ext cx="10008076" cy="4351339"/>
        </p:xfrm>
        <a:graphic>
          <a:graphicData uri="http://schemas.openxmlformats.org/drawingml/2006/table">
            <a:tbl>
              <a:tblPr firstRow="1" bandRow="1">
                <a:tableStyleId>{9D7B26C5-4107-4FEC-AEDC-1716B250A1EF}</a:tableStyleId>
              </a:tblPr>
              <a:tblGrid>
                <a:gridCol w="2502019">
                  <a:extLst>
                    <a:ext uri="{9D8B030D-6E8A-4147-A177-3AD203B41FA5}">
                      <a16:colId xmlns:a16="http://schemas.microsoft.com/office/drawing/2014/main" val="1527990695"/>
                    </a:ext>
                  </a:extLst>
                </a:gridCol>
                <a:gridCol w="2502019">
                  <a:extLst>
                    <a:ext uri="{9D8B030D-6E8A-4147-A177-3AD203B41FA5}">
                      <a16:colId xmlns:a16="http://schemas.microsoft.com/office/drawing/2014/main" val="2284128404"/>
                    </a:ext>
                  </a:extLst>
                </a:gridCol>
                <a:gridCol w="2502019">
                  <a:extLst>
                    <a:ext uri="{9D8B030D-6E8A-4147-A177-3AD203B41FA5}">
                      <a16:colId xmlns:a16="http://schemas.microsoft.com/office/drawing/2014/main" val="3668337790"/>
                    </a:ext>
                  </a:extLst>
                </a:gridCol>
                <a:gridCol w="2502019">
                  <a:extLst>
                    <a:ext uri="{9D8B030D-6E8A-4147-A177-3AD203B41FA5}">
                      <a16:colId xmlns:a16="http://schemas.microsoft.com/office/drawing/2014/main" val="3851839700"/>
                    </a:ext>
                  </a:extLst>
                </a:gridCol>
              </a:tblGrid>
              <a:tr h="348107">
                <a:tc>
                  <a:txBody>
                    <a:bodyPr/>
                    <a:lstStyle/>
                    <a:p>
                      <a:pPr algn="ctr"/>
                      <a:r>
                        <a:rPr lang="es-CO" sz="1400" dirty="0">
                          <a:latin typeface="Verdana" panose="020B0604030504040204" pitchFamily="34" charset="0"/>
                          <a:ea typeface="Verdana" panose="020B0604030504040204" pitchFamily="34" charset="0"/>
                        </a:rPr>
                        <a:t>Tipo</a:t>
                      </a:r>
                    </a:p>
                  </a:txBody>
                  <a:tcPr marL="87027" marR="87027" marT="43513" marB="43513" anchor="ctr"/>
                </a:tc>
                <a:tc>
                  <a:txBody>
                    <a:bodyPr/>
                    <a:lstStyle/>
                    <a:p>
                      <a:pPr algn="ctr"/>
                      <a:r>
                        <a:rPr lang="es-CO" sz="1400" dirty="0">
                          <a:latin typeface="Verdana" panose="020B0604030504040204" pitchFamily="34" charset="0"/>
                          <a:ea typeface="Verdana" panose="020B0604030504040204" pitchFamily="34" charset="0"/>
                        </a:rPr>
                        <a:t>Descripción</a:t>
                      </a:r>
                    </a:p>
                  </a:txBody>
                  <a:tcPr marL="87027" marR="87027" marT="43513" marB="43513" anchor="ctr"/>
                </a:tc>
                <a:tc>
                  <a:txBody>
                    <a:bodyPr/>
                    <a:lstStyle/>
                    <a:p>
                      <a:pPr algn="ctr"/>
                      <a:r>
                        <a:rPr lang="es-CO" sz="1400" dirty="0">
                          <a:latin typeface="Verdana" panose="020B0604030504040204" pitchFamily="34" charset="0"/>
                          <a:ea typeface="Verdana" panose="020B0604030504040204" pitchFamily="34" charset="0"/>
                        </a:rPr>
                        <a:t>Ejemplo didáctico</a:t>
                      </a:r>
                    </a:p>
                  </a:txBody>
                  <a:tcPr marL="87027" marR="87027" marT="43513" marB="43513" anchor="ctr"/>
                </a:tc>
                <a:tc>
                  <a:txBody>
                    <a:bodyPr/>
                    <a:lstStyle/>
                    <a:p>
                      <a:pPr algn="ctr"/>
                      <a:r>
                        <a:rPr lang="es-CO" sz="1400" dirty="0">
                          <a:latin typeface="Verdana" panose="020B0604030504040204" pitchFamily="34" charset="0"/>
                          <a:ea typeface="Verdana" panose="020B0604030504040204" pitchFamily="34" charset="0"/>
                        </a:rPr>
                        <a:t>Implementación típica</a:t>
                      </a:r>
                    </a:p>
                  </a:txBody>
                  <a:tcPr marL="87027" marR="87027" marT="43513" marB="43513" anchor="ctr"/>
                </a:tc>
                <a:extLst>
                  <a:ext uri="{0D108BD9-81ED-4DB2-BD59-A6C34878D82A}">
                    <a16:rowId xmlns:a16="http://schemas.microsoft.com/office/drawing/2014/main" val="4204088163"/>
                  </a:ext>
                </a:extLst>
              </a:tr>
              <a:tr h="870268">
                <a:tc>
                  <a:txBody>
                    <a:bodyPr/>
                    <a:lstStyle/>
                    <a:p>
                      <a:r>
                        <a:rPr lang="it-IT" sz="1400" b="1">
                          <a:latin typeface="Verdana" panose="020B0604030504040204" pitchFamily="34" charset="0"/>
                          <a:ea typeface="Verdana" panose="020B0604030504040204" pitchFamily="34" charset="0"/>
                        </a:rPr>
                        <a:t>1 : 1 (uno a uno)</a:t>
                      </a:r>
                      <a:endParaRPr lang="it-IT" sz="1400">
                        <a:latin typeface="Verdana" panose="020B0604030504040204" pitchFamily="34" charset="0"/>
                        <a:ea typeface="Verdana" panose="020B0604030504040204" pitchFamily="34" charset="0"/>
                      </a:endParaRPr>
                    </a:p>
                  </a:txBody>
                  <a:tcPr marL="87027" marR="87027" marT="43513" marB="43513" anchor="ctr"/>
                </a:tc>
                <a:tc>
                  <a:txBody>
                    <a:bodyPr/>
                    <a:lstStyle/>
                    <a:p>
                      <a:r>
                        <a:rPr lang="es-MX" sz="1400">
                          <a:latin typeface="Verdana" panose="020B0604030504040204" pitchFamily="34" charset="0"/>
                          <a:ea typeface="Verdana" panose="020B0604030504040204" pitchFamily="34" charset="0"/>
                        </a:rPr>
                        <a:t>Cada fila de A se asocia con </a:t>
                      </a:r>
                      <a:r>
                        <a:rPr lang="es-MX" sz="1400" b="1">
                          <a:latin typeface="Verdana" panose="020B0604030504040204" pitchFamily="34" charset="0"/>
                          <a:ea typeface="Verdana" panose="020B0604030504040204" pitchFamily="34" charset="0"/>
                        </a:rPr>
                        <a:t>máximo</a:t>
                      </a:r>
                      <a:r>
                        <a:rPr lang="es-MX" sz="1400">
                          <a:latin typeface="Verdana" panose="020B0604030504040204" pitchFamily="34" charset="0"/>
                          <a:ea typeface="Verdana" panose="020B0604030504040204" pitchFamily="34" charset="0"/>
                        </a:rPr>
                        <a:t> una fila de B y viceversa.</a:t>
                      </a:r>
                    </a:p>
                  </a:txBody>
                  <a:tcPr marL="87027" marR="87027" marT="43513" marB="43513" anchor="ctr"/>
                </a:tc>
                <a:tc>
                  <a:txBody>
                    <a:bodyPr/>
                    <a:lstStyle/>
                    <a:p>
                      <a:r>
                        <a:rPr lang="es-CO" sz="1400">
                          <a:latin typeface="Verdana" panose="020B0604030504040204" pitchFamily="34" charset="0"/>
                          <a:ea typeface="Verdana" panose="020B0604030504040204" pitchFamily="34" charset="0"/>
                        </a:rPr>
                        <a:t>Persona → Pasaporte.</a:t>
                      </a:r>
                    </a:p>
                  </a:txBody>
                  <a:tcPr marL="87027" marR="87027" marT="43513" marB="43513" anchor="ctr"/>
                </a:tc>
                <a:tc>
                  <a:txBody>
                    <a:bodyPr/>
                    <a:lstStyle/>
                    <a:p>
                      <a:r>
                        <a:rPr lang="es-MX" sz="1400">
                          <a:latin typeface="Verdana" panose="020B0604030504040204" pitchFamily="34" charset="0"/>
                          <a:ea typeface="Verdana" panose="020B0604030504040204" pitchFamily="34" charset="0"/>
                        </a:rPr>
                        <a:t>FK única en una de las tablas o compartir la PK.</a:t>
                      </a:r>
                    </a:p>
                  </a:txBody>
                  <a:tcPr marL="87027" marR="87027" marT="43513" marB="43513" anchor="ctr"/>
                </a:tc>
                <a:extLst>
                  <a:ext uri="{0D108BD9-81ED-4DB2-BD59-A6C34878D82A}">
                    <a16:rowId xmlns:a16="http://schemas.microsoft.com/office/drawing/2014/main" val="1418436459"/>
                  </a:ext>
                </a:extLst>
              </a:tr>
              <a:tr h="1131348">
                <a:tc>
                  <a:txBody>
                    <a:bodyPr/>
                    <a:lstStyle/>
                    <a:p>
                      <a:r>
                        <a:rPr lang="es-MX" sz="1400" b="1" dirty="0">
                          <a:latin typeface="Verdana" panose="020B0604030504040204" pitchFamily="34" charset="0"/>
                          <a:ea typeface="Verdana" panose="020B0604030504040204" pitchFamily="34" charset="0"/>
                        </a:rPr>
                        <a:t>1 : N (uno a muchos)</a:t>
                      </a:r>
                      <a:endParaRPr lang="es-MX" sz="1400" dirty="0">
                        <a:latin typeface="Verdana" panose="020B0604030504040204" pitchFamily="34" charset="0"/>
                        <a:ea typeface="Verdana" panose="020B0604030504040204" pitchFamily="34" charset="0"/>
                      </a:endParaRP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Una fila de la tabla padre enlaza con </a:t>
                      </a:r>
                      <a:r>
                        <a:rPr lang="es-MX" sz="1400" b="1" dirty="0">
                          <a:latin typeface="Verdana" panose="020B0604030504040204" pitchFamily="34" charset="0"/>
                          <a:ea typeface="Verdana" panose="020B0604030504040204" pitchFamily="34" charset="0"/>
                        </a:rPr>
                        <a:t>varios</a:t>
                      </a:r>
                      <a:r>
                        <a:rPr lang="es-MX" sz="1400" dirty="0">
                          <a:latin typeface="Verdana" panose="020B0604030504040204" pitchFamily="34" charset="0"/>
                          <a:ea typeface="Verdana" panose="020B0604030504040204" pitchFamily="34" charset="0"/>
                        </a:rPr>
                        <a:t> registros hijos; los hijos sólo apuntan a un padre.</a:t>
                      </a:r>
                    </a:p>
                  </a:txBody>
                  <a:tcPr marL="87027" marR="87027" marT="43513" marB="43513" anchor="ctr"/>
                </a:tc>
                <a:tc>
                  <a:txBody>
                    <a:bodyPr/>
                    <a:lstStyle/>
                    <a:p>
                      <a:r>
                        <a:rPr lang="es-CO" sz="1400" dirty="0">
                          <a:latin typeface="Verdana" panose="020B0604030504040204" pitchFamily="34" charset="0"/>
                          <a:ea typeface="Verdana" panose="020B0604030504040204" pitchFamily="34" charset="0"/>
                        </a:rPr>
                        <a:t>Cliente → Pedidos.</a:t>
                      </a: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FK en la tabla hija que referencia la PK del padre .</a:t>
                      </a:r>
                    </a:p>
                  </a:txBody>
                  <a:tcPr marL="87027" marR="87027" marT="43513" marB="43513" anchor="ctr"/>
                </a:tc>
                <a:extLst>
                  <a:ext uri="{0D108BD9-81ED-4DB2-BD59-A6C34878D82A}">
                    <a16:rowId xmlns:a16="http://schemas.microsoft.com/office/drawing/2014/main" val="3372232903"/>
                  </a:ext>
                </a:extLst>
              </a:tr>
              <a:tr h="870268">
                <a:tc>
                  <a:txBody>
                    <a:bodyPr/>
                    <a:lstStyle/>
                    <a:p>
                      <a:r>
                        <a:rPr lang="es-MX" sz="1400" b="1" dirty="0">
                          <a:latin typeface="Verdana" panose="020B0604030504040204" pitchFamily="34" charset="0"/>
                          <a:ea typeface="Verdana" panose="020B0604030504040204" pitchFamily="34" charset="0"/>
                        </a:rPr>
                        <a:t>N : M (muchos a muchos)</a:t>
                      </a:r>
                      <a:endParaRPr lang="es-MX" sz="1400" dirty="0">
                        <a:latin typeface="Verdana" panose="020B0604030504040204" pitchFamily="34" charset="0"/>
                        <a:ea typeface="Verdana" panose="020B0604030504040204" pitchFamily="34" charset="0"/>
                      </a:endParaRP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Varias filas de A pueden relacionarse con varias de B.</a:t>
                      </a:r>
                    </a:p>
                  </a:txBody>
                  <a:tcPr marL="87027" marR="87027" marT="43513" marB="43513" anchor="ctr"/>
                </a:tc>
                <a:tc>
                  <a:txBody>
                    <a:bodyPr/>
                    <a:lstStyle/>
                    <a:p>
                      <a:r>
                        <a:rPr lang="es-CO" sz="1400" dirty="0">
                          <a:latin typeface="Verdana" panose="020B0604030504040204" pitchFamily="34" charset="0"/>
                          <a:ea typeface="Verdana" panose="020B0604030504040204" pitchFamily="34" charset="0"/>
                        </a:rPr>
                        <a:t>Estudiantes ↔ Asignaturas.</a:t>
                      </a: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Tabla puente con PK compuesta por las FK de ambas tablas.</a:t>
                      </a:r>
                    </a:p>
                  </a:txBody>
                  <a:tcPr marL="87027" marR="87027" marT="43513" marB="43513" anchor="ctr"/>
                </a:tc>
                <a:extLst>
                  <a:ext uri="{0D108BD9-81ED-4DB2-BD59-A6C34878D82A}">
                    <a16:rowId xmlns:a16="http://schemas.microsoft.com/office/drawing/2014/main" val="2875271134"/>
                  </a:ext>
                </a:extLst>
              </a:tr>
              <a:tr h="1131348">
                <a:tc>
                  <a:txBody>
                    <a:bodyPr/>
                    <a:lstStyle/>
                    <a:p>
                      <a:r>
                        <a:rPr lang="es-CO" sz="1400" b="1" dirty="0">
                          <a:latin typeface="Verdana" panose="020B0604030504040204" pitchFamily="34" charset="0"/>
                          <a:ea typeface="Verdana" panose="020B0604030504040204" pitchFamily="34" charset="0"/>
                        </a:rPr>
                        <a:t>Opcionalidad (0 : 1, 0 : N)</a:t>
                      </a:r>
                      <a:endParaRPr lang="es-CO" sz="1400" dirty="0">
                        <a:latin typeface="Verdana" panose="020B0604030504040204" pitchFamily="34" charset="0"/>
                        <a:ea typeface="Verdana" panose="020B0604030504040204" pitchFamily="34" charset="0"/>
                      </a:endParaRP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Permite que la relación sea opcional para alguna de las partes.</a:t>
                      </a: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Empleado → Vehículo asignado (puede no existir).</a:t>
                      </a:r>
                    </a:p>
                  </a:txBody>
                  <a:tcPr marL="87027" marR="87027" marT="43513" marB="43513" anchor="ctr"/>
                </a:tc>
                <a:tc>
                  <a:txBody>
                    <a:bodyPr/>
                    <a:lstStyle/>
                    <a:p>
                      <a:r>
                        <a:rPr lang="es-MX" sz="1400" dirty="0">
                          <a:latin typeface="Verdana" panose="020B0604030504040204" pitchFamily="34" charset="0"/>
                          <a:ea typeface="Verdana" panose="020B0604030504040204" pitchFamily="34" charset="0"/>
                        </a:rPr>
                        <a:t>Declarar la FK como NULL aceptado y controlar en el modelo lógico.</a:t>
                      </a:r>
                    </a:p>
                  </a:txBody>
                  <a:tcPr marL="87027" marR="87027" marT="43513" marB="43513" anchor="ctr"/>
                </a:tc>
                <a:extLst>
                  <a:ext uri="{0D108BD9-81ED-4DB2-BD59-A6C34878D82A}">
                    <a16:rowId xmlns:a16="http://schemas.microsoft.com/office/drawing/2014/main" val="1951150211"/>
                  </a:ext>
                </a:extLst>
              </a:tr>
            </a:tbl>
          </a:graphicData>
        </a:graphic>
      </p:graphicFrame>
    </p:spTree>
    <p:extLst>
      <p:ext uri="{BB962C8B-B14F-4D97-AF65-F5344CB8AC3E}">
        <p14:creationId xmlns:p14="http://schemas.microsoft.com/office/powerpoint/2010/main" val="1672415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DA48F-2083-B550-51B3-2E2B359478A4}"/>
              </a:ext>
            </a:extLst>
          </p:cNvPr>
          <p:cNvSpPr>
            <a:spLocks noGrp="1"/>
          </p:cNvSpPr>
          <p:nvPr>
            <p:ph type="title"/>
          </p:nvPr>
        </p:nvSpPr>
        <p:spPr/>
        <p:txBody>
          <a:bodyPr/>
          <a:lstStyle/>
          <a:p>
            <a:r>
              <a:rPr lang="es-MX" dirty="0"/>
              <a:t>Consultas a bases de datos</a:t>
            </a:r>
            <a:endParaRPr lang="es-CO" dirty="0"/>
          </a:p>
        </p:txBody>
      </p:sp>
      <p:sp>
        <p:nvSpPr>
          <p:cNvPr id="3" name="Marcador de texto 2">
            <a:extLst>
              <a:ext uri="{FF2B5EF4-FFF2-40B4-BE49-F238E27FC236}">
                <a16:creationId xmlns:a16="http://schemas.microsoft.com/office/drawing/2014/main" id="{87292A2B-E403-90A8-12B5-29A01F4F3044}"/>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717407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BB3C39-259C-C667-FEA5-D42A7F378D50}"/>
              </a:ext>
            </a:extLst>
          </p:cNvPr>
          <p:cNvSpPr>
            <a:spLocks noGrp="1"/>
          </p:cNvSpPr>
          <p:nvPr>
            <p:ph type="title"/>
          </p:nvPr>
        </p:nvSpPr>
        <p:spPr/>
        <p:txBody>
          <a:bodyPr/>
          <a:lstStyle/>
          <a:p>
            <a:r>
              <a:rPr lang="es-CO" b="1" dirty="0">
                <a:solidFill>
                  <a:srgbClr val="0D0D0D"/>
                </a:solidFill>
              </a:rPr>
              <a:t>¿Qué es SQL?</a:t>
            </a:r>
            <a:endParaRPr lang="es-CO" dirty="0"/>
          </a:p>
        </p:txBody>
      </p:sp>
      <p:sp>
        <p:nvSpPr>
          <p:cNvPr id="3" name="Marcador de contenido 2">
            <a:extLst>
              <a:ext uri="{FF2B5EF4-FFF2-40B4-BE49-F238E27FC236}">
                <a16:creationId xmlns:a16="http://schemas.microsoft.com/office/drawing/2014/main" id="{416B18AD-0A60-E628-CE58-08943AF8196F}"/>
              </a:ext>
            </a:extLst>
          </p:cNvPr>
          <p:cNvSpPr>
            <a:spLocks noGrp="1"/>
          </p:cNvSpPr>
          <p:nvPr>
            <p:ph idx="1"/>
          </p:nvPr>
        </p:nvSpPr>
        <p:spPr/>
        <p:txBody>
          <a:bodyPr>
            <a:normAutofit/>
          </a:bodyPr>
          <a:lstStyle/>
          <a:p>
            <a:pPr>
              <a:spcAft>
                <a:spcPts val="1200"/>
              </a:spcAft>
            </a:pPr>
            <a:r>
              <a:rPr lang="es-CO" b="1" dirty="0">
                <a:solidFill>
                  <a:srgbClr val="0D0D0D"/>
                </a:solidFill>
              </a:rPr>
              <a:t>SQL (</a:t>
            </a:r>
            <a:r>
              <a:rPr lang="es-CO" b="1" dirty="0" err="1">
                <a:solidFill>
                  <a:srgbClr val="0D0D0D"/>
                </a:solidFill>
              </a:rPr>
              <a:t>Structured</a:t>
            </a:r>
            <a:r>
              <a:rPr lang="es-CO" b="1" dirty="0">
                <a:solidFill>
                  <a:srgbClr val="0D0D0D"/>
                </a:solidFill>
              </a:rPr>
              <a:t> </a:t>
            </a:r>
            <a:r>
              <a:rPr lang="es-CO" b="1" dirty="0" err="1">
                <a:solidFill>
                  <a:srgbClr val="0D0D0D"/>
                </a:solidFill>
              </a:rPr>
              <a:t>Query</a:t>
            </a:r>
            <a:r>
              <a:rPr lang="es-CO" b="1" dirty="0">
                <a:solidFill>
                  <a:srgbClr val="0D0D0D"/>
                </a:solidFill>
              </a:rPr>
              <a:t> </a:t>
            </a:r>
            <a:r>
              <a:rPr lang="es-CO" b="1" dirty="0" err="1">
                <a:solidFill>
                  <a:srgbClr val="0D0D0D"/>
                </a:solidFill>
              </a:rPr>
              <a:t>Language</a:t>
            </a:r>
            <a:r>
              <a:rPr lang="es-CO" b="1" dirty="0">
                <a:solidFill>
                  <a:srgbClr val="0D0D0D"/>
                </a:solidFill>
              </a:rPr>
              <a:t>)</a:t>
            </a:r>
            <a:r>
              <a:rPr lang="es-CO" dirty="0">
                <a:solidFill>
                  <a:srgbClr val="0D0D0D"/>
                </a:solidFill>
              </a:rPr>
              <a:t>: lenguaje </a:t>
            </a:r>
            <a:r>
              <a:rPr lang="es-CO" b="1" dirty="0">
                <a:solidFill>
                  <a:srgbClr val="0D0D0D"/>
                </a:solidFill>
              </a:rPr>
              <a:t>declarativo</a:t>
            </a:r>
            <a:r>
              <a:rPr lang="es-CO" dirty="0">
                <a:solidFill>
                  <a:srgbClr val="0D0D0D"/>
                </a:solidFill>
              </a:rPr>
              <a:t> estandarizado (ISO/IEC 9075) para definir, consultar y manipular datos en SGBD relacionales.</a:t>
            </a:r>
          </a:p>
          <a:p>
            <a:pPr>
              <a:spcAft>
                <a:spcPts val="1200"/>
              </a:spcAft>
            </a:pPr>
            <a:r>
              <a:rPr lang="es-CO" dirty="0">
                <a:solidFill>
                  <a:srgbClr val="0D0D0D"/>
                </a:solidFill>
              </a:rPr>
              <a:t>DDL (Data </a:t>
            </a:r>
            <a:r>
              <a:rPr lang="es-CO" dirty="0" err="1">
                <a:solidFill>
                  <a:srgbClr val="0D0D0D"/>
                </a:solidFill>
              </a:rPr>
              <a:t>Definition</a:t>
            </a:r>
            <a:r>
              <a:rPr lang="es-CO" dirty="0">
                <a:solidFill>
                  <a:srgbClr val="0D0D0D"/>
                </a:solidFill>
              </a:rPr>
              <a:t>): CREATE, ALTER, DROP.</a:t>
            </a:r>
          </a:p>
          <a:p>
            <a:pPr>
              <a:spcAft>
                <a:spcPts val="1200"/>
              </a:spcAft>
            </a:pPr>
            <a:r>
              <a:rPr lang="es-CO" dirty="0">
                <a:solidFill>
                  <a:srgbClr val="0D0D0D"/>
                </a:solidFill>
              </a:rPr>
              <a:t>DML (Data </a:t>
            </a:r>
            <a:r>
              <a:rPr lang="es-CO" dirty="0" err="1">
                <a:solidFill>
                  <a:srgbClr val="0D0D0D"/>
                </a:solidFill>
              </a:rPr>
              <a:t>Manipulation</a:t>
            </a:r>
            <a:r>
              <a:rPr lang="es-CO" dirty="0">
                <a:solidFill>
                  <a:srgbClr val="0D0D0D"/>
                </a:solidFill>
              </a:rPr>
              <a:t>): SELECT, INSERT, UPDATE, DELETE.</a:t>
            </a:r>
          </a:p>
          <a:p>
            <a:pPr>
              <a:spcAft>
                <a:spcPts val="1200"/>
              </a:spcAft>
            </a:pPr>
            <a:r>
              <a:rPr lang="es-CO" dirty="0">
                <a:solidFill>
                  <a:srgbClr val="0D0D0D"/>
                </a:solidFill>
              </a:rPr>
              <a:t>DSL (Data Control &amp; </a:t>
            </a:r>
            <a:r>
              <a:rPr lang="es-CO" dirty="0" err="1">
                <a:solidFill>
                  <a:srgbClr val="0D0D0D"/>
                </a:solidFill>
              </a:rPr>
              <a:t>Transaction</a:t>
            </a:r>
            <a:r>
              <a:rPr lang="es-CO" dirty="0">
                <a:solidFill>
                  <a:srgbClr val="0D0D0D"/>
                </a:solidFill>
              </a:rPr>
              <a:t>): GRANT, COMMIT, ROLLBACK.</a:t>
            </a:r>
          </a:p>
          <a:p>
            <a:pPr>
              <a:spcAft>
                <a:spcPts val="1200"/>
              </a:spcAft>
            </a:pPr>
            <a:r>
              <a:rPr lang="es-CO" dirty="0">
                <a:solidFill>
                  <a:srgbClr val="0D0D0D"/>
                </a:solidFill>
              </a:rPr>
              <a:t>Dialectos populares: MySQL, PostgreSQL, SQLite, SQL Server; cambian extensiones pero conservan el núcleo estándar.</a:t>
            </a:r>
          </a:p>
        </p:txBody>
      </p:sp>
    </p:spTree>
    <p:extLst>
      <p:ext uri="{BB962C8B-B14F-4D97-AF65-F5344CB8AC3E}">
        <p14:creationId xmlns:p14="http://schemas.microsoft.com/office/powerpoint/2010/main" val="2555467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DA0F7-40FE-A526-0293-B6343B744E39}"/>
              </a:ext>
            </a:extLst>
          </p:cNvPr>
          <p:cNvSpPr>
            <a:spLocks noGrp="1"/>
          </p:cNvSpPr>
          <p:nvPr>
            <p:ph type="title"/>
          </p:nvPr>
        </p:nvSpPr>
        <p:spPr/>
        <p:txBody>
          <a:bodyPr/>
          <a:lstStyle/>
          <a:p>
            <a:r>
              <a:rPr lang="es-MX" dirty="0"/>
              <a:t>SQL </a:t>
            </a:r>
            <a:r>
              <a:rPr lang="es-MX" dirty="0" err="1"/>
              <a:t>Cheat</a:t>
            </a:r>
            <a:r>
              <a:rPr lang="es-MX" dirty="0"/>
              <a:t> </a:t>
            </a:r>
            <a:r>
              <a:rPr lang="es-MX" dirty="0" err="1"/>
              <a:t>Sheets</a:t>
            </a:r>
            <a:endParaRPr lang="es-CO" dirty="0"/>
          </a:p>
        </p:txBody>
      </p:sp>
      <p:sp>
        <p:nvSpPr>
          <p:cNvPr id="3" name="Marcador de contenido 2">
            <a:extLst>
              <a:ext uri="{FF2B5EF4-FFF2-40B4-BE49-F238E27FC236}">
                <a16:creationId xmlns:a16="http://schemas.microsoft.com/office/drawing/2014/main" id="{BB6ACF60-C8B3-EF2D-132D-8B902D0FCF84}"/>
              </a:ext>
            </a:extLst>
          </p:cNvPr>
          <p:cNvSpPr>
            <a:spLocks noGrp="1"/>
          </p:cNvSpPr>
          <p:nvPr>
            <p:ph idx="1"/>
          </p:nvPr>
        </p:nvSpPr>
        <p:spPr/>
        <p:txBody>
          <a:bodyPr/>
          <a:lstStyle/>
          <a:p>
            <a:pPr>
              <a:spcAft>
                <a:spcPts val="1200"/>
              </a:spcAft>
            </a:pPr>
            <a:r>
              <a:rPr lang="es-CO" dirty="0">
                <a:hlinkClick r:id="rId2"/>
              </a:rPr>
              <a:t>https://media.datacamp.com/legacy/image/upload/v1714149594/Marketing/Blog/SQL_for_Data_Science.pdf</a:t>
            </a:r>
            <a:endParaRPr lang="es-CO" dirty="0"/>
          </a:p>
          <a:p>
            <a:pPr>
              <a:spcAft>
                <a:spcPts val="1200"/>
              </a:spcAft>
            </a:pPr>
            <a:r>
              <a:rPr lang="es-CO" dirty="0">
                <a:hlinkClick r:id="rId3"/>
              </a:rPr>
              <a:t>https://www.dbvis.com/wp-content/uploads/2024/04/SQL-Cheat-Sheet.pdf</a:t>
            </a:r>
            <a:endParaRPr lang="es-CO" dirty="0"/>
          </a:p>
          <a:p>
            <a:pPr>
              <a:spcAft>
                <a:spcPts val="1200"/>
              </a:spcAft>
            </a:pPr>
            <a:r>
              <a:rPr lang="es-CO" dirty="0">
                <a:hlinkClick r:id="rId4"/>
              </a:rPr>
              <a:t>https://media.geeksforgeeks.org/wp-content/uploads/20240328180119/SQL-Cheat-Sheet-PDF.pdf</a:t>
            </a:r>
            <a:endParaRPr lang="es-CO" dirty="0"/>
          </a:p>
          <a:p>
            <a:endParaRPr lang="es-CO" dirty="0"/>
          </a:p>
        </p:txBody>
      </p:sp>
    </p:spTree>
    <p:extLst>
      <p:ext uri="{BB962C8B-B14F-4D97-AF65-F5344CB8AC3E}">
        <p14:creationId xmlns:p14="http://schemas.microsoft.com/office/powerpoint/2010/main" val="3085566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7D6D7-9ED7-E038-76D6-052D7684298B}"/>
              </a:ext>
            </a:extLst>
          </p:cNvPr>
          <p:cNvSpPr>
            <a:spLocks noGrp="1"/>
          </p:cNvSpPr>
          <p:nvPr>
            <p:ph type="title"/>
          </p:nvPr>
        </p:nvSpPr>
        <p:spPr/>
        <p:txBody>
          <a:bodyPr/>
          <a:lstStyle/>
          <a:p>
            <a:r>
              <a:rPr lang="es-MX" b="1" dirty="0"/>
              <a:t>Conexión a bases de datos (DB) en Python</a:t>
            </a:r>
            <a:endParaRPr lang="es-CO" b="1" dirty="0"/>
          </a:p>
        </p:txBody>
      </p:sp>
      <p:sp>
        <p:nvSpPr>
          <p:cNvPr id="3" name="Marcador de contenido 2">
            <a:extLst>
              <a:ext uri="{FF2B5EF4-FFF2-40B4-BE49-F238E27FC236}">
                <a16:creationId xmlns:a16="http://schemas.microsoft.com/office/drawing/2014/main" id="{45A60285-2E23-2082-E5F4-CC821F6FF8E1}"/>
              </a:ext>
            </a:extLst>
          </p:cNvPr>
          <p:cNvSpPr>
            <a:spLocks noGrp="1"/>
          </p:cNvSpPr>
          <p:nvPr>
            <p:ph idx="1"/>
          </p:nvPr>
        </p:nvSpPr>
        <p:spPr/>
        <p:txBody>
          <a:bodyPr/>
          <a:lstStyle/>
          <a:p>
            <a:r>
              <a:rPr lang="es-CO" dirty="0"/>
              <a:t>Drivers comunes: sqlite3, psycopg2 (PostgreSQL), </a:t>
            </a:r>
            <a:r>
              <a:rPr lang="es-CO" dirty="0" err="1"/>
              <a:t>pymysql</a:t>
            </a:r>
            <a:r>
              <a:rPr lang="es-CO" dirty="0"/>
              <a:t> (MySQL/</a:t>
            </a:r>
            <a:r>
              <a:rPr lang="es-CO" dirty="0" err="1"/>
              <a:t>MariaDB</a:t>
            </a:r>
            <a:r>
              <a:rPr lang="es-CO" dirty="0"/>
              <a:t>).</a:t>
            </a:r>
          </a:p>
          <a:p>
            <a:endParaRPr lang="es-CO" dirty="0"/>
          </a:p>
          <a:p>
            <a:r>
              <a:rPr lang="es-CO" dirty="0" err="1"/>
              <a:t>SQLAlchemy</a:t>
            </a:r>
            <a:r>
              <a:rPr lang="es-CO" dirty="0"/>
              <a:t>: capa ORM/</a:t>
            </a:r>
            <a:r>
              <a:rPr lang="es-CO" dirty="0" err="1"/>
              <a:t>connector</a:t>
            </a:r>
            <a:r>
              <a:rPr lang="es-CO" dirty="0"/>
              <a:t> unificada.</a:t>
            </a:r>
          </a:p>
          <a:p>
            <a:pPr lvl="1"/>
            <a:r>
              <a:rPr lang="es-CO" dirty="0" err="1">
                <a:latin typeface="Consolas" panose="020B0609020204030204" pitchFamily="49" charset="0"/>
              </a:rPr>
              <a:t>import</a:t>
            </a:r>
            <a:r>
              <a:rPr lang="es-CO" dirty="0">
                <a:latin typeface="Consolas" panose="020B0609020204030204" pitchFamily="49" charset="0"/>
              </a:rPr>
              <a:t> sqlite3, pandas as </a:t>
            </a:r>
            <a:r>
              <a:rPr lang="es-CO" dirty="0" err="1">
                <a:latin typeface="Consolas" panose="020B0609020204030204" pitchFamily="49" charset="0"/>
              </a:rPr>
              <a:t>pd</a:t>
            </a:r>
            <a:endParaRPr lang="es-CO" dirty="0">
              <a:latin typeface="Consolas" panose="020B0609020204030204" pitchFamily="49" charset="0"/>
            </a:endParaRPr>
          </a:p>
          <a:p>
            <a:pPr lvl="1"/>
            <a:r>
              <a:rPr lang="es-CO" dirty="0">
                <a:latin typeface="Consolas" panose="020B0609020204030204" pitchFamily="49" charset="0"/>
              </a:rPr>
              <a:t>con = sqlite3.connect('</a:t>
            </a:r>
            <a:r>
              <a:rPr lang="es-CO" dirty="0" err="1">
                <a:latin typeface="Consolas" panose="020B0609020204030204" pitchFamily="49" charset="0"/>
              </a:rPr>
              <a:t>ventas.sqlite</a:t>
            </a:r>
            <a:r>
              <a:rPr lang="es-CO" dirty="0">
                <a:latin typeface="Consolas" panose="020B0609020204030204" pitchFamily="49" charset="0"/>
              </a:rPr>
              <a:t>’)</a:t>
            </a:r>
          </a:p>
          <a:p>
            <a:pPr lvl="1"/>
            <a:r>
              <a:rPr lang="es-CO" dirty="0" err="1">
                <a:latin typeface="Consolas" panose="020B0609020204030204" pitchFamily="49" charset="0"/>
              </a:rPr>
              <a:t>df</a:t>
            </a:r>
            <a:r>
              <a:rPr lang="es-CO" dirty="0">
                <a:latin typeface="Consolas" panose="020B0609020204030204" pitchFamily="49" charset="0"/>
              </a:rPr>
              <a:t> = </a:t>
            </a:r>
            <a:r>
              <a:rPr lang="es-CO" dirty="0" err="1">
                <a:latin typeface="Consolas" panose="020B0609020204030204" pitchFamily="49" charset="0"/>
              </a:rPr>
              <a:t>pd.read_sql</a:t>
            </a:r>
            <a:r>
              <a:rPr lang="es-CO" dirty="0">
                <a:latin typeface="Consolas" panose="020B0609020204030204" pitchFamily="49" charset="0"/>
              </a:rPr>
              <a:t>('SELECT * FROM clientes', con)</a:t>
            </a:r>
          </a:p>
          <a:p>
            <a:pPr lvl="1"/>
            <a:endParaRPr lang="es-CO" dirty="0">
              <a:latin typeface="Consolas" panose="020B0609020204030204" pitchFamily="49" charset="0"/>
            </a:endParaRPr>
          </a:p>
          <a:p>
            <a:r>
              <a:rPr lang="es-CO" dirty="0"/>
              <a:t>Variables de entorno para credenciales; uso de .</a:t>
            </a:r>
            <a:r>
              <a:rPr lang="es-CO" dirty="0" err="1"/>
              <a:t>env</a:t>
            </a:r>
            <a:r>
              <a:rPr lang="es-CO" dirty="0"/>
              <a:t> y </a:t>
            </a:r>
            <a:r>
              <a:rPr lang="es-CO" dirty="0" err="1"/>
              <a:t>dotenv</a:t>
            </a:r>
            <a:r>
              <a:rPr lang="es-CO" dirty="0"/>
              <a:t>.</a:t>
            </a:r>
          </a:p>
        </p:txBody>
      </p:sp>
    </p:spTree>
    <p:extLst>
      <p:ext uri="{BB962C8B-B14F-4D97-AF65-F5344CB8AC3E}">
        <p14:creationId xmlns:p14="http://schemas.microsoft.com/office/powerpoint/2010/main" val="2205914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F8957D-0383-38C8-E63F-107FD12A60AE}"/>
              </a:ext>
            </a:extLst>
          </p:cNvPr>
          <p:cNvSpPr>
            <a:spLocks noGrp="1"/>
          </p:cNvSpPr>
          <p:nvPr>
            <p:ph type="title"/>
          </p:nvPr>
        </p:nvSpPr>
        <p:spPr/>
        <p:txBody>
          <a:bodyPr/>
          <a:lstStyle/>
          <a:p>
            <a:r>
              <a:rPr lang="es-MX" b="1" dirty="0"/>
              <a:t>Exploración GUI con </a:t>
            </a:r>
            <a:r>
              <a:rPr lang="es-MX" b="1" dirty="0" err="1"/>
              <a:t>HeidiSQL</a:t>
            </a:r>
            <a:endParaRPr lang="es-CO" dirty="0"/>
          </a:p>
        </p:txBody>
      </p:sp>
      <p:sp>
        <p:nvSpPr>
          <p:cNvPr id="3" name="Marcador de contenido 2">
            <a:extLst>
              <a:ext uri="{FF2B5EF4-FFF2-40B4-BE49-F238E27FC236}">
                <a16:creationId xmlns:a16="http://schemas.microsoft.com/office/drawing/2014/main" id="{B8B769BA-F8FD-F0D0-F230-F54AE8B58F7E}"/>
              </a:ext>
            </a:extLst>
          </p:cNvPr>
          <p:cNvSpPr>
            <a:spLocks noGrp="1"/>
          </p:cNvSpPr>
          <p:nvPr>
            <p:ph sz="half" idx="1"/>
          </p:nvPr>
        </p:nvSpPr>
        <p:spPr/>
        <p:txBody>
          <a:bodyPr anchor="ctr"/>
          <a:lstStyle/>
          <a:p>
            <a:r>
              <a:rPr lang="es-MX" dirty="0"/>
              <a:t>Conexión a MySQL/</a:t>
            </a:r>
            <a:r>
              <a:rPr lang="es-MX" dirty="0" err="1"/>
              <a:t>MariaDB</a:t>
            </a:r>
            <a:r>
              <a:rPr lang="es-MX" dirty="0"/>
              <a:t>/PostgreSQL/SQLite.</a:t>
            </a:r>
          </a:p>
          <a:p>
            <a:r>
              <a:rPr lang="es-MX" dirty="0"/>
              <a:t>Ventajas:</a:t>
            </a:r>
          </a:p>
          <a:p>
            <a:pPr lvl="1"/>
            <a:r>
              <a:rPr lang="es-MX" dirty="0"/>
              <a:t>Vista rápida de esquemas y relaciones.</a:t>
            </a:r>
          </a:p>
          <a:p>
            <a:pPr lvl="1"/>
            <a:r>
              <a:rPr lang="es-MX" dirty="0"/>
              <a:t>Editor de consultas con historial.</a:t>
            </a:r>
          </a:p>
          <a:p>
            <a:pPr lvl="1"/>
            <a:r>
              <a:rPr lang="es-MX" dirty="0"/>
              <a:t>Exportación a CSV/SQL para prácticas.</a:t>
            </a:r>
          </a:p>
        </p:txBody>
      </p:sp>
      <p:pic>
        <p:nvPicPr>
          <p:cNvPr id="12290" name="Picture 2" descr="Extraer, transformar, cargar: la magia detrás de HeidiSQL">
            <a:extLst>
              <a:ext uri="{FF2B5EF4-FFF2-40B4-BE49-F238E27FC236}">
                <a16:creationId xmlns:a16="http://schemas.microsoft.com/office/drawing/2014/main" id="{6136412A-5CF2-F697-2D41-B97C93BFBCA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399908"/>
            <a:ext cx="5181600" cy="320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403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DA9FEF-4C0F-9D9A-401B-9CB9898968DC}"/>
              </a:ext>
            </a:extLst>
          </p:cNvPr>
          <p:cNvSpPr>
            <a:spLocks noGrp="1"/>
          </p:cNvSpPr>
          <p:nvPr>
            <p:ph type="title"/>
          </p:nvPr>
        </p:nvSpPr>
        <p:spPr/>
        <p:txBody>
          <a:bodyPr/>
          <a:lstStyle/>
          <a:p>
            <a:r>
              <a:rPr lang="es-MX" dirty="0"/>
              <a:t>Instalación de </a:t>
            </a:r>
            <a:r>
              <a:rPr lang="es-MX" dirty="0" err="1"/>
              <a:t>MariaDB</a:t>
            </a:r>
            <a:r>
              <a:rPr lang="es-MX" dirty="0"/>
              <a:t> y </a:t>
            </a:r>
            <a:r>
              <a:rPr lang="es-MX" dirty="0" err="1"/>
              <a:t>HeidiSQL</a:t>
            </a:r>
            <a:endParaRPr lang="es-CO" dirty="0"/>
          </a:p>
        </p:txBody>
      </p:sp>
      <p:sp>
        <p:nvSpPr>
          <p:cNvPr id="3" name="Marcador de contenido 2">
            <a:extLst>
              <a:ext uri="{FF2B5EF4-FFF2-40B4-BE49-F238E27FC236}">
                <a16:creationId xmlns:a16="http://schemas.microsoft.com/office/drawing/2014/main" id="{494AE865-A057-E064-2AB6-9BC7A044C6B6}"/>
              </a:ext>
            </a:extLst>
          </p:cNvPr>
          <p:cNvSpPr>
            <a:spLocks noGrp="1"/>
          </p:cNvSpPr>
          <p:nvPr>
            <p:ph idx="1"/>
          </p:nvPr>
        </p:nvSpPr>
        <p:spPr/>
        <p:txBody>
          <a:bodyPr anchor="ctr"/>
          <a:lstStyle/>
          <a:p>
            <a:r>
              <a:rPr lang="es-MX" dirty="0"/>
              <a:t>En el </a:t>
            </a:r>
            <a:r>
              <a:rPr lang="es-MX" dirty="0" err="1"/>
              <a:t>classroom</a:t>
            </a:r>
            <a:r>
              <a:rPr lang="es-MX" dirty="0"/>
              <a:t> se ha subido el material con la guía de instalación, vamos a realizarlo paso a paso.</a:t>
            </a:r>
            <a:endParaRPr lang="es-CO" dirty="0"/>
          </a:p>
        </p:txBody>
      </p:sp>
    </p:spTree>
    <p:extLst>
      <p:ext uri="{BB962C8B-B14F-4D97-AF65-F5344CB8AC3E}">
        <p14:creationId xmlns:p14="http://schemas.microsoft.com/office/powerpoint/2010/main" val="2446274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192EC7-7CA7-759B-6C6B-33AC3FBE0DF6}"/>
              </a:ext>
            </a:extLst>
          </p:cNvPr>
          <p:cNvSpPr>
            <a:spLocks noGrp="1"/>
          </p:cNvSpPr>
          <p:nvPr>
            <p:ph type="title"/>
          </p:nvPr>
        </p:nvSpPr>
        <p:spPr/>
        <p:txBody>
          <a:bodyPr/>
          <a:lstStyle/>
          <a:p>
            <a:r>
              <a:rPr lang="es-CO" dirty="0"/>
              <a:t>De la consulta a </a:t>
            </a:r>
            <a:r>
              <a:rPr lang="es-CO" b="1" i="1" dirty="0"/>
              <a:t>pandas</a:t>
            </a:r>
          </a:p>
        </p:txBody>
      </p:sp>
      <p:graphicFrame>
        <p:nvGraphicFramePr>
          <p:cNvPr id="4" name="Marcador de contenido 3">
            <a:extLst>
              <a:ext uri="{FF2B5EF4-FFF2-40B4-BE49-F238E27FC236}">
                <a16:creationId xmlns:a16="http://schemas.microsoft.com/office/drawing/2014/main" id="{86966F25-6F2B-0AC4-8507-742CF1343ED4}"/>
              </a:ext>
            </a:extLst>
          </p:cNvPr>
          <p:cNvGraphicFramePr>
            <a:graphicFrameLocks noGrp="1"/>
          </p:cNvGraphicFramePr>
          <p:nvPr>
            <p:ph idx="1"/>
            <p:extLst>
              <p:ext uri="{D42A27DB-BD31-4B8C-83A1-F6EECF244321}">
                <p14:modId xmlns:p14="http://schemas.microsoft.com/office/powerpoint/2010/main" val="1098963923"/>
              </p:ext>
            </p:extLst>
          </p:nvPr>
        </p:nvGraphicFramePr>
        <p:xfrm>
          <a:off x="838200" y="3269774"/>
          <a:ext cx="10515600" cy="1463040"/>
        </p:xfrm>
        <a:graphic>
          <a:graphicData uri="http://schemas.openxmlformats.org/drawingml/2006/table">
            <a:tbl>
              <a:tblPr firstRow="1" bandRow="1">
                <a:tableStyleId>{9D7B26C5-4107-4FEC-AEDC-1716B250A1EF}</a:tableStyleId>
              </a:tblPr>
              <a:tblGrid>
                <a:gridCol w="3505200">
                  <a:extLst>
                    <a:ext uri="{9D8B030D-6E8A-4147-A177-3AD203B41FA5}">
                      <a16:colId xmlns:a16="http://schemas.microsoft.com/office/drawing/2014/main" val="912355918"/>
                    </a:ext>
                  </a:extLst>
                </a:gridCol>
                <a:gridCol w="3505200">
                  <a:extLst>
                    <a:ext uri="{9D8B030D-6E8A-4147-A177-3AD203B41FA5}">
                      <a16:colId xmlns:a16="http://schemas.microsoft.com/office/drawing/2014/main" val="3035772596"/>
                    </a:ext>
                  </a:extLst>
                </a:gridCol>
                <a:gridCol w="3505200">
                  <a:extLst>
                    <a:ext uri="{9D8B030D-6E8A-4147-A177-3AD203B41FA5}">
                      <a16:colId xmlns:a16="http://schemas.microsoft.com/office/drawing/2014/main" val="3078566794"/>
                    </a:ext>
                  </a:extLst>
                </a:gridCol>
              </a:tblGrid>
              <a:tr h="0">
                <a:tc>
                  <a:txBody>
                    <a:bodyPr/>
                    <a:lstStyle/>
                    <a:p>
                      <a:r>
                        <a:rPr lang="es-CO" dirty="0">
                          <a:latin typeface="Verdana" panose="020B0604030504040204" pitchFamily="34" charset="0"/>
                          <a:ea typeface="Verdana" panose="020B0604030504040204" pitchFamily="34" charset="0"/>
                        </a:rPr>
                        <a:t>Paso</a:t>
                      </a:r>
                    </a:p>
                  </a:txBody>
                  <a:tcPr anchor="ctr"/>
                </a:tc>
                <a:tc>
                  <a:txBody>
                    <a:bodyPr/>
                    <a:lstStyle/>
                    <a:p>
                      <a:r>
                        <a:rPr lang="es-CO">
                          <a:latin typeface="Verdana" panose="020B0604030504040204" pitchFamily="34" charset="0"/>
                          <a:ea typeface="Verdana" panose="020B0604030504040204" pitchFamily="34" charset="0"/>
                        </a:rPr>
                        <a:t>Python puro</a:t>
                      </a:r>
                    </a:p>
                  </a:txBody>
                  <a:tcPr anchor="ctr"/>
                </a:tc>
                <a:tc>
                  <a:txBody>
                    <a:bodyPr/>
                    <a:lstStyle/>
                    <a:p>
                      <a:r>
                        <a:rPr lang="es-CO">
                          <a:latin typeface="Verdana" panose="020B0604030504040204" pitchFamily="34" charset="0"/>
                          <a:ea typeface="Verdana" panose="020B0604030504040204" pitchFamily="34" charset="0"/>
                        </a:rPr>
                        <a:t>SQLAlchemy (engine)</a:t>
                      </a:r>
                    </a:p>
                  </a:txBody>
                  <a:tcPr anchor="ctr"/>
                </a:tc>
                <a:extLst>
                  <a:ext uri="{0D108BD9-81ED-4DB2-BD59-A6C34878D82A}">
                    <a16:rowId xmlns:a16="http://schemas.microsoft.com/office/drawing/2014/main" val="1324868612"/>
                  </a:ext>
                </a:extLst>
              </a:tr>
              <a:tr h="0">
                <a:tc>
                  <a:txBody>
                    <a:bodyPr/>
                    <a:lstStyle/>
                    <a:p>
                      <a:r>
                        <a:rPr lang="es-CO">
                          <a:latin typeface="Verdana" panose="020B0604030504040204" pitchFamily="34" charset="0"/>
                          <a:ea typeface="Verdana" panose="020B0604030504040204" pitchFamily="34" charset="0"/>
                        </a:rPr>
                        <a:t>Crear conexión</a:t>
                      </a:r>
                    </a:p>
                  </a:txBody>
                  <a:tcPr anchor="ctr"/>
                </a:tc>
                <a:tc>
                  <a:txBody>
                    <a:bodyPr/>
                    <a:lstStyle/>
                    <a:p>
                      <a:r>
                        <a:rPr lang="es-CO">
                          <a:latin typeface="Verdana" panose="020B0604030504040204" pitchFamily="34" charset="0"/>
                          <a:ea typeface="Verdana" panose="020B0604030504040204" pitchFamily="34" charset="0"/>
                        </a:rPr>
                        <a:t>sqlite3.connect()</a:t>
                      </a:r>
                    </a:p>
                  </a:txBody>
                  <a:tcPr anchor="ctr"/>
                </a:tc>
                <a:tc>
                  <a:txBody>
                    <a:bodyPr/>
                    <a:lstStyle/>
                    <a:p>
                      <a:r>
                        <a:rPr lang="es-CO">
                          <a:latin typeface="Verdana" panose="020B0604030504040204" pitchFamily="34" charset="0"/>
                          <a:ea typeface="Verdana" panose="020B0604030504040204" pitchFamily="34" charset="0"/>
                        </a:rPr>
                        <a:t>create_engine()</a:t>
                      </a:r>
                    </a:p>
                  </a:txBody>
                  <a:tcPr anchor="ctr"/>
                </a:tc>
                <a:extLst>
                  <a:ext uri="{0D108BD9-81ED-4DB2-BD59-A6C34878D82A}">
                    <a16:rowId xmlns:a16="http://schemas.microsoft.com/office/drawing/2014/main" val="1151204682"/>
                  </a:ext>
                </a:extLst>
              </a:tr>
              <a:tr h="0">
                <a:tc>
                  <a:txBody>
                    <a:bodyPr/>
                    <a:lstStyle/>
                    <a:p>
                      <a:r>
                        <a:rPr lang="es-CO">
                          <a:latin typeface="Verdana" panose="020B0604030504040204" pitchFamily="34" charset="0"/>
                          <a:ea typeface="Verdana" panose="020B0604030504040204" pitchFamily="34" charset="0"/>
                        </a:rPr>
                        <a:t>Ejecutar query</a:t>
                      </a:r>
                    </a:p>
                  </a:txBody>
                  <a:tcPr anchor="ctr"/>
                </a:tc>
                <a:tc>
                  <a:txBody>
                    <a:bodyPr/>
                    <a:lstStyle/>
                    <a:p>
                      <a:r>
                        <a:rPr lang="es-CO">
                          <a:latin typeface="Verdana" panose="020B0604030504040204" pitchFamily="34" charset="0"/>
                          <a:ea typeface="Verdana" panose="020B0604030504040204" pitchFamily="34" charset="0"/>
                        </a:rPr>
                        <a:t>cursor.execute() → fetchall()</a:t>
                      </a:r>
                    </a:p>
                  </a:txBody>
                  <a:tcPr anchor="ctr"/>
                </a:tc>
                <a:tc>
                  <a:txBody>
                    <a:bodyPr/>
                    <a:lstStyle/>
                    <a:p>
                      <a:r>
                        <a:rPr lang="es-CO" dirty="0" err="1">
                          <a:latin typeface="Verdana" panose="020B0604030504040204" pitchFamily="34" charset="0"/>
                          <a:ea typeface="Verdana" panose="020B0604030504040204" pitchFamily="34" charset="0"/>
                        </a:rPr>
                        <a:t>pd.read_sql</a:t>
                      </a:r>
                      <a:r>
                        <a:rPr lang="es-CO"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463297653"/>
                  </a:ext>
                </a:extLst>
              </a:tr>
              <a:tr h="0">
                <a:tc>
                  <a:txBody>
                    <a:bodyPr/>
                    <a:lstStyle/>
                    <a:p>
                      <a:r>
                        <a:rPr lang="es-CO">
                          <a:latin typeface="Verdana" panose="020B0604030504040204" pitchFamily="34" charset="0"/>
                          <a:ea typeface="Verdana" panose="020B0604030504040204" pitchFamily="34" charset="0"/>
                        </a:rPr>
                        <a:t>Cerrar</a:t>
                      </a:r>
                    </a:p>
                  </a:txBody>
                  <a:tcPr anchor="ctr"/>
                </a:tc>
                <a:tc>
                  <a:txBody>
                    <a:bodyPr/>
                    <a:lstStyle/>
                    <a:p>
                      <a:r>
                        <a:rPr lang="es-CO" dirty="0" err="1">
                          <a:latin typeface="Verdana" panose="020B0604030504040204" pitchFamily="34" charset="0"/>
                          <a:ea typeface="Verdana" panose="020B0604030504040204" pitchFamily="34" charset="0"/>
                        </a:rPr>
                        <a:t>con.close</a:t>
                      </a:r>
                      <a:r>
                        <a:rPr lang="es-CO" dirty="0">
                          <a:latin typeface="Verdana" panose="020B0604030504040204" pitchFamily="34" charset="0"/>
                          <a:ea typeface="Verdana" panose="020B0604030504040204" pitchFamily="34" charset="0"/>
                        </a:rPr>
                        <a:t>()</a:t>
                      </a:r>
                    </a:p>
                  </a:txBody>
                  <a:tcPr anchor="ctr"/>
                </a:tc>
                <a:tc>
                  <a:txBody>
                    <a:bodyPr/>
                    <a:lstStyle/>
                    <a:p>
                      <a:r>
                        <a:rPr lang="es-CO" dirty="0" err="1">
                          <a:latin typeface="Verdana" panose="020B0604030504040204" pitchFamily="34" charset="0"/>
                          <a:ea typeface="Verdana" panose="020B0604030504040204" pitchFamily="34" charset="0"/>
                        </a:rPr>
                        <a:t>engine.dispose</a:t>
                      </a:r>
                      <a:r>
                        <a:rPr lang="es-CO"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2643809468"/>
                  </a:ext>
                </a:extLst>
              </a:tr>
            </a:tbl>
          </a:graphicData>
        </a:graphic>
      </p:graphicFrame>
    </p:spTree>
    <p:extLst>
      <p:ext uri="{BB962C8B-B14F-4D97-AF65-F5344CB8AC3E}">
        <p14:creationId xmlns:p14="http://schemas.microsoft.com/office/powerpoint/2010/main" val="1249838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0DDD8C-534E-9A62-3EBC-DC8161AEF50D}"/>
              </a:ext>
            </a:extLst>
          </p:cNvPr>
          <p:cNvSpPr>
            <a:spLocks noGrp="1"/>
          </p:cNvSpPr>
          <p:nvPr>
            <p:ph type="title"/>
          </p:nvPr>
        </p:nvSpPr>
        <p:spPr/>
        <p:txBody>
          <a:bodyPr/>
          <a:lstStyle/>
          <a:p>
            <a:r>
              <a:rPr lang="es-CO" b="1" dirty="0">
                <a:solidFill>
                  <a:srgbClr val="0D0D0D"/>
                </a:solidFill>
              </a:rPr>
              <a:t>SELECT: qué columnas traer</a:t>
            </a:r>
            <a:endParaRPr lang="es-CO" dirty="0"/>
          </a:p>
        </p:txBody>
      </p:sp>
      <p:sp>
        <p:nvSpPr>
          <p:cNvPr id="3" name="Marcador de contenido 2">
            <a:extLst>
              <a:ext uri="{FF2B5EF4-FFF2-40B4-BE49-F238E27FC236}">
                <a16:creationId xmlns:a16="http://schemas.microsoft.com/office/drawing/2014/main" id="{84160291-6C16-69A9-53EA-A4E771237B15}"/>
              </a:ext>
            </a:extLst>
          </p:cNvPr>
          <p:cNvSpPr>
            <a:spLocks noGrp="1"/>
          </p:cNvSpPr>
          <p:nvPr>
            <p:ph idx="1"/>
          </p:nvPr>
        </p:nvSpPr>
        <p:spPr/>
        <p:txBody>
          <a:bodyPr/>
          <a:lstStyle/>
          <a:p>
            <a:r>
              <a:rPr lang="es-CO" dirty="0"/>
              <a:t>Elige atributos o expresiones a devolver.</a:t>
            </a:r>
          </a:p>
          <a:p>
            <a:r>
              <a:rPr lang="es-CO" dirty="0"/>
              <a:t>Sintaxis:</a:t>
            </a:r>
          </a:p>
          <a:p>
            <a:pPr marL="457200" lvl="1" indent="0">
              <a:buNone/>
            </a:pPr>
            <a:r>
              <a:rPr lang="en-US" dirty="0">
                <a:solidFill>
                  <a:srgbClr val="7030A0"/>
                </a:solidFill>
                <a:latin typeface="Consolas" panose="020B0609020204030204" pitchFamily="49" charset="0"/>
              </a:rPr>
              <a:t>SELECT</a:t>
            </a:r>
            <a:r>
              <a:rPr lang="en-US" dirty="0">
                <a:latin typeface="Consolas" panose="020B0609020204030204" pitchFamily="49" charset="0"/>
              </a:rPr>
              <a:t> [</a:t>
            </a:r>
            <a:r>
              <a:rPr lang="en-US" dirty="0">
                <a:solidFill>
                  <a:srgbClr val="7030A0"/>
                </a:solidFill>
                <a:latin typeface="Consolas" panose="020B0609020204030204" pitchFamily="49" charset="0"/>
              </a:rPr>
              <a:t>DISTINCT</a:t>
            </a:r>
            <a:r>
              <a:rPr lang="en-US" dirty="0">
                <a:latin typeface="Consolas" panose="020B0609020204030204" pitchFamily="49" charset="0"/>
              </a:rPr>
              <a:t>] col1 </a:t>
            </a:r>
            <a:r>
              <a:rPr lang="en-US" dirty="0">
                <a:solidFill>
                  <a:srgbClr val="7030A0"/>
                </a:solidFill>
                <a:latin typeface="Consolas" panose="020B0609020204030204" pitchFamily="49" charset="0"/>
              </a:rPr>
              <a:t>AS</a:t>
            </a:r>
            <a:r>
              <a:rPr lang="en-US" dirty="0">
                <a:latin typeface="Consolas" panose="020B0609020204030204" pitchFamily="49" charset="0"/>
              </a:rPr>
              <a:t> alias, </a:t>
            </a:r>
            <a:r>
              <a:rPr lang="en-US" dirty="0" err="1">
                <a:latin typeface="Consolas" panose="020B0609020204030204" pitchFamily="49" charset="0"/>
              </a:rPr>
              <a:t>func</a:t>
            </a:r>
            <a:r>
              <a:rPr lang="en-US" dirty="0">
                <a:latin typeface="Consolas" panose="020B0609020204030204" pitchFamily="49" charset="0"/>
              </a:rPr>
              <a:t>(col2)</a:t>
            </a:r>
          </a:p>
          <a:p>
            <a:pPr marL="457200" lvl="1" indent="0">
              <a:buNone/>
            </a:pPr>
            <a:r>
              <a:rPr lang="en-US" dirty="0">
                <a:solidFill>
                  <a:srgbClr val="7030A0"/>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tabla</a:t>
            </a:r>
            <a:r>
              <a:rPr lang="en-US" dirty="0">
                <a:latin typeface="Consolas" panose="020B0609020204030204" pitchFamily="49" charset="0"/>
              </a:rPr>
              <a:t>;</a:t>
            </a:r>
          </a:p>
          <a:p>
            <a:r>
              <a:rPr lang="es-CO" dirty="0"/>
              <a:t>Buenas prácticas: evitar SELECT *, documentar alias significativos.</a:t>
            </a:r>
          </a:p>
          <a:p>
            <a:r>
              <a:rPr lang="es-CO" dirty="0"/>
              <a:t>Python:</a:t>
            </a:r>
          </a:p>
          <a:p>
            <a:pPr marL="457200" lvl="1" indent="0">
              <a:buNone/>
            </a:pPr>
            <a:r>
              <a:rPr lang="es-CO" sz="1800" dirty="0" err="1">
                <a:latin typeface="Consolas" panose="020B0609020204030204" pitchFamily="49" charset="0"/>
              </a:rPr>
              <a:t>pd.read_sql</a:t>
            </a:r>
            <a:r>
              <a:rPr lang="es-CO" sz="1800" dirty="0">
                <a:latin typeface="Consolas" panose="020B0609020204030204" pitchFamily="49" charset="0"/>
              </a:rPr>
              <a:t>('</a:t>
            </a:r>
            <a:r>
              <a:rPr lang="es-CO" sz="1800" dirty="0">
                <a:solidFill>
                  <a:schemeClr val="accent6">
                    <a:lumMod val="75000"/>
                  </a:schemeClr>
                </a:solidFill>
                <a:latin typeface="Consolas" panose="020B0609020204030204" pitchFamily="49" charset="0"/>
              </a:rPr>
              <a:t>SELECT nombre, ROUND(venta,2) AS total FROM clientes</a:t>
            </a:r>
            <a:r>
              <a:rPr lang="es-CO" sz="1800" dirty="0">
                <a:latin typeface="Consolas" panose="020B0609020204030204" pitchFamily="49" charset="0"/>
              </a:rPr>
              <a:t>', con)</a:t>
            </a:r>
          </a:p>
          <a:p>
            <a:pPr marL="457200" lvl="1" indent="0">
              <a:buNone/>
            </a:pPr>
            <a:endParaRPr lang="es-CO" dirty="0"/>
          </a:p>
        </p:txBody>
      </p:sp>
    </p:spTree>
    <p:extLst>
      <p:ext uri="{BB962C8B-B14F-4D97-AF65-F5344CB8AC3E}">
        <p14:creationId xmlns:p14="http://schemas.microsoft.com/office/powerpoint/2010/main" val="2741817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852E8-E0BC-EC89-1BFD-1B84A1C9590F}"/>
              </a:ext>
            </a:extLst>
          </p:cNvPr>
          <p:cNvSpPr>
            <a:spLocks noGrp="1"/>
          </p:cNvSpPr>
          <p:nvPr>
            <p:ph type="title"/>
          </p:nvPr>
        </p:nvSpPr>
        <p:spPr/>
        <p:txBody>
          <a:bodyPr/>
          <a:lstStyle/>
          <a:p>
            <a:r>
              <a:rPr lang="es-CO" b="1" dirty="0">
                <a:solidFill>
                  <a:srgbClr val="0D0D0D"/>
                </a:solidFill>
              </a:rPr>
              <a:t>WHERE: filtrar filas</a:t>
            </a:r>
            <a:endParaRPr lang="es-CO" dirty="0"/>
          </a:p>
        </p:txBody>
      </p:sp>
      <p:sp>
        <p:nvSpPr>
          <p:cNvPr id="3" name="Marcador de contenido 2">
            <a:extLst>
              <a:ext uri="{FF2B5EF4-FFF2-40B4-BE49-F238E27FC236}">
                <a16:creationId xmlns:a16="http://schemas.microsoft.com/office/drawing/2014/main" id="{074A097D-008D-4CC4-7B47-E15DAD648B2E}"/>
              </a:ext>
            </a:extLst>
          </p:cNvPr>
          <p:cNvSpPr>
            <a:spLocks noGrp="1"/>
          </p:cNvSpPr>
          <p:nvPr>
            <p:ph idx="1"/>
          </p:nvPr>
        </p:nvSpPr>
        <p:spPr/>
        <p:txBody>
          <a:bodyPr/>
          <a:lstStyle/>
          <a:p>
            <a:pPr>
              <a:spcAft>
                <a:spcPts val="1200"/>
              </a:spcAft>
            </a:pPr>
            <a:r>
              <a:rPr lang="es-CO" dirty="0">
                <a:solidFill>
                  <a:srgbClr val="0D0D0D"/>
                </a:solidFill>
              </a:rPr>
              <a:t>Aplica predicados antes de agrupar.</a:t>
            </a:r>
          </a:p>
          <a:p>
            <a:pPr>
              <a:spcAft>
                <a:spcPts val="1200"/>
              </a:spcAft>
            </a:pPr>
            <a:r>
              <a:rPr lang="es-CO" dirty="0">
                <a:solidFill>
                  <a:srgbClr val="0D0D0D"/>
                </a:solidFill>
              </a:rPr>
              <a:t>Operadores: =, &lt;&gt;, &lt;, &gt;, BETWEEN, LIKE, IN, IS NULL.</a:t>
            </a:r>
          </a:p>
          <a:p>
            <a:pPr>
              <a:spcAft>
                <a:spcPts val="1200"/>
              </a:spcAft>
            </a:pPr>
            <a:r>
              <a:rPr lang="es-CO" dirty="0">
                <a:solidFill>
                  <a:srgbClr val="0D0D0D"/>
                </a:solidFill>
              </a:rPr>
              <a:t>Usa paréntesis para precedencia lógica AND/OR.</a:t>
            </a:r>
          </a:p>
          <a:p>
            <a:pPr>
              <a:spcAft>
                <a:spcPts val="1200"/>
              </a:spcAft>
            </a:pPr>
            <a:r>
              <a:rPr lang="es-CO" b="1" dirty="0">
                <a:solidFill>
                  <a:srgbClr val="0D0D0D"/>
                </a:solidFill>
              </a:rPr>
              <a:t>Ejemplo</a:t>
            </a:r>
          </a:p>
          <a:p>
            <a:pPr lvl="1">
              <a:spcAft>
                <a:spcPts val="1200"/>
              </a:spcAft>
            </a:pPr>
            <a:r>
              <a:rPr lang="es-CO" dirty="0">
                <a:solidFill>
                  <a:srgbClr val="7030A0"/>
                </a:solidFill>
                <a:latin typeface="Consolas" panose="020B0609020204030204" pitchFamily="49" charset="0"/>
              </a:rPr>
              <a:t>WHERE</a:t>
            </a:r>
            <a:r>
              <a:rPr lang="es-CO" dirty="0">
                <a:solidFill>
                  <a:srgbClr val="0D0D0D"/>
                </a:solidFill>
                <a:latin typeface="Consolas" panose="020B0609020204030204" pitchFamily="49" charset="0"/>
              </a:rPr>
              <a:t> ciudad='</a:t>
            </a:r>
            <a:r>
              <a:rPr lang="es-CO" dirty="0">
                <a:solidFill>
                  <a:schemeClr val="accent6">
                    <a:lumMod val="75000"/>
                  </a:schemeClr>
                </a:solidFill>
                <a:latin typeface="Consolas" panose="020B0609020204030204" pitchFamily="49" charset="0"/>
              </a:rPr>
              <a:t>Pereira</a:t>
            </a:r>
            <a:r>
              <a:rPr lang="es-CO" dirty="0">
                <a:solidFill>
                  <a:srgbClr val="0D0D0D"/>
                </a:solidFill>
                <a:latin typeface="Consolas" panose="020B0609020204030204" pitchFamily="49" charset="0"/>
              </a:rPr>
              <a:t>' </a:t>
            </a:r>
            <a:r>
              <a:rPr lang="es-CO" dirty="0">
                <a:solidFill>
                  <a:srgbClr val="7030A0"/>
                </a:solidFill>
                <a:latin typeface="Consolas" panose="020B0609020204030204" pitchFamily="49" charset="0"/>
              </a:rPr>
              <a:t>AND</a:t>
            </a:r>
            <a:r>
              <a:rPr lang="es-CO" dirty="0">
                <a:solidFill>
                  <a:srgbClr val="0D0D0D"/>
                </a:solidFill>
                <a:latin typeface="Consolas" panose="020B0609020204030204" pitchFamily="49" charset="0"/>
              </a:rPr>
              <a:t> </a:t>
            </a:r>
            <a:r>
              <a:rPr lang="es-CO" dirty="0" err="1">
                <a:solidFill>
                  <a:srgbClr val="0D0D0D"/>
                </a:solidFill>
                <a:latin typeface="Consolas" panose="020B0609020204030204" pitchFamily="49" charset="0"/>
              </a:rPr>
              <a:t>total_compra</a:t>
            </a:r>
            <a:r>
              <a:rPr lang="es-CO" dirty="0">
                <a:solidFill>
                  <a:srgbClr val="0D0D0D"/>
                </a:solidFill>
                <a:latin typeface="Consolas" panose="020B0609020204030204" pitchFamily="49" charset="0"/>
              </a:rPr>
              <a:t> &gt; 1000;</a:t>
            </a:r>
          </a:p>
          <a:p>
            <a:pPr lvl="1">
              <a:spcAft>
                <a:spcPts val="1200"/>
              </a:spcAft>
            </a:pPr>
            <a:endParaRPr lang="es-CO" dirty="0">
              <a:solidFill>
                <a:srgbClr val="0D0D0D"/>
              </a:solidFill>
              <a:latin typeface="ui-sans-serif"/>
            </a:endParaRPr>
          </a:p>
          <a:p>
            <a:endParaRPr lang="es-CO" dirty="0"/>
          </a:p>
        </p:txBody>
      </p:sp>
    </p:spTree>
    <p:extLst>
      <p:ext uri="{BB962C8B-B14F-4D97-AF65-F5344CB8AC3E}">
        <p14:creationId xmlns:p14="http://schemas.microsoft.com/office/powerpoint/2010/main" val="2120059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73E66B-29D5-A3CB-3A66-3B1400C5F605}"/>
              </a:ext>
            </a:extLst>
          </p:cNvPr>
          <p:cNvSpPr>
            <a:spLocks noGrp="1"/>
          </p:cNvSpPr>
          <p:nvPr>
            <p:ph type="title"/>
          </p:nvPr>
        </p:nvSpPr>
        <p:spPr/>
        <p:txBody>
          <a:bodyPr/>
          <a:lstStyle/>
          <a:p>
            <a:r>
              <a:rPr lang="es-CO" b="1" dirty="0">
                <a:solidFill>
                  <a:srgbClr val="0D0D0D"/>
                </a:solidFill>
              </a:rPr>
              <a:t>WHERE: filtrar filas</a:t>
            </a:r>
            <a:endParaRPr lang="es-CO" dirty="0"/>
          </a:p>
        </p:txBody>
      </p:sp>
      <p:graphicFrame>
        <p:nvGraphicFramePr>
          <p:cNvPr id="5" name="Marcador de contenido 4">
            <a:extLst>
              <a:ext uri="{FF2B5EF4-FFF2-40B4-BE49-F238E27FC236}">
                <a16:creationId xmlns:a16="http://schemas.microsoft.com/office/drawing/2014/main" id="{326B7B25-BF53-00B8-1CFC-02FCF4F7C3E9}"/>
              </a:ext>
            </a:extLst>
          </p:cNvPr>
          <p:cNvGraphicFramePr>
            <a:graphicFrameLocks noGrp="1"/>
          </p:cNvGraphicFramePr>
          <p:nvPr>
            <p:ph idx="1"/>
            <p:extLst>
              <p:ext uri="{D42A27DB-BD31-4B8C-83A1-F6EECF244321}">
                <p14:modId xmlns:p14="http://schemas.microsoft.com/office/powerpoint/2010/main" val="1074098714"/>
              </p:ext>
            </p:extLst>
          </p:nvPr>
        </p:nvGraphicFramePr>
        <p:xfrm>
          <a:off x="838200" y="1925864"/>
          <a:ext cx="10515600" cy="4305254"/>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val="2434373838"/>
                    </a:ext>
                  </a:extLst>
                </a:gridCol>
                <a:gridCol w="2628900">
                  <a:extLst>
                    <a:ext uri="{9D8B030D-6E8A-4147-A177-3AD203B41FA5}">
                      <a16:colId xmlns:a16="http://schemas.microsoft.com/office/drawing/2014/main" val="894889565"/>
                    </a:ext>
                  </a:extLst>
                </a:gridCol>
                <a:gridCol w="2628900">
                  <a:extLst>
                    <a:ext uri="{9D8B030D-6E8A-4147-A177-3AD203B41FA5}">
                      <a16:colId xmlns:a16="http://schemas.microsoft.com/office/drawing/2014/main" val="4162206759"/>
                    </a:ext>
                  </a:extLst>
                </a:gridCol>
                <a:gridCol w="2628900">
                  <a:extLst>
                    <a:ext uri="{9D8B030D-6E8A-4147-A177-3AD203B41FA5}">
                      <a16:colId xmlns:a16="http://schemas.microsoft.com/office/drawing/2014/main" val="2565585737"/>
                    </a:ext>
                  </a:extLst>
                </a:gridCol>
              </a:tblGrid>
              <a:tr h="568618">
                <a:tc>
                  <a:txBody>
                    <a:bodyPr/>
                    <a:lstStyle/>
                    <a:p>
                      <a:r>
                        <a:rPr lang="es-CO" sz="1400" dirty="0">
                          <a:latin typeface="Verdana" panose="020B0604030504040204" pitchFamily="34" charset="0"/>
                          <a:ea typeface="Verdana" panose="020B0604030504040204" pitchFamily="34" charset="0"/>
                        </a:rPr>
                        <a:t>Operador</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Propósito</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Ejemplo (BD </a:t>
                      </a:r>
                      <a:r>
                        <a:rPr lang="es-CO" sz="1400" b="1">
                          <a:latin typeface="Verdana" panose="020B0604030504040204" pitchFamily="34" charset="0"/>
                          <a:ea typeface="Verdana" panose="020B0604030504040204" pitchFamily="34" charset="0"/>
                        </a:rPr>
                        <a:t>Sakila</a:t>
                      </a:r>
                      <a:r>
                        <a:rPr lang="es-CO" sz="1400">
                          <a:latin typeface="Verdana" panose="020B0604030504040204" pitchFamily="34" charset="0"/>
                          <a:ea typeface="Verdana" panose="020B0604030504040204" pitchFamily="34" charset="0"/>
                        </a:rPr>
                        <a:t>)</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Observaciones didácticas</a:t>
                      </a:r>
                    </a:p>
                  </a:txBody>
                  <a:tcPr marL="48891" marR="48891" marT="24446" marB="24446" anchor="ctr"/>
                </a:tc>
                <a:extLst>
                  <a:ext uri="{0D108BD9-81ED-4DB2-BD59-A6C34878D82A}">
                    <a16:rowId xmlns:a16="http://schemas.microsoft.com/office/drawing/2014/main" val="3415681368"/>
                  </a:ext>
                </a:extLst>
              </a:tr>
              <a:tr h="1056006">
                <a:tc>
                  <a:txBody>
                    <a:bodyPr/>
                    <a:lstStyle/>
                    <a:p>
                      <a:pPr algn="ctr"/>
                      <a:r>
                        <a:rPr lang="es-CO" sz="1400" b="1" dirty="0">
                          <a:latin typeface="Verdana" panose="020B0604030504040204" pitchFamily="34" charset="0"/>
                          <a:ea typeface="Verdana" panose="020B0604030504040204" pitchFamily="34" charset="0"/>
                        </a:rPr>
                        <a:t>=</a:t>
                      </a:r>
                      <a:endParaRPr lang="es-CO"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Igualdad exacta entre valores.</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 FROM actor WHERE last_name = 'SMITH';</a:t>
                      </a:r>
                    </a:p>
                  </a:txBody>
                  <a:tcPr marL="48891" marR="48891" marT="24446" marB="24446" anchor="ctr"/>
                </a:tc>
                <a:tc>
                  <a:txBody>
                    <a:bodyPr/>
                    <a:lstStyle/>
                    <a:p>
                      <a:r>
                        <a:rPr lang="es-MX" sz="1400">
                          <a:latin typeface="Verdana" panose="020B0604030504040204" pitchFamily="34" charset="0"/>
                          <a:ea typeface="Verdana" panose="020B0604030504040204" pitchFamily="34" charset="0"/>
                        </a:rPr>
                        <a:t>✓ Aprovecha los </a:t>
                      </a:r>
                      <a:r>
                        <a:rPr lang="es-MX" sz="1400" b="1">
                          <a:latin typeface="Verdana" panose="020B0604030504040204" pitchFamily="34" charset="0"/>
                          <a:ea typeface="Verdana" panose="020B0604030504040204" pitchFamily="34" charset="0"/>
                        </a:rPr>
                        <a:t>índices</a:t>
                      </a:r>
                      <a:r>
                        <a:rPr lang="es-MX" sz="1400">
                          <a:latin typeface="Verdana" panose="020B0604030504040204" pitchFamily="34" charset="0"/>
                          <a:ea typeface="Verdana" panose="020B0604030504040204" pitchFamily="34" charset="0"/>
                        </a:rPr>
                        <a:t>; sensible a mayúsculas según collation.</a:t>
                      </a:r>
                    </a:p>
                  </a:txBody>
                  <a:tcPr marL="48891" marR="48891" marT="24446" marB="24446" anchor="ctr"/>
                </a:tc>
                <a:extLst>
                  <a:ext uri="{0D108BD9-81ED-4DB2-BD59-A6C34878D82A}">
                    <a16:rowId xmlns:a16="http://schemas.microsoft.com/office/drawing/2014/main" val="2949720685"/>
                  </a:ext>
                </a:extLst>
              </a:tr>
              <a:tr h="812312">
                <a:tc>
                  <a:txBody>
                    <a:bodyPr/>
                    <a:lstStyle/>
                    <a:p>
                      <a:pPr algn="ctr"/>
                      <a:r>
                        <a:rPr lang="es-CO" sz="1400" b="1" dirty="0">
                          <a:latin typeface="Verdana" panose="020B0604030504040204" pitchFamily="34" charset="0"/>
                          <a:ea typeface="Verdana" panose="020B0604030504040204" pitchFamily="34" charset="0"/>
                        </a:rPr>
                        <a:t>&lt;&gt;</a:t>
                      </a:r>
                      <a:r>
                        <a:rPr lang="es-CO" sz="1400" dirty="0">
                          <a:latin typeface="Verdana" panose="020B0604030504040204" pitchFamily="34" charset="0"/>
                          <a:ea typeface="Verdana" panose="020B0604030504040204" pitchFamily="34" charset="0"/>
                        </a:rPr>
                        <a:t> (</a:t>
                      </a:r>
                      <a:r>
                        <a:rPr lang="es-CO" sz="1400" dirty="0" err="1">
                          <a:latin typeface="Verdana" panose="020B0604030504040204" pitchFamily="34" charset="0"/>
                          <a:ea typeface="Verdana" panose="020B0604030504040204" pitchFamily="34" charset="0"/>
                        </a:rPr>
                        <a:t>ó</a:t>
                      </a:r>
                      <a:r>
                        <a:rPr lang="es-CO" sz="1400" dirty="0">
                          <a:latin typeface="Verdana" panose="020B0604030504040204" pitchFamily="34" charset="0"/>
                          <a:ea typeface="Verdana" panose="020B0604030504040204" pitchFamily="34" charset="0"/>
                        </a:rPr>
                        <a:t> !=)</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Desigualdad (cualquier valor distinto).</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 FROM film WHERE rating &lt;&gt; 'PG';</a:t>
                      </a:r>
                    </a:p>
                  </a:txBody>
                  <a:tcPr marL="48891" marR="48891" marT="24446" marB="24446" anchor="ctr"/>
                </a:tc>
                <a:tc>
                  <a:txBody>
                    <a:bodyPr/>
                    <a:lstStyle/>
                    <a:p>
                      <a:r>
                        <a:rPr lang="es-MX" sz="1400">
                          <a:latin typeface="Verdana" panose="020B0604030504040204" pitchFamily="34" charset="0"/>
                          <a:ea typeface="Verdana" panose="020B0604030504040204" pitchFamily="34" charset="0"/>
                        </a:rPr>
                        <a:t>Cuidado: excluye NULL; usa IS NULL si quieres incluir nulos.</a:t>
                      </a:r>
                    </a:p>
                  </a:txBody>
                  <a:tcPr marL="48891" marR="48891" marT="24446" marB="24446" anchor="ctr"/>
                </a:tc>
                <a:extLst>
                  <a:ext uri="{0D108BD9-81ED-4DB2-BD59-A6C34878D82A}">
                    <a16:rowId xmlns:a16="http://schemas.microsoft.com/office/drawing/2014/main" val="3287497255"/>
                  </a:ext>
                </a:extLst>
              </a:tr>
              <a:tr h="812312">
                <a:tc>
                  <a:txBody>
                    <a:bodyPr/>
                    <a:lstStyle/>
                    <a:p>
                      <a:pPr algn="ctr"/>
                      <a:r>
                        <a:rPr lang="es-CO" sz="1400" b="1" dirty="0">
                          <a:latin typeface="Verdana" panose="020B0604030504040204" pitchFamily="34" charset="0"/>
                          <a:ea typeface="Verdana" panose="020B0604030504040204" pitchFamily="34" charset="0"/>
                        </a:rPr>
                        <a:t>&lt;</a:t>
                      </a:r>
                      <a:r>
                        <a:rPr lang="es-CO" sz="1400" dirty="0">
                          <a:latin typeface="Verdana" panose="020B0604030504040204" pitchFamily="34" charset="0"/>
                          <a:ea typeface="Verdana" panose="020B0604030504040204" pitchFamily="34" charset="0"/>
                        </a:rPr>
                        <a:t> / </a:t>
                      </a:r>
                      <a:r>
                        <a:rPr lang="es-CO" sz="1400" b="1" dirty="0">
                          <a:latin typeface="Verdana" panose="020B0604030504040204" pitchFamily="34" charset="0"/>
                          <a:ea typeface="Verdana" panose="020B0604030504040204" pitchFamily="34" charset="0"/>
                        </a:rPr>
                        <a:t>&gt;</a:t>
                      </a:r>
                      <a:endParaRPr lang="es-CO"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MX" sz="1400">
                          <a:latin typeface="Verdana" panose="020B0604030504040204" pitchFamily="34" charset="0"/>
                          <a:ea typeface="Verdana" panose="020B0604030504040204" pitchFamily="34" charset="0"/>
                        </a:rPr>
                        <a:t>Comparación estricta “menor que” / “mayor que”.</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 FROM film WHERE length &gt; 120;</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Muy útil en rangos de fechas o números; ignora NULL.</a:t>
                      </a:r>
                    </a:p>
                  </a:txBody>
                  <a:tcPr marL="48891" marR="48891" marT="24446" marB="24446" anchor="ctr"/>
                </a:tc>
                <a:extLst>
                  <a:ext uri="{0D108BD9-81ED-4DB2-BD59-A6C34878D82A}">
                    <a16:rowId xmlns:a16="http://schemas.microsoft.com/office/drawing/2014/main" val="602298408"/>
                  </a:ext>
                </a:extLst>
              </a:tr>
              <a:tr h="1056006">
                <a:tc>
                  <a:txBody>
                    <a:bodyPr/>
                    <a:lstStyle/>
                    <a:p>
                      <a:pPr algn="ctr"/>
                      <a:r>
                        <a:rPr lang="es-CO" sz="1400" b="1" dirty="0">
                          <a:latin typeface="Verdana" panose="020B0604030504040204" pitchFamily="34" charset="0"/>
                          <a:ea typeface="Verdana" panose="020B0604030504040204" pitchFamily="34" charset="0"/>
                        </a:rPr>
                        <a:t>BETWEEN … AND …</a:t>
                      </a:r>
                      <a:endParaRPr lang="es-CO"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CO" sz="1400" dirty="0">
                          <a:latin typeface="Verdana" panose="020B0604030504040204" pitchFamily="34" charset="0"/>
                          <a:ea typeface="Verdana" panose="020B0604030504040204" pitchFamily="34" charset="0"/>
                        </a:rPr>
                        <a:t>Rango </a:t>
                      </a:r>
                      <a:r>
                        <a:rPr lang="es-CO" sz="1400" b="1" dirty="0">
                          <a:latin typeface="Verdana" panose="020B0604030504040204" pitchFamily="34" charset="0"/>
                          <a:ea typeface="Verdana" panose="020B0604030504040204" pitchFamily="34" charset="0"/>
                        </a:rPr>
                        <a:t>incluyente</a:t>
                      </a:r>
                      <a:r>
                        <a:rPr lang="es-CO" sz="1400" dirty="0">
                          <a:latin typeface="Verdana" panose="020B0604030504040204" pitchFamily="34" charset="0"/>
                          <a:ea typeface="Verdana" panose="020B0604030504040204" pitchFamily="34" charset="0"/>
                        </a:rPr>
                        <a:t> (extremos incluidos).</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 FROM payment WHERE amount BETWEEN 5 AND 10;</a:t>
                      </a:r>
                    </a:p>
                  </a:txBody>
                  <a:tcPr marL="48891" marR="48891" marT="24446" marB="24446" anchor="ctr"/>
                </a:tc>
                <a:tc>
                  <a:txBody>
                    <a:bodyPr/>
                    <a:lstStyle/>
                    <a:p>
                      <a:r>
                        <a:rPr lang="es-MX" sz="1400" dirty="0">
                          <a:latin typeface="Verdana" panose="020B0604030504040204" pitchFamily="34" charset="0"/>
                          <a:ea typeface="Verdana" panose="020B0604030504040204" pitchFamily="34" charset="0"/>
                        </a:rPr>
                        <a:t>Traducido internamente a &gt;= y &lt;=. Evita errores de borde.</a:t>
                      </a:r>
                    </a:p>
                  </a:txBody>
                  <a:tcPr marL="48891" marR="48891" marT="24446" marB="24446" anchor="ctr"/>
                </a:tc>
                <a:extLst>
                  <a:ext uri="{0D108BD9-81ED-4DB2-BD59-A6C34878D82A}">
                    <a16:rowId xmlns:a16="http://schemas.microsoft.com/office/drawing/2014/main" val="1419110181"/>
                  </a:ext>
                </a:extLst>
              </a:tr>
            </a:tbl>
          </a:graphicData>
        </a:graphic>
      </p:graphicFrame>
    </p:spTree>
    <p:extLst>
      <p:ext uri="{BB962C8B-B14F-4D97-AF65-F5344CB8AC3E}">
        <p14:creationId xmlns:p14="http://schemas.microsoft.com/office/powerpoint/2010/main" val="4166979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9136-C30D-735C-8E4D-E6D48B29A8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A8E0E2-57DB-F56C-46BD-B5880037D9B0}"/>
              </a:ext>
            </a:extLst>
          </p:cNvPr>
          <p:cNvSpPr>
            <a:spLocks noGrp="1"/>
          </p:cNvSpPr>
          <p:nvPr>
            <p:ph type="title"/>
          </p:nvPr>
        </p:nvSpPr>
        <p:spPr/>
        <p:txBody>
          <a:bodyPr/>
          <a:lstStyle/>
          <a:p>
            <a:r>
              <a:rPr lang="es-CO" b="1" dirty="0">
                <a:solidFill>
                  <a:srgbClr val="0D0D0D"/>
                </a:solidFill>
              </a:rPr>
              <a:t>WHERE</a:t>
            </a:r>
            <a:r>
              <a:rPr lang="es-CO" b="1" dirty="0">
                <a:solidFill>
                  <a:srgbClr val="0D0D0D"/>
                </a:solidFill>
                <a:latin typeface="ui-sans-serif"/>
              </a:rPr>
              <a:t>: filtrar filas</a:t>
            </a:r>
            <a:endParaRPr lang="es-CO" dirty="0"/>
          </a:p>
        </p:txBody>
      </p:sp>
      <p:graphicFrame>
        <p:nvGraphicFramePr>
          <p:cNvPr id="5" name="Marcador de contenido 4">
            <a:extLst>
              <a:ext uri="{FF2B5EF4-FFF2-40B4-BE49-F238E27FC236}">
                <a16:creationId xmlns:a16="http://schemas.microsoft.com/office/drawing/2014/main" id="{89AA8705-1761-C500-3A86-3A0BED91C552}"/>
              </a:ext>
            </a:extLst>
          </p:cNvPr>
          <p:cNvGraphicFramePr>
            <a:graphicFrameLocks noGrp="1"/>
          </p:cNvGraphicFramePr>
          <p:nvPr>
            <p:ph idx="1"/>
            <p:extLst>
              <p:ext uri="{D42A27DB-BD31-4B8C-83A1-F6EECF244321}">
                <p14:modId xmlns:p14="http://schemas.microsoft.com/office/powerpoint/2010/main" val="1435970885"/>
              </p:ext>
            </p:extLst>
          </p:nvPr>
        </p:nvGraphicFramePr>
        <p:xfrm>
          <a:off x="838200" y="1925863"/>
          <a:ext cx="10515600" cy="3626524"/>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val="2434373838"/>
                    </a:ext>
                  </a:extLst>
                </a:gridCol>
                <a:gridCol w="2628900">
                  <a:extLst>
                    <a:ext uri="{9D8B030D-6E8A-4147-A177-3AD203B41FA5}">
                      <a16:colId xmlns:a16="http://schemas.microsoft.com/office/drawing/2014/main" val="894889565"/>
                    </a:ext>
                  </a:extLst>
                </a:gridCol>
                <a:gridCol w="2628900">
                  <a:extLst>
                    <a:ext uri="{9D8B030D-6E8A-4147-A177-3AD203B41FA5}">
                      <a16:colId xmlns:a16="http://schemas.microsoft.com/office/drawing/2014/main" val="4162206759"/>
                    </a:ext>
                  </a:extLst>
                </a:gridCol>
                <a:gridCol w="2628900">
                  <a:extLst>
                    <a:ext uri="{9D8B030D-6E8A-4147-A177-3AD203B41FA5}">
                      <a16:colId xmlns:a16="http://schemas.microsoft.com/office/drawing/2014/main" val="2565585737"/>
                    </a:ext>
                  </a:extLst>
                </a:gridCol>
              </a:tblGrid>
              <a:tr h="561832">
                <a:tc>
                  <a:txBody>
                    <a:bodyPr/>
                    <a:lstStyle/>
                    <a:p>
                      <a:r>
                        <a:rPr lang="es-CO" sz="1400" dirty="0">
                          <a:latin typeface="Verdana" panose="020B0604030504040204" pitchFamily="34" charset="0"/>
                          <a:ea typeface="Verdana" panose="020B0604030504040204" pitchFamily="34" charset="0"/>
                        </a:rPr>
                        <a:t>Operador</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Propósito</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Ejemplo (BD </a:t>
                      </a:r>
                      <a:r>
                        <a:rPr lang="es-CO" sz="1400" b="1">
                          <a:latin typeface="Verdana" panose="020B0604030504040204" pitchFamily="34" charset="0"/>
                          <a:ea typeface="Verdana" panose="020B0604030504040204" pitchFamily="34" charset="0"/>
                        </a:rPr>
                        <a:t>Sakila</a:t>
                      </a:r>
                      <a:r>
                        <a:rPr lang="es-CO" sz="1400">
                          <a:latin typeface="Verdana" panose="020B0604030504040204" pitchFamily="34" charset="0"/>
                          <a:ea typeface="Verdana" panose="020B0604030504040204" pitchFamily="34" charset="0"/>
                        </a:rPr>
                        <a:t>)</a:t>
                      </a: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Observaciones didácticas</a:t>
                      </a:r>
                    </a:p>
                  </a:txBody>
                  <a:tcPr marL="48891" marR="48891" marT="24446" marB="24446" anchor="ctr"/>
                </a:tc>
                <a:extLst>
                  <a:ext uri="{0D108BD9-81ED-4DB2-BD59-A6C34878D82A}">
                    <a16:rowId xmlns:a16="http://schemas.microsoft.com/office/drawing/2014/main" val="3415681368"/>
                  </a:ext>
                </a:extLst>
              </a:tr>
              <a:tr h="1131038">
                <a:tc>
                  <a:txBody>
                    <a:bodyPr/>
                    <a:lstStyle/>
                    <a:p>
                      <a:pPr algn="ctr"/>
                      <a:r>
                        <a:rPr lang="es-CO" sz="1400" b="1" dirty="0">
                          <a:latin typeface="Verdana" panose="020B0604030504040204" pitchFamily="34" charset="0"/>
                          <a:ea typeface="Verdana" panose="020B0604030504040204" pitchFamily="34" charset="0"/>
                        </a:rPr>
                        <a:t>LIKE</a:t>
                      </a:r>
                      <a:endParaRPr lang="es-CO"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MX" sz="1400">
                          <a:latin typeface="Verdana" panose="020B0604030504040204" pitchFamily="34" charset="0"/>
                          <a:ea typeface="Verdana" panose="020B0604030504040204" pitchFamily="34" charset="0"/>
                        </a:rPr>
                        <a:t>Búsqueda por </a:t>
                      </a:r>
                      <a:r>
                        <a:rPr lang="es-MX" sz="1400" b="1">
                          <a:latin typeface="Verdana" panose="020B0604030504040204" pitchFamily="34" charset="0"/>
                          <a:ea typeface="Verdana" panose="020B0604030504040204" pitchFamily="34" charset="0"/>
                        </a:rPr>
                        <a:t>patrón</a:t>
                      </a:r>
                      <a:r>
                        <a:rPr lang="es-MX" sz="1400">
                          <a:latin typeface="Verdana" panose="020B0604030504040204" pitchFamily="34" charset="0"/>
                          <a:ea typeface="Verdana" panose="020B0604030504040204" pitchFamily="34" charset="0"/>
                        </a:rPr>
                        <a:t> con comodines % (múltiples) y _ (un carácter).</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title FROM film WHERE title LIKE '%DOG%';</a:t>
                      </a:r>
                    </a:p>
                  </a:txBody>
                  <a:tcPr marL="48891" marR="48891" marT="24446" marB="24446" anchor="ctr"/>
                </a:tc>
                <a:tc>
                  <a:txBody>
                    <a:bodyPr/>
                    <a:lstStyle/>
                    <a:p>
                      <a:r>
                        <a:rPr lang="es-MX" sz="1400" dirty="0">
                          <a:latin typeface="Verdana" panose="020B0604030504040204" pitchFamily="34" charset="0"/>
                          <a:ea typeface="Verdana" panose="020B0604030504040204" pitchFamily="34" charset="0"/>
                        </a:rPr>
                        <a:t>Usa ILIKE en PostgreSQL para insensibilidad a mayúsculas. El % inicial impide el uso de índice.</a:t>
                      </a:r>
                    </a:p>
                  </a:txBody>
                  <a:tcPr marL="48891" marR="48891" marT="24446" marB="24446" anchor="ctr"/>
                </a:tc>
                <a:extLst>
                  <a:ext uri="{0D108BD9-81ED-4DB2-BD59-A6C34878D82A}">
                    <a16:rowId xmlns:a16="http://schemas.microsoft.com/office/drawing/2014/main" val="2733875798"/>
                  </a:ext>
                </a:extLst>
              </a:tr>
              <a:tr h="1131038">
                <a:tc>
                  <a:txBody>
                    <a:bodyPr/>
                    <a:lstStyle/>
                    <a:p>
                      <a:pPr algn="ctr"/>
                      <a:r>
                        <a:rPr lang="es-CO" sz="1400" b="1" dirty="0">
                          <a:latin typeface="Verdana" panose="020B0604030504040204" pitchFamily="34" charset="0"/>
                          <a:ea typeface="Verdana" panose="020B0604030504040204" pitchFamily="34" charset="0"/>
                        </a:rPr>
                        <a:t>IN ( … )</a:t>
                      </a:r>
                      <a:endParaRPr lang="es-CO"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Pertinencia a una </a:t>
                      </a:r>
                      <a:r>
                        <a:rPr lang="es-CO" sz="1400" b="1">
                          <a:latin typeface="Verdana" panose="020B0604030504040204" pitchFamily="34" charset="0"/>
                          <a:ea typeface="Verdana" panose="020B0604030504040204" pitchFamily="34" charset="0"/>
                        </a:rPr>
                        <a:t>lista</a:t>
                      </a:r>
                      <a:r>
                        <a:rPr lang="es-CO" sz="1400">
                          <a:latin typeface="Verdana" panose="020B0604030504040204" pitchFamily="34" charset="0"/>
                          <a:ea typeface="Verdana" panose="020B0604030504040204" pitchFamily="34" charset="0"/>
                        </a:rPr>
                        <a:t> de valores.</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country_id FROM country WHERE country IN ('Argentina','Brazil');</a:t>
                      </a:r>
                    </a:p>
                  </a:txBody>
                  <a:tcPr marL="48891" marR="48891" marT="24446" marB="24446" anchor="ctr"/>
                </a:tc>
                <a:tc>
                  <a:txBody>
                    <a:bodyPr/>
                    <a:lstStyle/>
                    <a:p>
                      <a:r>
                        <a:rPr lang="es-MX" sz="1400">
                          <a:latin typeface="Verdana" panose="020B0604030504040204" pitchFamily="34" charset="0"/>
                          <a:ea typeface="Verdana" panose="020B0604030504040204" pitchFamily="34" charset="0"/>
                        </a:rPr>
                        <a:t>Equivale a varias condiciones OR, pero más legible y optimizable.</a:t>
                      </a:r>
                    </a:p>
                  </a:txBody>
                  <a:tcPr marL="48891" marR="48891" marT="24446" marB="24446" anchor="ctr"/>
                </a:tc>
                <a:extLst>
                  <a:ext uri="{0D108BD9-81ED-4DB2-BD59-A6C34878D82A}">
                    <a16:rowId xmlns:a16="http://schemas.microsoft.com/office/drawing/2014/main" val="3497109923"/>
                  </a:ext>
                </a:extLst>
              </a:tr>
              <a:tr h="802616">
                <a:tc>
                  <a:txBody>
                    <a:bodyPr/>
                    <a:lstStyle/>
                    <a:p>
                      <a:pPr algn="ctr"/>
                      <a:r>
                        <a:rPr lang="en-US" sz="1400" b="1" dirty="0">
                          <a:latin typeface="Verdana" panose="020B0604030504040204" pitchFamily="34" charset="0"/>
                          <a:ea typeface="Verdana" panose="020B0604030504040204" pitchFamily="34" charset="0"/>
                        </a:rPr>
                        <a:t>IS NULL</a:t>
                      </a:r>
                      <a:r>
                        <a:rPr lang="en-US" sz="1400" dirty="0">
                          <a:latin typeface="Verdana" panose="020B0604030504040204" pitchFamily="34" charset="0"/>
                          <a:ea typeface="Verdana" panose="020B0604030504040204" pitchFamily="34" charset="0"/>
                        </a:rPr>
                        <a:t> / </a:t>
                      </a:r>
                      <a:r>
                        <a:rPr lang="en-US" sz="1400" b="1" dirty="0">
                          <a:latin typeface="Verdana" panose="020B0604030504040204" pitchFamily="34" charset="0"/>
                          <a:ea typeface="Verdana" panose="020B0604030504040204" pitchFamily="34" charset="0"/>
                        </a:rPr>
                        <a:t>IS NOT NULL</a:t>
                      </a:r>
                      <a:endParaRPr lang="en-US" sz="1400" dirty="0">
                        <a:latin typeface="Verdana" panose="020B0604030504040204" pitchFamily="34" charset="0"/>
                        <a:ea typeface="Verdana" panose="020B0604030504040204" pitchFamily="34" charset="0"/>
                      </a:endParaRPr>
                    </a:p>
                  </a:txBody>
                  <a:tcPr marL="48891" marR="48891" marT="24446" marB="24446" anchor="ctr"/>
                </a:tc>
                <a:tc>
                  <a:txBody>
                    <a:bodyPr/>
                    <a:lstStyle/>
                    <a:p>
                      <a:r>
                        <a:rPr lang="es-CO" sz="1400">
                          <a:latin typeface="Verdana" panose="020B0604030504040204" pitchFamily="34" charset="0"/>
                          <a:ea typeface="Verdana" panose="020B0604030504040204" pitchFamily="34" charset="0"/>
                        </a:rPr>
                        <a:t>Verifica presencia o ausencia de </a:t>
                      </a:r>
                      <a:r>
                        <a:rPr lang="es-CO" sz="1400" b="1">
                          <a:latin typeface="Verdana" panose="020B0604030504040204" pitchFamily="34" charset="0"/>
                          <a:ea typeface="Verdana" panose="020B0604030504040204" pitchFamily="34" charset="0"/>
                        </a:rPr>
                        <a:t>NULL</a:t>
                      </a:r>
                      <a:r>
                        <a:rPr lang="es-CO" sz="1400">
                          <a:latin typeface="Verdana" panose="020B0604030504040204" pitchFamily="34" charset="0"/>
                          <a:ea typeface="Verdana" panose="020B0604030504040204" pitchFamily="34" charset="0"/>
                        </a:rPr>
                        <a:t> (valor desconocido).</a:t>
                      </a:r>
                    </a:p>
                  </a:txBody>
                  <a:tcPr marL="48891" marR="48891" marT="24446" marB="24446" anchor="ctr"/>
                </a:tc>
                <a:tc>
                  <a:txBody>
                    <a:bodyPr/>
                    <a:lstStyle/>
                    <a:p>
                      <a:r>
                        <a:rPr lang="en-US" sz="1400">
                          <a:latin typeface="Verdana" panose="020B0604030504040204" pitchFamily="34" charset="0"/>
                          <a:ea typeface="Verdana" panose="020B0604030504040204" pitchFamily="34" charset="0"/>
                        </a:rPr>
                        <a:t>SELECT phone FROM customer WHERE phone IS NULL;</a:t>
                      </a:r>
                    </a:p>
                  </a:txBody>
                  <a:tcPr marL="48891" marR="48891" marT="24446" marB="24446" anchor="ctr"/>
                </a:tc>
                <a:tc>
                  <a:txBody>
                    <a:bodyPr/>
                    <a:lstStyle/>
                    <a:p>
                      <a:r>
                        <a:rPr lang="es-MX" sz="1400" dirty="0">
                          <a:latin typeface="Verdana" panose="020B0604030504040204" pitchFamily="34" charset="0"/>
                          <a:ea typeface="Verdana" panose="020B0604030504040204" pitchFamily="34" charset="0"/>
                        </a:rPr>
                        <a:t>NULL nunca cumple = ni &lt;&gt;; usa siempre esta sintaxis para nulos.</a:t>
                      </a:r>
                    </a:p>
                  </a:txBody>
                  <a:tcPr marL="48891" marR="48891" marT="24446" marB="24446" anchor="ctr"/>
                </a:tc>
                <a:extLst>
                  <a:ext uri="{0D108BD9-81ED-4DB2-BD59-A6C34878D82A}">
                    <a16:rowId xmlns:a16="http://schemas.microsoft.com/office/drawing/2014/main" val="4031161203"/>
                  </a:ext>
                </a:extLst>
              </a:tr>
            </a:tbl>
          </a:graphicData>
        </a:graphic>
      </p:graphicFrame>
    </p:spTree>
    <p:extLst>
      <p:ext uri="{BB962C8B-B14F-4D97-AF65-F5344CB8AC3E}">
        <p14:creationId xmlns:p14="http://schemas.microsoft.com/office/powerpoint/2010/main" val="1032246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D892E5-955A-5CCA-040D-782931BFA9E3}"/>
              </a:ext>
            </a:extLst>
          </p:cNvPr>
          <p:cNvSpPr>
            <a:spLocks noGrp="1"/>
          </p:cNvSpPr>
          <p:nvPr>
            <p:ph type="title"/>
          </p:nvPr>
        </p:nvSpPr>
        <p:spPr/>
        <p:txBody>
          <a:bodyPr/>
          <a:lstStyle/>
          <a:p>
            <a:r>
              <a:rPr lang="es-CO" b="1" dirty="0">
                <a:solidFill>
                  <a:srgbClr val="0D0D0D"/>
                </a:solidFill>
              </a:rPr>
              <a:t>GROUP BY: agregación</a:t>
            </a:r>
            <a:endParaRPr lang="es-CO" dirty="0"/>
          </a:p>
        </p:txBody>
      </p:sp>
      <p:sp>
        <p:nvSpPr>
          <p:cNvPr id="3" name="Marcador de contenido 2">
            <a:extLst>
              <a:ext uri="{FF2B5EF4-FFF2-40B4-BE49-F238E27FC236}">
                <a16:creationId xmlns:a16="http://schemas.microsoft.com/office/drawing/2014/main" id="{EFA2CDC9-CC8E-4E21-3811-A03095D26989}"/>
              </a:ext>
            </a:extLst>
          </p:cNvPr>
          <p:cNvSpPr>
            <a:spLocks noGrp="1"/>
          </p:cNvSpPr>
          <p:nvPr>
            <p:ph idx="1"/>
          </p:nvPr>
        </p:nvSpPr>
        <p:spPr/>
        <p:txBody>
          <a:bodyPr/>
          <a:lstStyle/>
          <a:p>
            <a:pPr>
              <a:spcAft>
                <a:spcPts val="1200"/>
              </a:spcAft>
            </a:pPr>
            <a:r>
              <a:rPr lang="es-MX" dirty="0">
                <a:solidFill>
                  <a:srgbClr val="0D0D0D"/>
                </a:solidFill>
              </a:rPr>
              <a:t>Agrupa registros según una o varias columnas.</a:t>
            </a:r>
          </a:p>
          <a:p>
            <a:pPr>
              <a:spcAft>
                <a:spcPts val="1200"/>
              </a:spcAft>
            </a:pPr>
            <a:r>
              <a:rPr lang="es-MX" dirty="0">
                <a:solidFill>
                  <a:srgbClr val="0D0D0D"/>
                </a:solidFill>
              </a:rPr>
              <a:t>Debe acompañarse de funciones agregadas SUM, AVG, COUNT, MIN, MAX.</a:t>
            </a:r>
          </a:p>
          <a:p>
            <a:pPr>
              <a:spcAft>
                <a:spcPts val="1200"/>
              </a:spcAft>
            </a:pPr>
            <a:r>
              <a:rPr lang="es-MX" b="1" dirty="0">
                <a:solidFill>
                  <a:srgbClr val="0D0D0D"/>
                </a:solidFill>
              </a:rPr>
              <a:t>Ejemplo</a:t>
            </a:r>
          </a:p>
          <a:p>
            <a:pPr marL="457200" lvl="1" indent="0">
              <a:spcAft>
                <a:spcPts val="1200"/>
              </a:spcAft>
              <a:buNone/>
            </a:pPr>
            <a:r>
              <a:rPr lang="en-US" dirty="0">
                <a:solidFill>
                  <a:srgbClr val="7030A0"/>
                </a:solidFill>
                <a:latin typeface="Consolas" panose="020B0609020204030204" pitchFamily="49" charset="0"/>
              </a:rPr>
              <a:t>SELECT</a:t>
            </a:r>
            <a:r>
              <a:rPr lang="en-US" dirty="0">
                <a:solidFill>
                  <a:srgbClr val="0D0D0D"/>
                </a:solidFill>
                <a:latin typeface="Consolas" panose="020B0609020204030204" pitchFamily="49" charset="0"/>
              </a:rPr>
              <a:t> </a:t>
            </a:r>
            <a:r>
              <a:rPr lang="en-US" dirty="0" err="1">
                <a:solidFill>
                  <a:srgbClr val="0D0D0D"/>
                </a:solidFill>
                <a:latin typeface="Consolas" panose="020B0609020204030204" pitchFamily="49" charset="0"/>
              </a:rPr>
              <a:t>categoria</a:t>
            </a:r>
            <a:r>
              <a:rPr lang="en-US" dirty="0">
                <a:solidFill>
                  <a:srgbClr val="0D0D0D"/>
                </a:solidFill>
                <a:latin typeface="Consolas" panose="020B0609020204030204" pitchFamily="49" charset="0"/>
              </a:rPr>
              <a:t>, </a:t>
            </a:r>
            <a:r>
              <a:rPr lang="en-US" dirty="0">
                <a:solidFill>
                  <a:schemeClr val="accent2">
                    <a:lumMod val="75000"/>
                  </a:schemeClr>
                </a:solidFill>
                <a:latin typeface="Consolas" panose="020B0609020204030204" pitchFamily="49" charset="0"/>
              </a:rPr>
              <a:t>AVG</a:t>
            </a:r>
            <a:r>
              <a:rPr lang="en-US" dirty="0">
                <a:solidFill>
                  <a:srgbClr val="0D0D0D"/>
                </a:solidFill>
                <a:latin typeface="Consolas" panose="020B0609020204030204" pitchFamily="49" charset="0"/>
              </a:rPr>
              <a:t>(</a:t>
            </a:r>
            <a:r>
              <a:rPr lang="en-US" dirty="0" err="1">
                <a:solidFill>
                  <a:srgbClr val="0D0D0D"/>
                </a:solidFill>
                <a:latin typeface="Consolas" panose="020B0609020204030204" pitchFamily="49" charset="0"/>
              </a:rPr>
              <a:t>precio</a:t>
            </a:r>
            <a:r>
              <a:rPr lang="en-US" dirty="0">
                <a:solidFill>
                  <a:srgbClr val="0D0D0D"/>
                </a:solidFill>
                <a:latin typeface="Consolas" panose="020B0609020204030204" pitchFamily="49" charset="0"/>
              </a:rPr>
              <a:t>) AS </a:t>
            </a:r>
            <a:r>
              <a:rPr lang="en-US" dirty="0" err="1">
                <a:solidFill>
                  <a:srgbClr val="0D0D0D"/>
                </a:solidFill>
                <a:latin typeface="Consolas" panose="020B0609020204030204" pitchFamily="49" charset="0"/>
              </a:rPr>
              <a:t>pmedio</a:t>
            </a:r>
            <a:endParaRPr lang="en-US" dirty="0">
              <a:solidFill>
                <a:srgbClr val="0D0D0D"/>
              </a:solidFill>
              <a:latin typeface="Consolas" panose="020B0609020204030204" pitchFamily="49" charset="0"/>
            </a:endParaRPr>
          </a:p>
          <a:p>
            <a:pPr marL="457200" lvl="1" indent="0">
              <a:spcAft>
                <a:spcPts val="1200"/>
              </a:spcAft>
              <a:buNone/>
            </a:pPr>
            <a:r>
              <a:rPr lang="en-US" dirty="0">
                <a:solidFill>
                  <a:srgbClr val="7030A0"/>
                </a:solidFill>
                <a:latin typeface="Consolas" panose="020B0609020204030204" pitchFamily="49" charset="0"/>
              </a:rPr>
              <a:t>FROM</a:t>
            </a:r>
            <a:r>
              <a:rPr lang="en-US" dirty="0">
                <a:solidFill>
                  <a:srgbClr val="0D0D0D"/>
                </a:solidFill>
                <a:latin typeface="Consolas" panose="020B0609020204030204" pitchFamily="49" charset="0"/>
              </a:rPr>
              <a:t> </a:t>
            </a:r>
            <a:r>
              <a:rPr lang="en-US" dirty="0" err="1">
                <a:solidFill>
                  <a:srgbClr val="0D0D0D"/>
                </a:solidFill>
                <a:latin typeface="Consolas" panose="020B0609020204030204" pitchFamily="49" charset="0"/>
              </a:rPr>
              <a:t>productos</a:t>
            </a:r>
            <a:endParaRPr lang="en-US" dirty="0">
              <a:solidFill>
                <a:srgbClr val="0D0D0D"/>
              </a:solidFill>
              <a:latin typeface="Consolas" panose="020B0609020204030204" pitchFamily="49" charset="0"/>
            </a:endParaRPr>
          </a:p>
          <a:p>
            <a:pPr marL="457200" lvl="1" indent="0">
              <a:spcAft>
                <a:spcPts val="1200"/>
              </a:spcAft>
              <a:buNone/>
            </a:pPr>
            <a:r>
              <a:rPr lang="en-US" dirty="0">
                <a:solidFill>
                  <a:srgbClr val="7030A0"/>
                </a:solidFill>
                <a:latin typeface="Consolas" panose="020B0609020204030204" pitchFamily="49" charset="0"/>
              </a:rPr>
              <a:t>GROUP</a:t>
            </a:r>
            <a:r>
              <a:rPr lang="en-US" dirty="0">
                <a:solidFill>
                  <a:srgbClr val="0D0D0D"/>
                </a:solidFill>
                <a:latin typeface="Consolas" panose="020B0609020204030204" pitchFamily="49" charset="0"/>
              </a:rPr>
              <a:t> </a:t>
            </a:r>
            <a:r>
              <a:rPr lang="en-US" dirty="0">
                <a:solidFill>
                  <a:srgbClr val="7030A0"/>
                </a:solidFill>
                <a:latin typeface="Consolas" panose="020B0609020204030204" pitchFamily="49" charset="0"/>
              </a:rPr>
              <a:t>BY</a:t>
            </a:r>
            <a:r>
              <a:rPr lang="en-US" dirty="0">
                <a:solidFill>
                  <a:srgbClr val="0D0D0D"/>
                </a:solidFill>
                <a:latin typeface="Consolas" panose="020B0609020204030204" pitchFamily="49" charset="0"/>
              </a:rPr>
              <a:t> </a:t>
            </a:r>
            <a:r>
              <a:rPr lang="en-US" dirty="0" err="1">
                <a:solidFill>
                  <a:srgbClr val="0D0D0D"/>
                </a:solidFill>
                <a:latin typeface="Consolas" panose="020B0609020204030204" pitchFamily="49" charset="0"/>
              </a:rPr>
              <a:t>categoria</a:t>
            </a:r>
            <a:r>
              <a:rPr lang="en-US" dirty="0">
                <a:solidFill>
                  <a:srgbClr val="0D0D0D"/>
                </a:solidFill>
                <a:latin typeface="Consolas" panose="020B0609020204030204" pitchFamily="49" charset="0"/>
              </a:rPr>
              <a:t>;</a:t>
            </a:r>
          </a:p>
          <a:p>
            <a:pPr lvl="1">
              <a:spcAft>
                <a:spcPts val="1200"/>
              </a:spcAft>
            </a:pPr>
            <a:endParaRPr lang="es-MX" dirty="0">
              <a:solidFill>
                <a:srgbClr val="0D0D0D"/>
              </a:solidFill>
              <a:latin typeface="ui-sans-serif"/>
            </a:endParaRPr>
          </a:p>
          <a:p>
            <a:endParaRPr lang="es-CO" dirty="0"/>
          </a:p>
        </p:txBody>
      </p:sp>
    </p:spTree>
    <p:extLst>
      <p:ext uri="{BB962C8B-B14F-4D97-AF65-F5344CB8AC3E}">
        <p14:creationId xmlns:p14="http://schemas.microsoft.com/office/powerpoint/2010/main" val="1176665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5DEDC-729A-BEAB-E1C8-2CD95BFE3053}"/>
              </a:ext>
            </a:extLst>
          </p:cNvPr>
          <p:cNvSpPr>
            <a:spLocks noGrp="1"/>
          </p:cNvSpPr>
          <p:nvPr>
            <p:ph type="title"/>
          </p:nvPr>
        </p:nvSpPr>
        <p:spPr/>
        <p:txBody>
          <a:bodyPr/>
          <a:lstStyle/>
          <a:p>
            <a:r>
              <a:rPr lang="es-CO" b="1" dirty="0">
                <a:solidFill>
                  <a:srgbClr val="0D0D0D"/>
                </a:solidFill>
              </a:rPr>
              <a:t>HAVING: filtrar grupos</a:t>
            </a:r>
            <a:endParaRPr lang="es-CO" dirty="0"/>
          </a:p>
        </p:txBody>
      </p:sp>
      <p:sp>
        <p:nvSpPr>
          <p:cNvPr id="3" name="Marcador de contenido 2">
            <a:extLst>
              <a:ext uri="{FF2B5EF4-FFF2-40B4-BE49-F238E27FC236}">
                <a16:creationId xmlns:a16="http://schemas.microsoft.com/office/drawing/2014/main" id="{100EF3F3-A768-52E9-0EBA-9C4A2BDB60E7}"/>
              </a:ext>
            </a:extLst>
          </p:cNvPr>
          <p:cNvSpPr>
            <a:spLocks noGrp="1"/>
          </p:cNvSpPr>
          <p:nvPr>
            <p:ph idx="1"/>
          </p:nvPr>
        </p:nvSpPr>
        <p:spPr/>
        <p:txBody>
          <a:bodyPr anchor="ctr"/>
          <a:lstStyle/>
          <a:p>
            <a:r>
              <a:rPr lang="es-MX" dirty="0"/>
              <a:t>Actúa después de GROUP BY; admite funciones agregadas.</a:t>
            </a:r>
          </a:p>
          <a:p>
            <a:r>
              <a:rPr lang="es-MX" dirty="0"/>
              <a:t>Ejemplo</a:t>
            </a:r>
          </a:p>
          <a:p>
            <a:pPr marL="457200" lvl="1" indent="0">
              <a:buNone/>
            </a:pPr>
            <a:r>
              <a:rPr lang="es-MX" dirty="0">
                <a:solidFill>
                  <a:srgbClr val="7030A0"/>
                </a:solidFill>
                <a:latin typeface="Consolas" panose="020B0609020204030204" pitchFamily="49" charset="0"/>
              </a:rPr>
              <a:t>HAVING</a:t>
            </a:r>
            <a:r>
              <a:rPr lang="es-MX" dirty="0">
                <a:latin typeface="Consolas" panose="020B0609020204030204" pitchFamily="49" charset="0"/>
              </a:rPr>
              <a:t> </a:t>
            </a:r>
            <a:r>
              <a:rPr lang="es-MX" dirty="0">
                <a:solidFill>
                  <a:schemeClr val="accent2">
                    <a:lumMod val="75000"/>
                  </a:schemeClr>
                </a:solidFill>
                <a:latin typeface="Consolas" panose="020B0609020204030204" pitchFamily="49" charset="0"/>
              </a:rPr>
              <a:t>COUNT</a:t>
            </a:r>
            <a:r>
              <a:rPr lang="es-MX" dirty="0">
                <a:latin typeface="Consolas" panose="020B0609020204030204" pitchFamily="49" charset="0"/>
              </a:rPr>
              <a:t>(*) &gt; 50;</a:t>
            </a:r>
          </a:p>
          <a:p>
            <a:r>
              <a:rPr lang="es-MX" dirty="0"/>
              <a:t>Útil para conservar solo grupos “grandes” o “rentables”.</a:t>
            </a:r>
            <a:endParaRPr lang="es-CO" dirty="0"/>
          </a:p>
        </p:txBody>
      </p:sp>
    </p:spTree>
    <p:extLst>
      <p:ext uri="{BB962C8B-B14F-4D97-AF65-F5344CB8AC3E}">
        <p14:creationId xmlns:p14="http://schemas.microsoft.com/office/powerpoint/2010/main" val="91836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13FF96-CD93-E984-8D2D-6B7E55304681}"/>
              </a:ext>
            </a:extLst>
          </p:cNvPr>
          <p:cNvSpPr>
            <a:spLocks noGrp="1"/>
          </p:cNvSpPr>
          <p:nvPr>
            <p:ph type="title"/>
          </p:nvPr>
        </p:nvSpPr>
        <p:spPr/>
        <p:txBody>
          <a:bodyPr/>
          <a:lstStyle/>
          <a:p>
            <a:r>
              <a:rPr lang="es-CO" b="1" dirty="0">
                <a:solidFill>
                  <a:srgbClr val="0D0D0D"/>
                </a:solidFill>
              </a:rPr>
              <a:t>LIMIT y OFFSET</a:t>
            </a:r>
            <a:endParaRPr lang="es-CO" dirty="0"/>
          </a:p>
        </p:txBody>
      </p:sp>
      <p:sp>
        <p:nvSpPr>
          <p:cNvPr id="3" name="Marcador de contenido 2">
            <a:extLst>
              <a:ext uri="{FF2B5EF4-FFF2-40B4-BE49-F238E27FC236}">
                <a16:creationId xmlns:a16="http://schemas.microsoft.com/office/drawing/2014/main" id="{F4E9A7B7-0D15-E0C9-604A-4DABB0CAB2F6}"/>
              </a:ext>
            </a:extLst>
          </p:cNvPr>
          <p:cNvSpPr>
            <a:spLocks noGrp="1"/>
          </p:cNvSpPr>
          <p:nvPr>
            <p:ph idx="1"/>
          </p:nvPr>
        </p:nvSpPr>
        <p:spPr/>
        <p:txBody>
          <a:bodyPr anchor="ctr"/>
          <a:lstStyle/>
          <a:p>
            <a:r>
              <a:rPr lang="es-MX" dirty="0">
                <a:solidFill>
                  <a:srgbClr val="0D0D0D"/>
                </a:solidFill>
              </a:rPr>
              <a:t>Restringe el número de filas devueltas (paginación).</a:t>
            </a:r>
          </a:p>
          <a:p>
            <a:pPr lvl="1"/>
            <a:r>
              <a:rPr lang="sv-SE" dirty="0">
                <a:solidFill>
                  <a:srgbClr val="7030A0"/>
                </a:solidFill>
                <a:latin typeface="Consolas" panose="020B0609020204030204" pitchFamily="49" charset="0"/>
              </a:rPr>
              <a:t>LIMIT</a:t>
            </a:r>
            <a:r>
              <a:rPr lang="sv-SE" dirty="0">
                <a:solidFill>
                  <a:srgbClr val="0D0D0D"/>
                </a:solidFill>
                <a:latin typeface="Consolas" panose="020B0609020204030204" pitchFamily="49" charset="0"/>
              </a:rPr>
              <a:t> 10 </a:t>
            </a:r>
            <a:r>
              <a:rPr lang="sv-SE" dirty="0">
                <a:solidFill>
                  <a:srgbClr val="7030A0"/>
                </a:solidFill>
                <a:latin typeface="Consolas" panose="020B0609020204030204" pitchFamily="49" charset="0"/>
              </a:rPr>
              <a:t>OFFSET</a:t>
            </a:r>
            <a:r>
              <a:rPr lang="sv-SE" dirty="0">
                <a:solidFill>
                  <a:srgbClr val="0D0D0D"/>
                </a:solidFill>
                <a:latin typeface="Consolas" panose="020B0609020204030204" pitchFamily="49" charset="0"/>
              </a:rPr>
              <a:t> 20;</a:t>
            </a:r>
          </a:p>
          <a:p>
            <a:pPr lvl="2"/>
            <a:r>
              <a:rPr lang="sv-SE" sz="2800" dirty="0">
                <a:solidFill>
                  <a:srgbClr val="0D0D0D"/>
                </a:solidFill>
                <a:latin typeface="ui-sans-serif"/>
              </a:rPr>
              <a:t>Devuelve las filas 21-30</a:t>
            </a:r>
            <a:endParaRPr lang="es-MX" sz="2800" dirty="0">
              <a:solidFill>
                <a:srgbClr val="0D0D0D"/>
              </a:solidFill>
              <a:latin typeface="ui-sans-serif"/>
            </a:endParaRPr>
          </a:p>
          <a:p>
            <a:pPr>
              <a:spcAft>
                <a:spcPts val="1200"/>
              </a:spcAft>
            </a:pPr>
            <a:r>
              <a:rPr lang="es-MX" dirty="0">
                <a:solidFill>
                  <a:srgbClr val="0D0D0D"/>
                </a:solidFill>
              </a:rPr>
              <a:t>En SQL Server se usa TOP, en Oracle FETCH FIRST.</a:t>
            </a:r>
          </a:p>
          <a:p>
            <a:pPr>
              <a:spcAft>
                <a:spcPts val="1200"/>
              </a:spcAft>
            </a:pPr>
            <a:r>
              <a:rPr lang="es-MX" dirty="0">
                <a:solidFill>
                  <a:srgbClr val="0D0D0D"/>
                </a:solidFill>
              </a:rPr>
              <a:t>Ideal para </a:t>
            </a:r>
            <a:r>
              <a:rPr lang="es-MX" dirty="0" err="1">
                <a:solidFill>
                  <a:srgbClr val="0D0D0D"/>
                </a:solidFill>
              </a:rPr>
              <a:t>APIs</a:t>
            </a:r>
            <a:r>
              <a:rPr lang="es-MX" dirty="0">
                <a:solidFill>
                  <a:srgbClr val="0D0D0D"/>
                </a:solidFill>
              </a:rPr>
              <a:t> o </a:t>
            </a:r>
            <a:r>
              <a:rPr lang="es-MX" dirty="0" err="1">
                <a:solidFill>
                  <a:srgbClr val="0D0D0D"/>
                </a:solidFill>
              </a:rPr>
              <a:t>dashboards</a:t>
            </a:r>
            <a:r>
              <a:rPr lang="es-MX" dirty="0">
                <a:solidFill>
                  <a:srgbClr val="0D0D0D"/>
                </a:solidFill>
              </a:rPr>
              <a:t> que muestran lotes de datos.</a:t>
            </a:r>
            <a:endParaRPr lang="es-CO" dirty="0"/>
          </a:p>
        </p:txBody>
      </p:sp>
    </p:spTree>
    <p:extLst>
      <p:ext uri="{BB962C8B-B14F-4D97-AF65-F5344CB8AC3E}">
        <p14:creationId xmlns:p14="http://schemas.microsoft.com/office/powerpoint/2010/main" val="2391248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1877C5-BC93-7905-E494-4D8ADBBEE53D}"/>
              </a:ext>
            </a:extLst>
          </p:cNvPr>
          <p:cNvSpPr>
            <a:spLocks noGrp="1"/>
          </p:cNvSpPr>
          <p:nvPr>
            <p:ph type="title"/>
          </p:nvPr>
        </p:nvSpPr>
        <p:spPr/>
        <p:txBody>
          <a:bodyPr/>
          <a:lstStyle/>
          <a:p>
            <a:r>
              <a:rPr lang="es-CO" b="1" dirty="0">
                <a:solidFill>
                  <a:srgbClr val="0D0D0D"/>
                </a:solidFill>
              </a:rPr>
              <a:t>JOIN: combinar tablas</a:t>
            </a:r>
            <a:endParaRPr lang="es-CO" dirty="0"/>
          </a:p>
        </p:txBody>
      </p:sp>
      <p:graphicFrame>
        <p:nvGraphicFramePr>
          <p:cNvPr id="4" name="Marcador de contenido 3">
            <a:extLst>
              <a:ext uri="{FF2B5EF4-FFF2-40B4-BE49-F238E27FC236}">
                <a16:creationId xmlns:a16="http://schemas.microsoft.com/office/drawing/2014/main" id="{7B27CC56-A609-255D-1C79-A845A93477F4}"/>
              </a:ext>
            </a:extLst>
          </p:cNvPr>
          <p:cNvGraphicFramePr>
            <a:graphicFrameLocks noGrp="1"/>
          </p:cNvGraphicFramePr>
          <p:nvPr>
            <p:ph idx="1"/>
            <p:extLst>
              <p:ext uri="{D42A27DB-BD31-4B8C-83A1-F6EECF244321}">
                <p14:modId xmlns:p14="http://schemas.microsoft.com/office/powerpoint/2010/main" val="2333565203"/>
              </p:ext>
            </p:extLst>
          </p:nvPr>
        </p:nvGraphicFramePr>
        <p:xfrm>
          <a:off x="838200" y="2812574"/>
          <a:ext cx="10515600" cy="2377440"/>
        </p:xfrm>
        <a:graphic>
          <a:graphicData uri="http://schemas.openxmlformats.org/drawingml/2006/table">
            <a:tbl>
              <a:tblPr firstRow="1" bandRow="1">
                <a:tableStyleId>{9D7B26C5-4107-4FEC-AEDC-1716B250A1EF}</a:tableStyleId>
              </a:tblPr>
              <a:tblGrid>
                <a:gridCol w="3505200">
                  <a:extLst>
                    <a:ext uri="{9D8B030D-6E8A-4147-A177-3AD203B41FA5}">
                      <a16:colId xmlns:a16="http://schemas.microsoft.com/office/drawing/2014/main" val="2374760161"/>
                    </a:ext>
                  </a:extLst>
                </a:gridCol>
                <a:gridCol w="3505200">
                  <a:extLst>
                    <a:ext uri="{9D8B030D-6E8A-4147-A177-3AD203B41FA5}">
                      <a16:colId xmlns:a16="http://schemas.microsoft.com/office/drawing/2014/main" val="573851166"/>
                    </a:ext>
                  </a:extLst>
                </a:gridCol>
                <a:gridCol w="3505200">
                  <a:extLst>
                    <a:ext uri="{9D8B030D-6E8A-4147-A177-3AD203B41FA5}">
                      <a16:colId xmlns:a16="http://schemas.microsoft.com/office/drawing/2014/main" val="1304704590"/>
                    </a:ext>
                  </a:extLst>
                </a:gridCol>
              </a:tblGrid>
              <a:tr h="0">
                <a:tc>
                  <a:txBody>
                    <a:bodyPr/>
                    <a:lstStyle/>
                    <a:p>
                      <a:r>
                        <a:rPr lang="es-CO"/>
                        <a:t>Tipo</a:t>
                      </a:r>
                    </a:p>
                  </a:txBody>
                  <a:tcPr anchor="ctr"/>
                </a:tc>
                <a:tc>
                  <a:txBody>
                    <a:bodyPr/>
                    <a:lstStyle/>
                    <a:p>
                      <a:r>
                        <a:rPr lang="es-CO"/>
                        <a:t>Sintaxis breve</a:t>
                      </a:r>
                    </a:p>
                  </a:txBody>
                  <a:tcPr anchor="ctr"/>
                </a:tc>
                <a:tc>
                  <a:txBody>
                    <a:bodyPr/>
                    <a:lstStyle/>
                    <a:p>
                      <a:r>
                        <a:rPr lang="es-CO"/>
                        <a:t>Propósito</a:t>
                      </a:r>
                    </a:p>
                  </a:txBody>
                  <a:tcPr anchor="ctr"/>
                </a:tc>
                <a:extLst>
                  <a:ext uri="{0D108BD9-81ED-4DB2-BD59-A6C34878D82A}">
                    <a16:rowId xmlns:a16="http://schemas.microsoft.com/office/drawing/2014/main" val="3377520544"/>
                  </a:ext>
                </a:extLst>
              </a:tr>
              <a:tr h="0">
                <a:tc>
                  <a:txBody>
                    <a:bodyPr/>
                    <a:lstStyle/>
                    <a:p>
                      <a:r>
                        <a:rPr lang="es-CO" b="1"/>
                        <a:t>INNER</a:t>
                      </a:r>
                      <a:endParaRPr lang="es-CO"/>
                    </a:p>
                  </a:txBody>
                  <a:tcPr anchor="ctr"/>
                </a:tc>
                <a:tc>
                  <a:txBody>
                    <a:bodyPr/>
                    <a:lstStyle/>
                    <a:p>
                      <a:r>
                        <a:rPr lang="es-CO"/>
                        <a:t>A JOIN B ON …</a:t>
                      </a:r>
                    </a:p>
                  </a:txBody>
                  <a:tcPr anchor="ctr"/>
                </a:tc>
                <a:tc>
                  <a:txBody>
                    <a:bodyPr/>
                    <a:lstStyle/>
                    <a:p>
                      <a:r>
                        <a:rPr lang="es-CO"/>
                        <a:t>Solo coincidencias.</a:t>
                      </a:r>
                    </a:p>
                  </a:txBody>
                  <a:tcPr anchor="ctr"/>
                </a:tc>
                <a:extLst>
                  <a:ext uri="{0D108BD9-81ED-4DB2-BD59-A6C34878D82A}">
                    <a16:rowId xmlns:a16="http://schemas.microsoft.com/office/drawing/2014/main" val="1552192781"/>
                  </a:ext>
                </a:extLst>
              </a:tr>
              <a:tr h="0">
                <a:tc>
                  <a:txBody>
                    <a:bodyPr/>
                    <a:lstStyle/>
                    <a:p>
                      <a:r>
                        <a:rPr lang="es-CO" b="1"/>
                        <a:t>LEFT</a:t>
                      </a:r>
                      <a:endParaRPr lang="es-CO"/>
                    </a:p>
                  </a:txBody>
                  <a:tcPr anchor="ctr"/>
                </a:tc>
                <a:tc>
                  <a:txBody>
                    <a:bodyPr/>
                    <a:lstStyle/>
                    <a:p>
                      <a:r>
                        <a:rPr lang="es-CO"/>
                        <a:t>A LEFT JOIN B …</a:t>
                      </a:r>
                    </a:p>
                  </a:txBody>
                  <a:tcPr anchor="ctr"/>
                </a:tc>
                <a:tc>
                  <a:txBody>
                    <a:bodyPr/>
                    <a:lstStyle/>
                    <a:p>
                      <a:r>
                        <a:rPr lang="es-MX"/>
                        <a:t>Mantiene filas de A aunque no coincidan.</a:t>
                      </a:r>
                    </a:p>
                  </a:txBody>
                  <a:tcPr anchor="ctr"/>
                </a:tc>
                <a:extLst>
                  <a:ext uri="{0D108BD9-81ED-4DB2-BD59-A6C34878D82A}">
                    <a16:rowId xmlns:a16="http://schemas.microsoft.com/office/drawing/2014/main" val="1478376571"/>
                  </a:ext>
                </a:extLst>
              </a:tr>
              <a:tr h="0">
                <a:tc>
                  <a:txBody>
                    <a:bodyPr/>
                    <a:lstStyle/>
                    <a:p>
                      <a:r>
                        <a:rPr lang="es-CO" b="1"/>
                        <a:t>RIGHT</a:t>
                      </a:r>
                      <a:endParaRPr lang="es-CO"/>
                    </a:p>
                  </a:txBody>
                  <a:tcPr anchor="ctr"/>
                </a:tc>
                <a:tc>
                  <a:txBody>
                    <a:bodyPr/>
                    <a:lstStyle/>
                    <a:p>
                      <a:r>
                        <a:rPr lang="es-CO"/>
                        <a:t>A RIGHT JOIN B …</a:t>
                      </a:r>
                    </a:p>
                  </a:txBody>
                  <a:tcPr anchor="ctr"/>
                </a:tc>
                <a:tc>
                  <a:txBody>
                    <a:bodyPr/>
                    <a:lstStyle/>
                    <a:p>
                      <a:r>
                        <a:rPr lang="es-CO"/>
                        <a:t>Simétrico al anterior.</a:t>
                      </a:r>
                    </a:p>
                  </a:txBody>
                  <a:tcPr anchor="ctr"/>
                </a:tc>
                <a:extLst>
                  <a:ext uri="{0D108BD9-81ED-4DB2-BD59-A6C34878D82A}">
                    <a16:rowId xmlns:a16="http://schemas.microsoft.com/office/drawing/2014/main" val="2997468495"/>
                  </a:ext>
                </a:extLst>
              </a:tr>
              <a:tr h="0">
                <a:tc>
                  <a:txBody>
                    <a:bodyPr/>
                    <a:lstStyle/>
                    <a:p>
                      <a:r>
                        <a:rPr lang="es-CO" b="1" dirty="0"/>
                        <a:t>FULL</a:t>
                      </a:r>
                      <a:endParaRPr lang="es-CO" dirty="0"/>
                    </a:p>
                  </a:txBody>
                  <a:tcPr anchor="ctr"/>
                </a:tc>
                <a:tc>
                  <a:txBody>
                    <a:bodyPr/>
                    <a:lstStyle/>
                    <a:p>
                      <a:r>
                        <a:rPr lang="es-CO"/>
                        <a:t>A FULL JOIN B …</a:t>
                      </a:r>
                    </a:p>
                  </a:txBody>
                  <a:tcPr anchor="ctr"/>
                </a:tc>
                <a:tc>
                  <a:txBody>
                    <a:bodyPr/>
                    <a:lstStyle/>
                    <a:p>
                      <a:r>
                        <a:rPr lang="es-MX" dirty="0"/>
                        <a:t>Une todas las filas de ambos lados.</a:t>
                      </a:r>
                    </a:p>
                  </a:txBody>
                  <a:tcPr anchor="ctr"/>
                </a:tc>
                <a:extLst>
                  <a:ext uri="{0D108BD9-81ED-4DB2-BD59-A6C34878D82A}">
                    <a16:rowId xmlns:a16="http://schemas.microsoft.com/office/drawing/2014/main" val="120303323"/>
                  </a:ext>
                </a:extLst>
              </a:tr>
            </a:tbl>
          </a:graphicData>
        </a:graphic>
      </p:graphicFrame>
    </p:spTree>
    <p:extLst>
      <p:ext uri="{BB962C8B-B14F-4D97-AF65-F5344CB8AC3E}">
        <p14:creationId xmlns:p14="http://schemas.microsoft.com/office/powerpoint/2010/main" val="402389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E82E38-79B1-3A5C-286D-9E0D7571EC43}"/>
              </a:ext>
            </a:extLst>
          </p:cNvPr>
          <p:cNvSpPr>
            <a:spLocks noGrp="1"/>
          </p:cNvSpPr>
          <p:nvPr>
            <p:ph type="title"/>
          </p:nvPr>
        </p:nvSpPr>
        <p:spPr/>
        <p:txBody>
          <a:bodyPr/>
          <a:lstStyle/>
          <a:p>
            <a:r>
              <a:rPr lang="es-CO" b="1" dirty="0">
                <a:solidFill>
                  <a:srgbClr val="0D0D0D"/>
                </a:solidFill>
              </a:rPr>
              <a:t>JOIN: combinar tablas</a:t>
            </a:r>
            <a:endParaRPr lang="es-CO" dirty="0"/>
          </a:p>
        </p:txBody>
      </p:sp>
      <p:pic>
        <p:nvPicPr>
          <p:cNvPr id="17410" name="Picture 2" descr="SQL Joins. Types of Joins | by Okan Yenigün | Dev Genius">
            <a:extLst>
              <a:ext uri="{FF2B5EF4-FFF2-40B4-BE49-F238E27FC236}">
                <a16:creationId xmlns:a16="http://schemas.microsoft.com/office/drawing/2014/main" id="{7AD4AD33-DC67-C9C1-9346-2D1F62ABACF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7357" y="1825625"/>
            <a:ext cx="593728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710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5E643-0B44-E3D2-D48C-F14D67302A45}"/>
              </a:ext>
            </a:extLst>
          </p:cNvPr>
          <p:cNvSpPr>
            <a:spLocks noGrp="1"/>
          </p:cNvSpPr>
          <p:nvPr>
            <p:ph type="title"/>
          </p:nvPr>
        </p:nvSpPr>
        <p:spPr/>
        <p:txBody>
          <a:bodyPr/>
          <a:lstStyle/>
          <a:p>
            <a:r>
              <a:rPr lang="es-CO" b="1" dirty="0">
                <a:solidFill>
                  <a:srgbClr val="0D0D0D"/>
                </a:solidFill>
              </a:rPr>
              <a:t>JOIN: combinar tablas</a:t>
            </a:r>
            <a:endParaRPr lang="es-CO" dirty="0"/>
          </a:p>
        </p:txBody>
      </p:sp>
      <p:sp>
        <p:nvSpPr>
          <p:cNvPr id="3" name="Marcador de contenido 2">
            <a:extLst>
              <a:ext uri="{FF2B5EF4-FFF2-40B4-BE49-F238E27FC236}">
                <a16:creationId xmlns:a16="http://schemas.microsoft.com/office/drawing/2014/main" id="{13C2D1A6-4C16-F3D2-0347-2D80F7C4F340}"/>
              </a:ext>
            </a:extLst>
          </p:cNvPr>
          <p:cNvSpPr>
            <a:spLocks noGrp="1"/>
          </p:cNvSpPr>
          <p:nvPr>
            <p:ph idx="1"/>
          </p:nvPr>
        </p:nvSpPr>
        <p:spPr/>
        <p:txBody>
          <a:bodyPr anchor="ctr"/>
          <a:lstStyle/>
          <a:p>
            <a:r>
              <a:rPr lang="es-CO" dirty="0"/>
              <a:t>Ejemplo Python</a:t>
            </a:r>
          </a:p>
          <a:p>
            <a:pPr marL="457200" lvl="1" indent="0">
              <a:buNone/>
            </a:pPr>
            <a:r>
              <a:rPr lang="es-CO" dirty="0">
                <a:solidFill>
                  <a:srgbClr val="7030A0"/>
                </a:solidFill>
                <a:latin typeface="Consolas" panose="020B0609020204030204" pitchFamily="49" charset="0"/>
              </a:rPr>
              <a:t>SELECT</a:t>
            </a:r>
            <a:r>
              <a:rPr lang="es-CO" dirty="0">
                <a:latin typeface="Consolas" panose="020B0609020204030204" pitchFamily="49" charset="0"/>
              </a:rPr>
              <a:t> </a:t>
            </a:r>
            <a:r>
              <a:rPr lang="es-CO" dirty="0" err="1">
                <a:solidFill>
                  <a:schemeClr val="accent6">
                    <a:lumMod val="75000"/>
                  </a:schemeClr>
                </a:solidFill>
                <a:latin typeface="Consolas" panose="020B0609020204030204" pitchFamily="49" charset="0"/>
              </a:rPr>
              <a:t>c</a:t>
            </a:r>
            <a:r>
              <a:rPr lang="es-CO" dirty="0" err="1">
                <a:latin typeface="Consolas" panose="020B0609020204030204" pitchFamily="49" charset="0"/>
              </a:rPr>
              <a:t>.nombre</a:t>
            </a:r>
            <a:r>
              <a:rPr lang="es-CO" dirty="0">
                <a:latin typeface="Consolas" panose="020B0609020204030204" pitchFamily="49" charset="0"/>
              </a:rPr>
              <a:t>, SUM(</a:t>
            </a:r>
            <a:r>
              <a:rPr lang="es-CO" dirty="0" err="1">
                <a:solidFill>
                  <a:schemeClr val="accent6">
                    <a:lumMod val="75000"/>
                  </a:schemeClr>
                </a:solidFill>
                <a:latin typeface="Consolas" panose="020B0609020204030204" pitchFamily="49" charset="0"/>
              </a:rPr>
              <a:t>v</a:t>
            </a:r>
            <a:r>
              <a:rPr lang="es-CO" dirty="0" err="1">
                <a:latin typeface="Consolas" panose="020B0609020204030204" pitchFamily="49" charset="0"/>
              </a:rPr>
              <a:t>.monto</a:t>
            </a:r>
            <a:r>
              <a:rPr lang="es-CO" dirty="0">
                <a:latin typeface="Consolas" panose="020B0609020204030204" pitchFamily="49" charset="0"/>
              </a:rPr>
              <a:t>) AS ventas</a:t>
            </a:r>
          </a:p>
          <a:p>
            <a:pPr marL="457200" lvl="1" indent="0">
              <a:buNone/>
            </a:pPr>
            <a:r>
              <a:rPr lang="es-CO" dirty="0">
                <a:solidFill>
                  <a:srgbClr val="7030A0"/>
                </a:solidFill>
                <a:latin typeface="Consolas" panose="020B0609020204030204" pitchFamily="49" charset="0"/>
              </a:rPr>
              <a:t>FROM</a:t>
            </a:r>
            <a:r>
              <a:rPr lang="es-CO" dirty="0">
                <a:latin typeface="Consolas" panose="020B0609020204030204" pitchFamily="49" charset="0"/>
              </a:rPr>
              <a:t> </a:t>
            </a:r>
            <a:r>
              <a:rPr lang="es-CO" dirty="0">
                <a:solidFill>
                  <a:schemeClr val="accent6">
                    <a:lumMod val="75000"/>
                  </a:schemeClr>
                </a:solidFill>
                <a:latin typeface="Consolas" panose="020B0609020204030204" pitchFamily="49" charset="0"/>
              </a:rPr>
              <a:t>clientes</a:t>
            </a:r>
            <a:r>
              <a:rPr lang="es-CO" dirty="0">
                <a:latin typeface="Consolas" panose="020B0609020204030204" pitchFamily="49" charset="0"/>
              </a:rPr>
              <a:t> </a:t>
            </a:r>
            <a:r>
              <a:rPr lang="es-CO" dirty="0">
                <a:solidFill>
                  <a:schemeClr val="accent6">
                    <a:lumMod val="75000"/>
                  </a:schemeClr>
                </a:solidFill>
                <a:latin typeface="Consolas" panose="020B0609020204030204" pitchFamily="49" charset="0"/>
              </a:rPr>
              <a:t>c</a:t>
            </a:r>
          </a:p>
          <a:p>
            <a:pPr marL="457200" lvl="1" indent="0">
              <a:buNone/>
            </a:pPr>
            <a:r>
              <a:rPr lang="es-CO" dirty="0">
                <a:solidFill>
                  <a:srgbClr val="7030A0"/>
                </a:solidFill>
                <a:latin typeface="Consolas" panose="020B0609020204030204" pitchFamily="49" charset="0"/>
              </a:rPr>
              <a:t>JOIN</a:t>
            </a:r>
            <a:r>
              <a:rPr lang="es-CO" dirty="0">
                <a:latin typeface="Consolas" panose="020B0609020204030204" pitchFamily="49" charset="0"/>
              </a:rPr>
              <a:t> </a:t>
            </a:r>
            <a:r>
              <a:rPr lang="es-CO" dirty="0">
                <a:solidFill>
                  <a:schemeClr val="accent6">
                    <a:lumMod val="75000"/>
                  </a:schemeClr>
                </a:solidFill>
                <a:latin typeface="Consolas" panose="020B0609020204030204" pitchFamily="49" charset="0"/>
              </a:rPr>
              <a:t>ventas</a:t>
            </a:r>
            <a:r>
              <a:rPr lang="es-CO" dirty="0">
                <a:latin typeface="Consolas" panose="020B0609020204030204" pitchFamily="49" charset="0"/>
              </a:rPr>
              <a:t> </a:t>
            </a:r>
            <a:r>
              <a:rPr lang="es-CO" dirty="0">
                <a:solidFill>
                  <a:schemeClr val="accent6">
                    <a:lumMod val="75000"/>
                  </a:schemeClr>
                </a:solidFill>
                <a:latin typeface="Consolas" panose="020B0609020204030204" pitchFamily="49" charset="0"/>
              </a:rPr>
              <a:t>v</a:t>
            </a:r>
            <a:r>
              <a:rPr lang="es-CO" dirty="0">
                <a:latin typeface="Consolas" panose="020B0609020204030204" pitchFamily="49" charset="0"/>
              </a:rPr>
              <a:t> ON </a:t>
            </a:r>
            <a:r>
              <a:rPr lang="es-CO" dirty="0" err="1">
                <a:latin typeface="Consolas" panose="020B0609020204030204" pitchFamily="49" charset="0"/>
              </a:rPr>
              <a:t>c.id</a:t>
            </a:r>
            <a:r>
              <a:rPr lang="es-CO" dirty="0">
                <a:latin typeface="Consolas" panose="020B0609020204030204" pitchFamily="49" charset="0"/>
              </a:rPr>
              <a:t> = </a:t>
            </a:r>
            <a:r>
              <a:rPr lang="es-CO" dirty="0" err="1">
                <a:latin typeface="Consolas" panose="020B0609020204030204" pitchFamily="49" charset="0"/>
              </a:rPr>
              <a:t>v.cliente_id</a:t>
            </a:r>
            <a:endParaRPr lang="es-CO" dirty="0">
              <a:latin typeface="Consolas" panose="020B0609020204030204" pitchFamily="49" charset="0"/>
            </a:endParaRPr>
          </a:p>
          <a:p>
            <a:pPr marL="457200" lvl="1" indent="0">
              <a:buNone/>
            </a:pPr>
            <a:r>
              <a:rPr lang="es-CO" dirty="0">
                <a:solidFill>
                  <a:srgbClr val="7030A0"/>
                </a:solidFill>
                <a:latin typeface="Consolas" panose="020B0609020204030204" pitchFamily="49" charset="0"/>
              </a:rPr>
              <a:t>GROUP</a:t>
            </a:r>
            <a:r>
              <a:rPr lang="es-CO" dirty="0">
                <a:latin typeface="Consolas" panose="020B0609020204030204" pitchFamily="49" charset="0"/>
              </a:rPr>
              <a:t> BY </a:t>
            </a:r>
            <a:r>
              <a:rPr lang="es-CO" dirty="0" err="1">
                <a:latin typeface="Consolas" panose="020B0609020204030204" pitchFamily="49" charset="0"/>
              </a:rPr>
              <a:t>c.id</a:t>
            </a:r>
            <a:r>
              <a:rPr lang="es-CO" dirty="0">
                <a:latin typeface="Consolas" panose="020B0609020204030204" pitchFamily="49" charset="0"/>
              </a:rPr>
              <a:t>;</a:t>
            </a:r>
          </a:p>
          <a:p>
            <a:endParaRPr lang="es-CO" dirty="0"/>
          </a:p>
          <a:p>
            <a:r>
              <a:rPr lang="es-CO" dirty="0"/>
              <a:t>Buenas prácticas: </a:t>
            </a:r>
            <a:r>
              <a:rPr lang="es-MX" dirty="0"/>
              <a:t>Alias claros evitan ambigüedad: </a:t>
            </a:r>
            <a:r>
              <a:rPr lang="es-MX" dirty="0" err="1"/>
              <a:t>c.nombre</a:t>
            </a:r>
            <a:r>
              <a:rPr lang="es-MX" dirty="0"/>
              <a:t>, </a:t>
            </a:r>
            <a:r>
              <a:rPr lang="es-MX" dirty="0" err="1"/>
              <a:t>v.monto</a:t>
            </a:r>
            <a:r>
              <a:rPr lang="es-MX" dirty="0"/>
              <a:t>.</a:t>
            </a:r>
            <a:endParaRPr lang="es-CO" dirty="0"/>
          </a:p>
        </p:txBody>
      </p:sp>
    </p:spTree>
    <p:extLst>
      <p:ext uri="{BB962C8B-B14F-4D97-AF65-F5344CB8AC3E}">
        <p14:creationId xmlns:p14="http://schemas.microsoft.com/office/powerpoint/2010/main" val="32500890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5EEB55-A6CC-37FF-5A10-237271FCE655}"/>
              </a:ext>
            </a:extLst>
          </p:cNvPr>
          <p:cNvSpPr>
            <a:spLocks noGrp="1"/>
          </p:cNvSpPr>
          <p:nvPr>
            <p:ph type="title"/>
          </p:nvPr>
        </p:nvSpPr>
        <p:spPr/>
        <p:txBody>
          <a:bodyPr/>
          <a:lstStyle/>
          <a:p>
            <a:r>
              <a:rPr lang="es-MX" dirty="0"/>
              <a:t>Introducción a Big Data</a:t>
            </a:r>
            <a:endParaRPr lang="es-CO" dirty="0"/>
          </a:p>
        </p:txBody>
      </p:sp>
      <p:sp>
        <p:nvSpPr>
          <p:cNvPr id="3" name="Marcador de texto 2">
            <a:extLst>
              <a:ext uri="{FF2B5EF4-FFF2-40B4-BE49-F238E27FC236}">
                <a16:creationId xmlns:a16="http://schemas.microsoft.com/office/drawing/2014/main" id="{5E6B8248-849D-367A-A51D-83FF48573ABE}"/>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7725248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F2F8F6-B6A3-079D-93B1-37A6710BC68B}"/>
              </a:ext>
            </a:extLst>
          </p:cNvPr>
          <p:cNvSpPr>
            <a:spLocks noGrp="1"/>
          </p:cNvSpPr>
          <p:nvPr>
            <p:ph type="title"/>
          </p:nvPr>
        </p:nvSpPr>
        <p:spPr/>
        <p:txBody>
          <a:bodyPr/>
          <a:lstStyle/>
          <a:p>
            <a:r>
              <a:rPr lang="es-CO" dirty="0"/>
              <a:t>Motivación y contexto</a:t>
            </a:r>
          </a:p>
        </p:txBody>
      </p:sp>
      <p:sp>
        <p:nvSpPr>
          <p:cNvPr id="3" name="Marcador de contenido 2">
            <a:extLst>
              <a:ext uri="{FF2B5EF4-FFF2-40B4-BE49-F238E27FC236}">
                <a16:creationId xmlns:a16="http://schemas.microsoft.com/office/drawing/2014/main" id="{EF84F02D-7570-7035-F730-28BED4DE8EA9}"/>
              </a:ext>
            </a:extLst>
          </p:cNvPr>
          <p:cNvSpPr>
            <a:spLocks noGrp="1"/>
          </p:cNvSpPr>
          <p:nvPr>
            <p:ph idx="1"/>
          </p:nvPr>
        </p:nvSpPr>
        <p:spPr/>
        <p:txBody>
          <a:bodyPr anchor="ctr"/>
          <a:lstStyle/>
          <a:p>
            <a:r>
              <a:rPr lang="es-MX" dirty="0"/>
              <a:t>Explosión de datos desde 2010: redes sociales, sensores </a:t>
            </a:r>
            <a:r>
              <a:rPr lang="es-MX" dirty="0" err="1"/>
              <a:t>IoT</a:t>
            </a:r>
            <a:r>
              <a:rPr lang="es-MX" dirty="0"/>
              <a:t>, logs web, genómica.</a:t>
            </a:r>
          </a:p>
          <a:p>
            <a:r>
              <a:rPr lang="es-MX" dirty="0"/>
              <a:t>Demanda empresarial de analítica en tiempo real y/o histórica.</a:t>
            </a:r>
          </a:p>
          <a:p>
            <a:r>
              <a:rPr lang="es-MX" dirty="0"/>
              <a:t>Limitaciones RDBMS (Sistema de Gestión de Bases de Datos Relacionales): escalado vertical caro, latencias altas al procesar terabytes.</a:t>
            </a:r>
            <a:endParaRPr lang="es-CO" dirty="0"/>
          </a:p>
        </p:txBody>
      </p:sp>
    </p:spTree>
    <p:extLst>
      <p:ext uri="{BB962C8B-B14F-4D97-AF65-F5344CB8AC3E}">
        <p14:creationId xmlns:p14="http://schemas.microsoft.com/office/powerpoint/2010/main" val="3729424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Day in Data - Raconteur">
            <a:extLst>
              <a:ext uri="{FF2B5EF4-FFF2-40B4-BE49-F238E27FC236}">
                <a16:creationId xmlns:a16="http://schemas.microsoft.com/office/drawing/2014/main" id="{B41FDE5F-7857-01C7-53AB-FF6372B5278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581026" y="38119"/>
            <a:ext cx="11029948" cy="678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7209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56772-47AB-FB2F-BE83-665E52B2A90E}"/>
              </a:ext>
            </a:extLst>
          </p:cNvPr>
          <p:cNvSpPr>
            <a:spLocks noGrp="1"/>
          </p:cNvSpPr>
          <p:nvPr>
            <p:ph type="title"/>
          </p:nvPr>
        </p:nvSpPr>
        <p:spPr/>
        <p:txBody>
          <a:bodyPr/>
          <a:lstStyle/>
          <a:p>
            <a:r>
              <a:rPr lang="es-CO" dirty="0"/>
              <a:t>Definición formal de Big Data</a:t>
            </a:r>
          </a:p>
        </p:txBody>
      </p:sp>
      <p:sp>
        <p:nvSpPr>
          <p:cNvPr id="3" name="Marcador de contenido 2">
            <a:extLst>
              <a:ext uri="{FF2B5EF4-FFF2-40B4-BE49-F238E27FC236}">
                <a16:creationId xmlns:a16="http://schemas.microsoft.com/office/drawing/2014/main" id="{23466348-A105-6F15-9AE7-8AC71F163AB9}"/>
              </a:ext>
            </a:extLst>
          </p:cNvPr>
          <p:cNvSpPr>
            <a:spLocks noGrp="1"/>
          </p:cNvSpPr>
          <p:nvPr>
            <p:ph sz="half" idx="1"/>
          </p:nvPr>
        </p:nvSpPr>
        <p:spPr/>
        <p:txBody>
          <a:bodyPr anchor="ctr">
            <a:normAutofit lnSpcReduction="10000"/>
          </a:bodyPr>
          <a:lstStyle/>
          <a:p>
            <a:r>
              <a:rPr lang="es-MX" dirty="0"/>
              <a:t>“Conjunto de tecnologías y prácticas que permiten capturar, almacenar, procesar y analizar datos cuyo volumen, velocidad o variedad excede la capacidad de los sistemas convencionales” (Gartner).</a:t>
            </a:r>
          </a:p>
          <a:p>
            <a:r>
              <a:rPr lang="es-MX" dirty="0"/>
              <a:t>Esquema-</a:t>
            </a:r>
            <a:r>
              <a:rPr lang="es-MX" dirty="0" err="1"/>
              <a:t>on</a:t>
            </a:r>
            <a:r>
              <a:rPr lang="es-MX" dirty="0"/>
              <a:t>-</a:t>
            </a:r>
            <a:r>
              <a:rPr lang="es-MX" dirty="0" err="1"/>
              <a:t>read</a:t>
            </a:r>
            <a:r>
              <a:rPr lang="es-MX" dirty="0"/>
              <a:t>: estructura inferida durante la consulta, no al cargar.</a:t>
            </a:r>
          </a:p>
          <a:p>
            <a:r>
              <a:rPr lang="es-MX" dirty="0"/>
              <a:t>Paradigma </a:t>
            </a:r>
            <a:r>
              <a:rPr lang="es-MX" dirty="0" err="1"/>
              <a:t>scale-out</a:t>
            </a:r>
            <a:r>
              <a:rPr lang="es-MX" dirty="0"/>
              <a:t>: clústeres de hardware </a:t>
            </a:r>
            <a:r>
              <a:rPr lang="es-MX" dirty="0" err="1"/>
              <a:t>commodity</a:t>
            </a:r>
            <a:r>
              <a:rPr lang="es-MX" dirty="0"/>
              <a:t>.</a:t>
            </a:r>
            <a:endParaRPr lang="es-CO" dirty="0"/>
          </a:p>
        </p:txBody>
      </p:sp>
      <p:pic>
        <p:nvPicPr>
          <p:cNvPr id="10" name="Marcador de contenido 9">
            <a:extLst>
              <a:ext uri="{FF2B5EF4-FFF2-40B4-BE49-F238E27FC236}">
                <a16:creationId xmlns:a16="http://schemas.microsoft.com/office/drawing/2014/main" id="{D2330819-4277-E7FB-1496-F93F3FAF03F3}"/>
              </a:ext>
            </a:extLst>
          </p:cNvPr>
          <p:cNvPicPr>
            <a:picLocks noGrp="1" noChangeAspect="1"/>
          </p:cNvPicPr>
          <p:nvPr>
            <p:ph sz="half" idx="2"/>
          </p:nvPr>
        </p:nvPicPr>
        <p:blipFill>
          <a:blip r:embed="rId2"/>
          <a:stretch>
            <a:fillRect/>
          </a:stretch>
        </p:blipFill>
        <p:spPr>
          <a:xfrm>
            <a:off x="6172200" y="1830524"/>
            <a:ext cx="5181600" cy="4341540"/>
          </a:xfrm>
        </p:spPr>
      </p:pic>
    </p:spTree>
    <p:extLst>
      <p:ext uri="{BB962C8B-B14F-4D97-AF65-F5344CB8AC3E}">
        <p14:creationId xmlns:p14="http://schemas.microsoft.com/office/powerpoint/2010/main" val="1032580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FD7F8A-08D9-E490-7265-8FAEA371C3B1}"/>
              </a:ext>
            </a:extLst>
          </p:cNvPr>
          <p:cNvSpPr>
            <a:spLocks noGrp="1"/>
          </p:cNvSpPr>
          <p:nvPr>
            <p:ph type="title"/>
          </p:nvPr>
        </p:nvSpPr>
        <p:spPr/>
        <p:txBody>
          <a:bodyPr/>
          <a:lstStyle/>
          <a:p>
            <a:r>
              <a:rPr lang="es-MX" dirty="0"/>
              <a:t>Las 5 V con ejemplos</a:t>
            </a:r>
            <a:endParaRPr lang="es-CO" dirty="0"/>
          </a:p>
        </p:txBody>
      </p:sp>
      <p:graphicFrame>
        <p:nvGraphicFramePr>
          <p:cNvPr id="4" name="Table 2">
            <a:extLst>
              <a:ext uri="{FF2B5EF4-FFF2-40B4-BE49-F238E27FC236}">
                <a16:creationId xmlns:a16="http://schemas.microsoft.com/office/drawing/2014/main" id="{B2211D09-E188-CECF-05F5-947362EED88A}"/>
              </a:ext>
            </a:extLst>
          </p:cNvPr>
          <p:cNvGraphicFramePr>
            <a:graphicFrameLocks noGrp="1"/>
          </p:cNvGraphicFramePr>
          <p:nvPr>
            <p:ph sz="half" idx="1"/>
            <p:extLst>
              <p:ext uri="{D42A27DB-BD31-4B8C-83A1-F6EECF244321}">
                <p14:modId xmlns:p14="http://schemas.microsoft.com/office/powerpoint/2010/main" val="981116324"/>
              </p:ext>
            </p:extLst>
          </p:nvPr>
        </p:nvGraphicFramePr>
        <p:xfrm>
          <a:off x="363794" y="1825625"/>
          <a:ext cx="5656005" cy="4937760"/>
        </p:xfrm>
        <a:graphic>
          <a:graphicData uri="http://schemas.openxmlformats.org/drawingml/2006/table">
            <a:tbl>
              <a:tblPr firstRow="1" bandRow="1">
                <a:tableStyleId>{9D7B26C5-4107-4FEC-AEDC-1716B250A1EF}</a:tableStyleId>
              </a:tblPr>
              <a:tblGrid>
                <a:gridCol w="1885335">
                  <a:extLst>
                    <a:ext uri="{9D8B030D-6E8A-4147-A177-3AD203B41FA5}">
                      <a16:colId xmlns:a16="http://schemas.microsoft.com/office/drawing/2014/main" val="20000"/>
                    </a:ext>
                  </a:extLst>
                </a:gridCol>
                <a:gridCol w="1885335">
                  <a:extLst>
                    <a:ext uri="{9D8B030D-6E8A-4147-A177-3AD203B41FA5}">
                      <a16:colId xmlns:a16="http://schemas.microsoft.com/office/drawing/2014/main" val="20001"/>
                    </a:ext>
                  </a:extLst>
                </a:gridCol>
                <a:gridCol w="1885335">
                  <a:extLst>
                    <a:ext uri="{9D8B030D-6E8A-4147-A177-3AD203B41FA5}">
                      <a16:colId xmlns:a16="http://schemas.microsoft.com/office/drawing/2014/main" val="20002"/>
                    </a:ext>
                  </a:extLst>
                </a:gridCol>
              </a:tblGrid>
              <a:tr h="762000">
                <a:tc>
                  <a:txBody>
                    <a:bodyPr/>
                    <a:lstStyle/>
                    <a:p>
                      <a:pPr algn="ctr"/>
                      <a:r>
                        <a:rPr sz="1400" dirty="0">
                          <a:latin typeface="Verdana" panose="020B0604030504040204" pitchFamily="34" charset="0"/>
                          <a:ea typeface="Verdana" panose="020B0604030504040204" pitchFamily="34" charset="0"/>
                        </a:rPr>
                        <a:t>V</a:t>
                      </a:r>
                    </a:p>
                  </a:txBody>
                  <a:tcPr anchor="ctr"/>
                </a:tc>
                <a:tc>
                  <a:txBody>
                    <a:bodyPr/>
                    <a:lstStyle/>
                    <a:p>
                      <a:pPr algn="ctr"/>
                      <a:r>
                        <a:rPr sz="1400" dirty="0" err="1">
                          <a:latin typeface="Verdana" panose="020B0604030504040204" pitchFamily="34" charset="0"/>
                          <a:ea typeface="Verdana" panose="020B0604030504040204" pitchFamily="34" charset="0"/>
                        </a:rPr>
                        <a:t>Descripción</a:t>
                      </a:r>
                      <a:endParaRPr sz="1400" dirty="0">
                        <a:latin typeface="Verdana" panose="020B0604030504040204" pitchFamily="34" charset="0"/>
                        <a:ea typeface="Verdana" panose="020B0604030504040204" pitchFamily="34" charset="0"/>
                      </a:endParaRPr>
                    </a:p>
                  </a:txBody>
                  <a:tcPr anchor="ctr"/>
                </a:tc>
                <a:tc>
                  <a:txBody>
                    <a:bodyPr/>
                    <a:lstStyle/>
                    <a:p>
                      <a:pPr algn="ctr"/>
                      <a:r>
                        <a:rPr sz="1400" dirty="0" err="1">
                          <a:latin typeface="Verdana" panose="020B0604030504040204" pitchFamily="34" charset="0"/>
                          <a:ea typeface="Verdana" panose="020B0604030504040204" pitchFamily="34" charset="0"/>
                        </a:rPr>
                        <a:t>Ejemplo</a:t>
                      </a:r>
                      <a:endParaRPr sz="140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10000"/>
                  </a:ext>
                </a:extLst>
              </a:tr>
              <a:tr h="762000">
                <a:tc>
                  <a:txBody>
                    <a:bodyPr/>
                    <a:lstStyle/>
                    <a:p>
                      <a:r>
                        <a:rPr sz="1400" dirty="0" err="1">
                          <a:latin typeface="Verdana" panose="020B0604030504040204" pitchFamily="34" charset="0"/>
                          <a:ea typeface="Verdana" panose="020B0604030504040204" pitchFamily="34" charset="0"/>
                        </a:rPr>
                        <a:t>Volumen</a:t>
                      </a:r>
                      <a:endParaRPr sz="1400" dirty="0">
                        <a:latin typeface="Verdana" panose="020B0604030504040204" pitchFamily="34" charset="0"/>
                        <a:ea typeface="Verdana" panose="020B0604030504040204" pitchFamily="34" charset="0"/>
                      </a:endParaRPr>
                    </a:p>
                  </a:txBody>
                  <a:tcPr anchor="ctr"/>
                </a:tc>
                <a:tc>
                  <a:txBody>
                    <a:bodyPr/>
                    <a:lstStyle/>
                    <a:p>
                      <a:r>
                        <a:rPr sz="1400">
                          <a:latin typeface="Verdana" panose="020B0604030504040204" pitchFamily="34" charset="0"/>
                          <a:ea typeface="Verdana" panose="020B0604030504040204" pitchFamily="34" charset="0"/>
                        </a:rPr>
                        <a:t>TB–PB</a:t>
                      </a:r>
                    </a:p>
                  </a:txBody>
                  <a:tcPr anchor="ctr"/>
                </a:tc>
                <a:tc>
                  <a:txBody>
                    <a:bodyPr/>
                    <a:lstStyle/>
                    <a:p>
                      <a:r>
                        <a:rPr sz="1400" dirty="0" err="1">
                          <a:latin typeface="Verdana" panose="020B0604030504040204" pitchFamily="34" charset="0"/>
                          <a:ea typeface="Verdana" panose="020B0604030504040204" pitchFamily="34" charset="0"/>
                        </a:rPr>
                        <a:t>Históricos</a:t>
                      </a:r>
                      <a:r>
                        <a:rPr sz="1400" dirty="0">
                          <a:latin typeface="Verdana" panose="020B0604030504040204" pitchFamily="34" charset="0"/>
                          <a:ea typeface="Verdana" panose="020B0604030504040204" pitchFamily="34" charset="0"/>
                        </a:rPr>
                        <a:t> de </a:t>
                      </a:r>
                      <a:r>
                        <a:rPr sz="1400" dirty="0" err="1">
                          <a:latin typeface="Verdana" panose="020B0604030504040204" pitchFamily="34" charset="0"/>
                          <a:ea typeface="Verdana" panose="020B0604030504040204" pitchFamily="34" charset="0"/>
                        </a:rPr>
                        <a:t>sensores</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climáticos</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globales</a:t>
                      </a:r>
                      <a:r>
                        <a:rPr sz="1400"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10001"/>
                  </a:ext>
                </a:extLst>
              </a:tr>
              <a:tr h="762000">
                <a:tc>
                  <a:txBody>
                    <a:bodyPr/>
                    <a:lstStyle/>
                    <a:p>
                      <a:r>
                        <a:rPr sz="1400" dirty="0" err="1">
                          <a:latin typeface="Verdana" panose="020B0604030504040204" pitchFamily="34" charset="0"/>
                          <a:ea typeface="Verdana" panose="020B0604030504040204" pitchFamily="34" charset="0"/>
                        </a:rPr>
                        <a:t>Velocidad</a:t>
                      </a:r>
                      <a:endParaRPr sz="1400" dirty="0">
                        <a:latin typeface="Verdana" panose="020B0604030504040204" pitchFamily="34" charset="0"/>
                        <a:ea typeface="Verdana" panose="020B0604030504040204" pitchFamily="34" charset="0"/>
                      </a:endParaRPr>
                    </a:p>
                  </a:txBody>
                  <a:tcPr anchor="ctr"/>
                </a:tc>
                <a:tc>
                  <a:txBody>
                    <a:bodyPr/>
                    <a:lstStyle/>
                    <a:p>
                      <a:r>
                        <a:rPr sz="1400" dirty="0" err="1">
                          <a:latin typeface="Verdana" panose="020B0604030504040204" pitchFamily="34" charset="0"/>
                          <a:ea typeface="Verdana" panose="020B0604030504040204" pitchFamily="34" charset="0"/>
                        </a:rPr>
                        <a:t>Lotes</a:t>
                      </a:r>
                      <a:r>
                        <a:rPr sz="1400" dirty="0">
                          <a:latin typeface="Verdana" panose="020B0604030504040204" pitchFamily="34" charset="0"/>
                          <a:ea typeface="Verdana" panose="020B0604030504040204" pitchFamily="34" charset="0"/>
                        </a:rPr>
                        <a:t> &lt; 1 min o streaming</a:t>
                      </a:r>
                    </a:p>
                  </a:txBody>
                  <a:tcPr anchor="ctr"/>
                </a:tc>
                <a:tc>
                  <a:txBody>
                    <a:bodyPr/>
                    <a:lstStyle/>
                    <a:p>
                      <a:r>
                        <a:rPr sz="1400">
                          <a:latin typeface="Verdana" panose="020B0604030504040204" pitchFamily="34" charset="0"/>
                          <a:ea typeface="Verdana" panose="020B0604030504040204" pitchFamily="34" charset="0"/>
                        </a:rPr>
                        <a:t>Tweets/seg en un evento deportivo.</a:t>
                      </a:r>
                    </a:p>
                  </a:txBody>
                  <a:tcPr anchor="ctr"/>
                </a:tc>
                <a:extLst>
                  <a:ext uri="{0D108BD9-81ED-4DB2-BD59-A6C34878D82A}">
                    <a16:rowId xmlns:a16="http://schemas.microsoft.com/office/drawing/2014/main" val="10002"/>
                  </a:ext>
                </a:extLst>
              </a:tr>
              <a:tr h="762000">
                <a:tc>
                  <a:txBody>
                    <a:bodyPr/>
                    <a:lstStyle/>
                    <a:p>
                      <a:r>
                        <a:rPr sz="1400" dirty="0" err="1">
                          <a:latin typeface="Verdana" panose="020B0604030504040204" pitchFamily="34" charset="0"/>
                          <a:ea typeface="Verdana" panose="020B0604030504040204" pitchFamily="34" charset="0"/>
                        </a:rPr>
                        <a:t>Variedad</a:t>
                      </a:r>
                      <a:endParaRPr sz="1400" dirty="0">
                        <a:latin typeface="Verdana" panose="020B0604030504040204" pitchFamily="34" charset="0"/>
                        <a:ea typeface="Verdana" panose="020B0604030504040204" pitchFamily="34" charset="0"/>
                      </a:endParaRPr>
                    </a:p>
                  </a:txBody>
                  <a:tcPr anchor="ctr"/>
                </a:tc>
                <a:tc>
                  <a:txBody>
                    <a:bodyPr/>
                    <a:lstStyle/>
                    <a:p>
                      <a:r>
                        <a:rPr sz="1400" dirty="0">
                          <a:latin typeface="Verdana" panose="020B0604030504040204" pitchFamily="34" charset="0"/>
                          <a:ea typeface="Verdana" panose="020B0604030504040204" pitchFamily="34" charset="0"/>
                        </a:rPr>
                        <a:t>Datos </a:t>
                      </a:r>
                      <a:r>
                        <a:rPr sz="1400" dirty="0" err="1">
                          <a:latin typeface="Verdana" panose="020B0604030504040204" pitchFamily="34" charset="0"/>
                          <a:ea typeface="Verdana" panose="020B0604030504040204" pitchFamily="34" charset="0"/>
                        </a:rPr>
                        <a:t>estructurados</a:t>
                      </a:r>
                      <a:r>
                        <a:rPr sz="1400" dirty="0">
                          <a:latin typeface="Verdana" panose="020B0604030504040204" pitchFamily="34" charset="0"/>
                          <a:ea typeface="Verdana" panose="020B0604030504040204" pitchFamily="34" charset="0"/>
                        </a:rPr>
                        <a:t>, semi y no </a:t>
                      </a:r>
                      <a:r>
                        <a:rPr sz="1400" dirty="0" err="1">
                          <a:latin typeface="Verdana" panose="020B0604030504040204" pitchFamily="34" charset="0"/>
                          <a:ea typeface="Verdana" panose="020B0604030504040204" pitchFamily="34" charset="0"/>
                        </a:rPr>
                        <a:t>estructurados</a:t>
                      </a:r>
                      <a:endParaRPr sz="1400" dirty="0">
                        <a:latin typeface="Verdana" panose="020B0604030504040204" pitchFamily="34" charset="0"/>
                        <a:ea typeface="Verdana" panose="020B0604030504040204" pitchFamily="34" charset="0"/>
                      </a:endParaRPr>
                    </a:p>
                  </a:txBody>
                  <a:tcPr anchor="ctr"/>
                </a:tc>
                <a:tc>
                  <a:txBody>
                    <a:bodyPr/>
                    <a:lstStyle/>
                    <a:p>
                      <a:r>
                        <a:rPr sz="1400" dirty="0">
                          <a:latin typeface="Verdana" panose="020B0604030504040204" pitchFamily="34" charset="0"/>
                          <a:ea typeface="Verdana" panose="020B0604030504040204" pitchFamily="34" charset="0"/>
                        </a:rPr>
                        <a:t>CSV + JSON + </a:t>
                      </a:r>
                      <a:r>
                        <a:rPr sz="1400" dirty="0" err="1">
                          <a:latin typeface="Verdana" panose="020B0604030504040204" pitchFamily="34" charset="0"/>
                          <a:ea typeface="Verdana" panose="020B0604030504040204" pitchFamily="34" charset="0"/>
                        </a:rPr>
                        <a:t>imágenes</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satelitales</a:t>
                      </a:r>
                      <a:r>
                        <a:rPr sz="1400"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10003"/>
                  </a:ext>
                </a:extLst>
              </a:tr>
              <a:tr h="762000">
                <a:tc>
                  <a:txBody>
                    <a:bodyPr/>
                    <a:lstStyle/>
                    <a:p>
                      <a:r>
                        <a:rPr sz="1400" dirty="0" err="1">
                          <a:latin typeface="Verdana" panose="020B0604030504040204" pitchFamily="34" charset="0"/>
                          <a:ea typeface="Verdana" panose="020B0604030504040204" pitchFamily="34" charset="0"/>
                        </a:rPr>
                        <a:t>Veracidad</a:t>
                      </a:r>
                      <a:endParaRPr sz="1400" dirty="0">
                        <a:latin typeface="Verdana" panose="020B0604030504040204" pitchFamily="34" charset="0"/>
                        <a:ea typeface="Verdana" panose="020B0604030504040204" pitchFamily="34" charset="0"/>
                      </a:endParaRPr>
                    </a:p>
                  </a:txBody>
                  <a:tcPr anchor="ctr"/>
                </a:tc>
                <a:tc>
                  <a:txBody>
                    <a:bodyPr/>
                    <a:lstStyle/>
                    <a:p>
                      <a:r>
                        <a:rPr sz="1400" dirty="0">
                          <a:latin typeface="Verdana" panose="020B0604030504040204" pitchFamily="34" charset="0"/>
                          <a:ea typeface="Verdana" panose="020B0604030504040204" pitchFamily="34" charset="0"/>
                        </a:rPr>
                        <a:t>Calidad y </a:t>
                      </a:r>
                      <a:r>
                        <a:rPr sz="1400" dirty="0" err="1">
                          <a:latin typeface="Verdana" panose="020B0604030504040204" pitchFamily="34" charset="0"/>
                          <a:ea typeface="Verdana" panose="020B0604030504040204" pitchFamily="34" charset="0"/>
                        </a:rPr>
                        <a:t>sesgo</a:t>
                      </a:r>
                      <a:endParaRPr sz="1400" dirty="0">
                        <a:latin typeface="Verdana" panose="020B0604030504040204" pitchFamily="34" charset="0"/>
                        <a:ea typeface="Verdana" panose="020B0604030504040204" pitchFamily="34" charset="0"/>
                      </a:endParaRPr>
                    </a:p>
                  </a:txBody>
                  <a:tcPr anchor="ctr"/>
                </a:tc>
                <a:tc>
                  <a:txBody>
                    <a:bodyPr/>
                    <a:lstStyle/>
                    <a:p>
                      <a:r>
                        <a:rPr sz="1400" dirty="0" err="1">
                          <a:latin typeface="Verdana" panose="020B0604030504040204" pitchFamily="34" charset="0"/>
                          <a:ea typeface="Verdana" panose="020B0604030504040204" pitchFamily="34" charset="0"/>
                        </a:rPr>
                        <a:t>Duplicados</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en</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registros</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médicos</a:t>
                      </a:r>
                      <a:r>
                        <a:rPr sz="1400"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10004"/>
                  </a:ext>
                </a:extLst>
              </a:tr>
              <a:tr h="762000">
                <a:tc>
                  <a:txBody>
                    <a:bodyPr/>
                    <a:lstStyle/>
                    <a:p>
                      <a:r>
                        <a:rPr sz="1400" dirty="0">
                          <a:latin typeface="Verdana" panose="020B0604030504040204" pitchFamily="34" charset="0"/>
                          <a:ea typeface="Verdana" panose="020B0604030504040204" pitchFamily="34" charset="0"/>
                        </a:rPr>
                        <a:t>Valor</a:t>
                      </a:r>
                    </a:p>
                  </a:txBody>
                  <a:tcPr anchor="ctr"/>
                </a:tc>
                <a:tc>
                  <a:txBody>
                    <a:bodyPr/>
                    <a:lstStyle/>
                    <a:p>
                      <a:r>
                        <a:rPr sz="1400" dirty="0" err="1">
                          <a:latin typeface="Verdana" panose="020B0604030504040204" pitchFamily="34" charset="0"/>
                          <a:ea typeface="Verdana" panose="020B0604030504040204" pitchFamily="34" charset="0"/>
                        </a:rPr>
                        <a:t>Potencial</a:t>
                      </a:r>
                      <a:r>
                        <a:rPr sz="1400" dirty="0">
                          <a:latin typeface="Verdana" panose="020B0604030504040204" pitchFamily="34" charset="0"/>
                          <a:ea typeface="Verdana" panose="020B0604030504040204" pitchFamily="34" charset="0"/>
                        </a:rPr>
                        <a:t> de </a:t>
                      </a:r>
                      <a:r>
                        <a:rPr sz="1400" dirty="0" err="1">
                          <a:latin typeface="Verdana" panose="020B0604030504040204" pitchFamily="34" charset="0"/>
                          <a:ea typeface="Verdana" panose="020B0604030504040204" pitchFamily="34" charset="0"/>
                        </a:rPr>
                        <a:t>uso</a:t>
                      </a:r>
                      <a:endParaRPr sz="1400" dirty="0">
                        <a:latin typeface="Verdana" panose="020B0604030504040204" pitchFamily="34" charset="0"/>
                        <a:ea typeface="Verdana" panose="020B0604030504040204" pitchFamily="34" charset="0"/>
                      </a:endParaRPr>
                    </a:p>
                  </a:txBody>
                  <a:tcPr anchor="ctr"/>
                </a:tc>
                <a:tc>
                  <a:txBody>
                    <a:bodyPr/>
                    <a:lstStyle/>
                    <a:p>
                      <a:r>
                        <a:rPr sz="1400" dirty="0" err="1">
                          <a:latin typeface="Verdana" panose="020B0604030504040204" pitchFamily="34" charset="0"/>
                          <a:ea typeface="Verdana" panose="020B0604030504040204" pitchFamily="34" charset="0"/>
                        </a:rPr>
                        <a:t>Predicciones</a:t>
                      </a:r>
                      <a:r>
                        <a:rPr sz="1400" dirty="0">
                          <a:latin typeface="Verdana" panose="020B0604030504040204" pitchFamily="34" charset="0"/>
                          <a:ea typeface="Verdana" panose="020B0604030504040204" pitchFamily="34" charset="0"/>
                        </a:rPr>
                        <a:t> de </a:t>
                      </a:r>
                      <a:r>
                        <a:rPr sz="1400" dirty="0" err="1">
                          <a:latin typeface="Verdana" panose="020B0604030504040204" pitchFamily="34" charset="0"/>
                          <a:ea typeface="Verdana" panose="020B0604030504040204" pitchFamily="34" charset="0"/>
                        </a:rPr>
                        <a:t>demanda</a:t>
                      </a:r>
                      <a:r>
                        <a:rPr sz="1400" dirty="0">
                          <a:latin typeface="Verdana" panose="020B0604030504040204" pitchFamily="34" charset="0"/>
                          <a:ea typeface="Verdana" panose="020B0604030504040204" pitchFamily="34" charset="0"/>
                        </a:rPr>
                        <a:t> </a:t>
                      </a:r>
                      <a:r>
                        <a:rPr sz="1400" dirty="0" err="1">
                          <a:latin typeface="Verdana" panose="020B0604030504040204" pitchFamily="34" charset="0"/>
                          <a:ea typeface="Verdana" panose="020B0604030504040204" pitchFamily="34" charset="0"/>
                        </a:rPr>
                        <a:t>energética</a:t>
                      </a:r>
                      <a:r>
                        <a:rPr sz="1400" dirty="0">
                          <a:latin typeface="Verdana" panose="020B0604030504040204" pitchFamily="34" charset="0"/>
                          <a:ea typeface="Verdana" panose="020B0604030504040204" pitchFamily="34" charset="0"/>
                        </a:rPr>
                        <a:t>.</a:t>
                      </a:r>
                    </a:p>
                  </a:txBody>
                  <a:tcPr anchor="ctr"/>
                </a:tc>
                <a:extLst>
                  <a:ext uri="{0D108BD9-81ED-4DB2-BD59-A6C34878D82A}">
                    <a16:rowId xmlns:a16="http://schemas.microsoft.com/office/drawing/2014/main" val="10005"/>
                  </a:ext>
                </a:extLst>
              </a:tr>
            </a:tbl>
          </a:graphicData>
        </a:graphic>
      </p:graphicFrame>
      <p:pic>
        <p:nvPicPr>
          <p:cNvPr id="3074" name="Picture 2" descr="Understanding Data Characteristics">
            <a:extLst>
              <a:ext uri="{FF2B5EF4-FFF2-40B4-BE49-F238E27FC236}">
                <a16:creationId xmlns:a16="http://schemas.microsoft.com/office/drawing/2014/main" id="{73845BDE-4121-F333-18DB-5735F30310E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149277"/>
            <a:ext cx="5181600" cy="3704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606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3EF6D-FB7E-35AE-BEB5-FFF2AA8BF7EA}"/>
              </a:ext>
            </a:extLst>
          </p:cNvPr>
          <p:cNvSpPr>
            <a:spLocks noGrp="1"/>
          </p:cNvSpPr>
          <p:nvPr>
            <p:ph type="title"/>
          </p:nvPr>
        </p:nvSpPr>
        <p:spPr/>
        <p:txBody>
          <a:bodyPr/>
          <a:lstStyle/>
          <a:p>
            <a:r>
              <a:rPr lang="es-CO" dirty="0"/>
              <a:t>Arquitectura genérica (Lambda)</a:t>
            </a:r>
          </a:p>
        </p:txBody>
      </p:sp>
      <p:sp>
        <p:nvSpPr>
          <p:cNvPr id="3" name="Marcador de contenido 2">
            <a:extLst>
              <a:ext uri="{FF2B5EF4-FFF2-40B4-BE49-F238E27FC236}">
                <a16:creationId xmlns:a16="http://schemas.microsoft.com/office/drawing/2014/main" id="{BB05882D-A098-AC53-6144-FB327B1847B0}"/>
              </a:ext>
            </a:extLst>
          </p:cNvPr>
          <p:cNvSpPr>
            <a:spLocks noGrp="1"/>
          </p:cNvSpPr>
          <p:nvPr>
            <p:ph sz="half" idx="1"/>
          </p:nvPr>
        </p:nvSpPr>
        <p:spPr>
          <a:xfrm>
            <a:off x="371475" y="1825625"/>
            <a:ext cx="5181600" cy="4351338"/>
          </a:xfrm>
        </p:spPr>
        <p:txBody>
          <a:bodyPr anchor="ctr">
            <a:normAutofit/>
          </a:bodyPr>
          <a:lstStyle/>
          <a:p>
            <a:r>
              <a:rPr lang="es-MX" sz="1600" b="1" dirty="0"/>
              <a:t>Capa de procesamiento por lotes</a:t>
            </a:r>
            <a:r>
              <a:rPr lang="es-MX" sz="1600" dirty="0"/>
              <a:t>: Procesa grandes conjuntos de datos históricos por lotes, generalmente utilizando herramientas como Hadoop. Esta capa proporciona una vista fiable y precisa de los datos, pero presenta una mayor latencia.</a:t>
            </a:r>
          </a:p>
          <a:p>
            <a:r>
              <a:rPr lang="es-MX" sz="1600" b="1" dirty="0"/>
              <a:t>Capa de velocidad</a:t>
            </a:r>
            <a:r>
              <a:rPr lang="es-MX" sz="1600" dirty="0"/>
              <a:t>: Procesa los flujos de datos entrantes en tiempo real, centrándose en resultados de baja latencia y casi en tiempo real. Esta capa suele utilizar marcos de procesamiento de flujos como Apache Kafka o </a:t>
            </a:r>
            <a:r>
              <a:rPr lang="es-MX" sz="1600" dirty="0" err="1"/>
              <a:t>Spark</a:t>
            </a:r>
            <a:r>
              <a:rPr lang="es-MX" sz="1600" dirty="0"/>
              <a:t> </a:t>
            </a:r>
            <a:r>
              <a:rPr lang="es-MX" sz="1600" dirty="0" err="1"/>
              <a:t>Streaming</a:t>
            </a:r>
            <a:r>
              <a:rPr lang="es-MX" sz="1600" dirty="0"/>
              <a:t>.</a:t>
            </a:r>
          </a:p>
          <a:p>
            <a:r>
              <a:rPr lang="es-MX" sz="1600" b="1" dirty="0"/>
              <a:t>Capa de servicio</a:t>
            </a:r>
            <a:r>
              <a:rPr lang="es-MX" sz="1600" dirty="0"/>
              <a:t>: Combina los resultados de las capas de procesamiento por lotes y de velocidad para proporcionar una vista unificada de los datos para consultas y análisis. Esta capa facilita el acceso a los datos a usuarios y aplicaciones.</a:t>
            </a:r>
            <a:endParaRPr lang="es-CO" sz="1600" dirty="0"/>
          </a:p>
        </p:txBody>
      </p:sp>
      <p:pic>
        <p:nvPicPr>
          <p:cNvPr id="4098" name="Picture 2" descr="Arquitectura Lambda: Combinando lo mejor de dos mundos | SG Buzz">
            <a:extLst>
              <a:ext uri="{FF2B5EF4-FFF2-40B4-BE49-F238E27FC236}">
                <a16:creationId xmlns:a16="http://schemas.microsoft.com/office/drawing/2014/main" id="{BE54D2AA-4AE7-4910-7CB9-5BD274091BC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890184" y="2363787"/>
            <a:ext cx="5745632" cy="3275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2167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FFA30860-EF05-5FBB-1E55-F146C1A55185}"/>
              </a:ext>
            </a:extLst>
          </p:cNvPr>
          <p:cNvSpPr>
            <a:spLocks noGrp="1"/>
          </p:cNvSpPr>
          <p:nvPr>
            <p:ph type="title"/>
          </p:nvPr>
        </p:nvSpPr>
        <p:spPr/>
        <p:txBody>
          <a:bodyPr/>
          <a:lstStyle/>
          <a:p>
            <a:r>
              <a:rPr lang="en-US" dirty="0"/>
              <a:t>Hadoop Distributed File System (HDFS)</a:t>
            </a:r>
            <a:endParaRPr lang="es-CO" dirty="0"/>
          </a:p>
        </p:txBody>
      </p:sp>
      <p:pic>
        <p:nvPicPr>
          <p:cNvPr id="7170" name="Picture 2" descr="The overview of the Hadoop Distributed File System (HDFS). | Download  Scientific Diagram">
            <a:extLst>
              <a:ext uri="{FF2B5EF4-FFF2-40B4-BE49-F238E27FC236}">
                <a16:creationId xmlns:a16="http://schemas.microsoft.com/office/drawing/2014/main" id="{FCC530C8-3C7A-5DA6-BD41-C79D814EAF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09776" y="1833189"/>
            <a:ext cx="8172448" cy="4336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9433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9D92E6-6F39-424E-21CD-B44F4655A325}"/>
              </a:ext>
            </a:extLst>
          </p:cNvPr>
          <p:cNvSpPr>
            <a:spLocks noGrp="1"/>
          </p:cNvSpPr>
          <p:nvPr>
            <p:ph type="title"/>
          </p:nvPr>
        </p:nvSpPr>
        <p:spPr/>
        <p:txBody>
          <a:bodyPr/>
          <a:lstStyle/>
          <a:p>
            <a:r>
              <a:rPr lang="es-CO" dirty="0" err="1"/>
              <a:t>Parallelism</a:t>
            </a:r>
            <a:endParaRPr lang="es-CO" dirty="0"/>
          </a:p>
        </p:txBody>
      </p:sp>
      <p:pic>
        <p:nvPicPr>
          <p:cNvPr id="4" name="Picture 2">
            <a:extLst>
              <a:ext uri="{FF2B5EF4-FFF2-40B4-BE49-F238E27FC236}">
                <a16:creationId xmlns:a16="http://schemas.microsoft.com/office/drawing/2014/main" id="{3033D817-1AD2-D959-70F7-10905C334AF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38200" y="2328378"/>
            <a:ext cx="5181600" cy="3345832"/>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4">
            <a:extLst>
              <a:ext uri="{FF2B5EF4-FFF2-40B4-BE49-F238E27FC236}">
                <a16:creationId xmlns:a16="http://schemas.microsoft.com/office/drawing/2014/main" id="{44FD232C-1A62-7A1B-6D3E-87C9046B108D}"/>
              </a:ext>
            </a:extLst>
          </p:cNvPr>
          <p:cNvSpPr>
            <a:spLocks noGrp="1"/>
          </p:cNvSpPr>
          <p:nvPr>
            <p:ph sz="half" idx="2"/>
          </p:nvPr>
        </p:nvSpPr>
        <p:spPr/>
        <p:txBody>
          <a:bodyPr>
            <a:normAutofit/>
          </a:bodyPr>
          <a:lstStyle/>
          <a:p>
            <a:r>
              <a:rPr lang="en-US" dirty="0"/>
              <a:t>Hadoop is designed to process large datasets by distributing them across multiple nodes in a cluster. This is achieved through the concept of parallelism, where data is divided into smaller chunks, known as data blocks, and processed concurrently on different nodes.</a:t>
            </a:r>
            <a:endParaRPr lang="es-CO" dirty="0"/>
          </a:p>
        </p:txBody>
      </p:sp>
    </p:spTree>
    <p:extLst>
      <p:ext uri="{BB962C8B-B14F-4D97-AF65-F5344CB8AC3E}">
        <p14:creationId xmlns:p14="http://schemas.microsoft.com/office/powerpoint/2010/main" val="34138633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510B2FD-474C-D3C6-E560-D1D5D64650E4}"/>
              </a:ext>
            </a:extLst>
          </p:cNvPr>
          <p:cNvPicPr>
            <a:picLocks noChangeAspect="1"/>
          </p:cNvPicPr>
          <p:nvPr/>
        </p:nvPicPr>
        <p:blipFill>
          <a:blip r:embed="rId2"/>
          <a:stretch>
            <a:fillRect/>
          </a:stretch>
        </p:blipFill>
        <p:spPr>
          <a:xfrm>
            <a:off x="1790700" y="608044"/>
            <a:ext cx="8610600" cy="5641912"/>
          </a:xfrm>
          <a:prstGeom prst="rect">
            <a:avLst/>
          </a:prstGeom>
        </p:spPr>
      </p:pic>
    </p:spTree>
    <p:extLst>
      <p:ext uri="{BB962C8B-B14F-4D97-AF65-F5344CB8AC3E}">
        <p14:creationId xmlns:p14="http://schemas.microsoft.com/office/powerpoint/2010/main" val="2174585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526D-18D5-200C-8F68-2BF92DC4B68F}"/>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C54641B-B244-49DE-B6CF-AB5E57F4E260}"/>
              </a:ext>
            </a:extLst>
          </p:cNvPr>
          <p:cNvPicPr>
            <a:picLocks noChangeAspect="1"/>
          </p:cNvPicPr>
          <p:nvPr/>
        </p:nvPicPr>
        <p:blipFill>
          <a:blip r:embed="rId2"/>
          <a:stretch>
            <a:fillRect/>
          </a:stretch>
        </p:blipFill>
        <p:spPr>
          <a:xfrm>
            <a:off x="1724213" y="552449"/>
            <a:ext cx="8743574" cy="5753102"/>
          </a:xfrm>
          <a:prstGeom prst="rect">
            <a:avLst/>
          </a:prstGeom>
        </p:spPr>
      </p:pic>
    </p:spTree>
    <p:extLst>
      <p:ext uri="{BB962C8B-B14F-4D97-AF65-F5344CB8AC3E}">
        <p14:creationId xmlns:p14="http://schemas.microsoft.com/office/powerpoint/2010/main" val="21211997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277239-AA12-598F-FB28-49E0D4C05CF9}"/>
              </a:ext>
            </a:extLst>
          </p:cNvPr>
          <p:cNvSpPr>
            <a:spLocks noGrp="1"/>
          </p:cNvSpPr>
          <p:nvPr>
            <p:ph type="title"/>
          </p:nvPr>
        </p:nvSpPr>
        <p:spPr/>
        <p:txBody>
          <a:bodyPr/>
          <a:lstStyle/>
          <a:p>
            <a:r>
              <a:rPr lang="es-MX" dirty="0"/>
              <a:t>Qué sí y qué no es Big Data</a:t>
            </a:r>
            <a:endParaRPr lang="es-CO" dirty="0"/>
          </a:p>
        </p:txBody>
      </p:sp>
      <p:graphicFrame>
        <p:nvGraphicFramePr>
          <p:cNvPr id="4" name="Table 2">
            <a:extLst>
              <a:ext uri="{FF2B5EF4-FFF2-40B4-BE49-F238E27FC236}">
                <a16:creationId xmlns:a16="http://schemas.microsoft.com/office/drawing/2014/main" id="{7789D5EC-1535-A143-76F5-D1D8851C8448}"/>
              </a:ext>
            </a:extLst>
          </p:cNvPr>
          <p:cNvGraphicFramePr>
            <a:graphicFrameLocks noGrp="1"/>
          </p:cNvGraphicFramePr>
          <p:nvPr>
            <p:ph idx="1"/>
            <p:extLst>
              <p:ext uri="{D42A27DB-BD31-4B8C-83A1-F6EECF244321}">
                <p14:modId xmlns:p14="http://schemas.microsoft.com/office/powerpoint/2010/main" val="114294265"/>
              </p:ext>
            </p:extLst>
          </p:nvPr>
        </p:nvGraphicFramePr>
        <p:xfrm>
          <a:off x="838199" y="1825625"/>
          <a:ext cx="10515600" cy="4572000"/>
        </p:xfrm>
        <a:graphic>
          <a:graphicData uri="http://schemas.openxmlformats.org/drawingml/2006/table">
            <a:tbl>
              <a:tblPr firstRow="1" bandRow="1">
                <a:tableStyleId>{9D7B26C5-4107-4FEC-AEDC-1716B250A1EF}</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914400">
                <a:tc>
                  <a:txBody>
                    <a:bodyPr/>
                    <a:lstStyle/>
                    <a:p>
                      <a:pPr algn="ctr"/>
                      <a:r>
                        <a:rPr dirty="0" err="1">
                          <a:latin typeface="Verdana" panose="020B0604030504040204" pitchFamily="34" charset="0"/>
                          <a:ea typeface="Verdana" panose="020B0604030504040204" pitchFamily="34" charset="0"/>
                        </a:rPr>
                        <a:t>Sí</a:t>
                      </a:r>
                      <a:r>
                        <a:rPr dirty="0">
                          <a:latin typeface="Verdana" panose="020B0604030504040204" pitchFamily="34" charset="0"/>
                          <a:ea typeface="Verdana" panose="020B0604030504040204" pitchFamily="34" charset="0"/>
                        </a:rPr>
                        <a:t> es</a:t>
                      </a:r>
                    </a:p>
                  </a:txBody>
                  <a:tcPr anchor="ctr"/>
                </a:tc>
                <a:tc>
                  <a:txBody>
                    <a:bodyPr/>
                    <a:lstStyle/>
                    <a:p>
                      <a:pPr algn="ctr"/>
                      <a:r>
                        <a:rPr dirty="0">
                          <a:latin typeface="Verdana" panose="020B0604030504040204" pitchFamily="34" charset="0"/>
                          <a:ea typeface="Verdana" panose="020B0604030504040204" pitchFamily="34" charset="0"/>
                        </a:rPr>
                        <a:t>No es</a:t>
                      </a:r>
                    </a:p>
                  </a:txBody>
                  <a:tcPr anchor="ctr"/>
                </a:tc>
                <a:extLst>
                  <a:ext uri="{0D108BD9-81ED-4DB2-BD59-A6C34878D82A}">
                    <a16:rowId xmlns:a16="http://schemas.microsoft.com/office/drawing/2014/main" val="10000"/>
                  </a:ext>
                </a:extLst>
              </a:tr>
              <a:tr h="914400">
                <a:tc>
                  <a:txBody>
                    <a:bodyPr/>
                    <a:lstStyle/>
                    <a:p>
                      <a:r>
                        <a:rPr dirty="0">
                          <a:latin typeface="Verdana" panose="020B0604030504040204" pitchFamily="34" charset="0"/>
                          <a:ea typeface="Verdana" panose="020B0604030504040204" pitchFamily="34" charset="0"/>
                        </a:rPr>
                        <a:t>Dataset que </a:t>
                      </a:r>
                      <a:r>
                        <a:rPr dirty="0" err="1">
                          <a:latin typeface="Verdana" panose="020B0604030504040204" pitchFamily="34" charset="0"/>
                          <a:ea typeface="Verdana" panose="020B0604030504040204" pitchFamily="34" charset="0"/>
                        </a:rPr>
                        <a:t>requiere</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distribuir</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cómputo</a:t>
                      </a:r>
                      <a:r>
                        <a:rPr dirty="0">
                          <a:latin typeface="Verdana" panose="020B0604030504040204" pitchFamily="34" charset="0"/>
                          <a:ea typeface="Verdana" panose="020B0604030504040204" pitchFamily="34" charset="0"/>
                        </a:rPr>
                        <a:t> y </a:t>
                      </a:r>
                      <a:r>
                        <a:rPr dirty="0" err="1">
                          <a:latin typeface="Verdana" panose="020B0604030504040204" pitchFamily="34" charset="0"/>
                          <a:ea typeface="Verdana" panose="020B0604030504040204" pitchFamily="34" charset="0"/>
                        </a:rPr>
                        <a:t>almacenamiento</a:t>
                      </a:r>
                      <a:r>
                        <a:rPr dirty="0">
                          <a:latin typeface="Verdana" panose="020B0604030504040204" pitchFamily="34" charset="0"/>
                          <a:ea typeface="Verdana" panose="020B0604030504040204" pitchFamily="34" charset="0"/>
                        </a:rPr>
                        <a:t>.</a:t>
                      </a:r>
                    </a:p>
                  </a:txBody>
                  <a:tcPr/>
                </a:tc>
                <a:tc>
                  <a:txBody>
                    <a:bodyPr/>
                    <a:lstStyle/>
                    <a:p>
                      <a:r>
                        <a:rPr dirty="0">
                          <a:latin typeface="Verdana" panose="020B0604030504040204" pitchFamily="34" charset="0"/>
                          <a:ea typeface="Verdana" panose="020B0604030504040204" pitchFamily="34" charset="0"/>
                        </a:rPr>
                        <a:t>CSV de 5 GB </a:t>
                      </a:r>
                      <a:r>
                        <a:rPr dirty="0" err="1">
                          <a:latin typeface="Verdana" panose="020B0604030504040204" pitchFamily="34" charset="0"/>
                          <a:ea typeface="Verdana" panose="020B0604030504040204" pitchFamily="34" charset="0"/>
                        </a:rPr>
                        <a:t>manejado</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en</a:t>
                      </a:r>
                      <a:r>
                        <a:rPr dirty="0">
                          <a:latin typeface="Verdana" panose="020B0604030504040204" pitchFamily="34" charset="0"/>
                          <a:ea typeface="Verdana" panose="020B0604030504040204" pitchFamily="34" charset="0"/>
                        </a:rPr>
                        <a:t> pandas con 32 GB RAM.</a:t>
                      </a:r>
                    </a:p>
                  </a:txBody>
                  <a:tcPr/>
                </a:tc>
                <a:extLst>
                  <a:ext uri="{0D108BD9-81ED-4DB2-BD59-A6C34878D82A}">
                    <a16:rowId xmlns:a16="http://schemas.microsoft.com/office/drawing/2014/main" val="10001"/>
                  </a:ext>
                </a:extLst>
              </a:tr>
              <a:tr h="914400">
                <a:tc>
                  <a:txBody>
                    <a:bodyPr/>
                    <a:lstStyle/>
                    <a:p>
                      <a:r>
                        <a:rPr dirty="0" err="1">
                          <a:latin typeface="Verdana" panose="020B0604030504040204" pitchFamily="34" charset="0"/>
                          <a:ea typeface="Verdana" panose="020B0604030504040204" pitchFamily="34" charset="0"/>
                        </a:rPr>
                        <a:t>Procesamiento</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paralelo</a:t>
                      </a:r>
                      <a:r>
                        <a:rPr dirty="0">
                          <a:latin typeface="Verdana" panose="020B0604030504040204" pitchFamily="34" charset="0"/>
                          <a:ea typeface="Verdana" panose="020B0604030504040204" pitchFamily="34" charset="0"/>
                        </a:rPr>
                        <a:t> (MapReduce/Spark).</a:t>
                      </a:r>
                    </a:p>
                  </a:txBody>
                  <a:tcPr/>
                </a:tc>
                <a:tc>
                  <a:txBody>
                    <a:bodyPr/>
                    <a:lstStyle/>
                    <a:p>
                      <a:r>
                        <a:rPr dirty="0" err="1">
                          <a:latin typeface="Verdana" panose="020B0604030504040204" pitchFamily="34" charset="0"/>
                          <a:ea typeface="Verdana" panose="020B0604030504040204" pitchFamily="34" charset="0"/>
                        </a:rPr>
                        <a:t>Ejecutar</a:t>
                      </a:r>
                      <a:r>
                        <a:rPr dirty="0">
                          <a:latin typeface="Verdana" panose="020B0604030504040204" pitchFamily="34" charset="0"/>
                          <a:ea typeface="Verdana" panose="020B0604030504040204" pitchFamily="34" charset="0"/>
                        </a:rPr>
                        <a:t> un SELECT * lento </a:t>
                      </a:r>
                      <a:r>
                        <a:rPr dirty="0" err="1">
                          <a:latin typeface="Verdana" panose="020B0604030504040204" pitchFamily="34" charset="0"/>
                          <a:ea typeface="Verdana" panose="020B0604030504040204" pitchFamily="34" charset="0"/>
                        </a:rPr>
                        <a:t>por</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falta</a:t>
                      </a:r>
                      <a:r>
                        <a:rPr dirty="0">
                          <a:latin typeface="Verdana" panose="020B0604030504040204" pitchFamily="34" charset="0"/>
                          <a:ea typeface="Verdana" panose="020B0604030504040204" pitchFamily="34" charset="0"/>
                        </a:rPr>
                        <a:t> de </a:t>
                      </a:r>
                      <a:r>
                        <a:rPr dirty="0" err="1">
                          <a:latin typeface="Verdana" panose="020B0604030504040204" pitchFamily="34" charset="0"/>
                          <a:ea typeface="Verdana" panose="020B0604030504040204" pitchFamily="34" charset="0"/>
                        </a:rPr>
                        <a:t>índices</a:t>
                      </a:r>
                      <a:r>
                        <a:rPr dirty="0">
                          <a:latin typeface="Verdana" panose="020B0604030504040204" pitchFamily="34" charset="0"/>
                          <a:ea typeface="Verdana" panose="020B0604030504040204" pitchFamily="34" charset="0"/>
                        </a:rPr>
                        <a:t>.</a:t>
                      </a:r>
                    </a:p>
                  </a:txBody>
                  <a:tcPr/>
                </a:tc>
                <a:extLst>
                  <a:ext uri="{0D108BD9-81ED-4DB2-BD59-A6C34878D82A}">
                    <a16:rowId xmlns:a16="http://schemas.microsoft.com/office/drawing/2014/main" val="10002"/>
                  </a:ext>
                </a:extLst>
              </a:tr>
              <a:tr h="914400">
                <a:tc>
                  <a:txBody>
                    <a:bodyPr/>
                    <a:lstStyle/>
                    <a:p>
                      <a:r>
                        <a:rPr dirty="0" err="1">
                          <a:latin typeface="Verdana" panose="020B0604030504040204" pitchFamily="34" charset="0"/>
                          <a:ea typeface="Verdana" panose="020B0604030504040204" pitchFamily="34" charset="0"/>
                        </a:rPr>
                        <a:t>Consistencia</a:t>
                      </a:r>
                      <a:r>
                        <a:rPr dirty="0">
                          <a:latin typeface="Verdana" panose="020B0604030504040204" pitchFamily="34" charset="0"/>
                          <a:ea typeface="Verdana" panose="020B0604030504040204" pitchFamily="34" charset="0"/>
                        </a:rPr>
                        <a:t> eventual </a:t>
                      </a:r>
                      <a:r>
                        <a:rPr dirty="0" err="1">
                          <a:latin typeface="Verdana" panose="020B0604030504040204" pitchFamily="34" charset="0"/>
                          <a:ea typeface="Verdana" panose="020B0604030504040204" pitchFamily="34" charset="0"/>
                        </a:rPr>
                        <a:t>aceptable</a:t>
                      </a:r>
                      <a:r>
                        <a:rPr dirty="0">
                          <a:latin typeface="Verdana" panose="020B0604030504040204" pitchFamily="34" charset="0"/>
                          <a:ea typeface="Verdana" panose="020B0604030504040204" pitchFamily="34" charset="0"/>
                        </a:rPr>
                        <a:t>.</a:t>
                      </a:r>
                    </a:p>
                  </a:txBody>
                  <a:tcPr/>
                </a:tc>
                <a:tc>
                  <a:txBody>
                    <a:bodyPr/>
                    <a:lstStyle/>
                    <a:p>
                      <a:r>
                        <a:rPr dirty="0" err="1">
                          <a:latin typeface="Verdana" panose="020B0604030504040204" pitchFamily="34" charset="0"/>
                          <a:ea typeface="Verdana" panose="020B0604030504040204" pitchFamily="34" charset="0"/>
                        </a:rPr>
                        <a:t>Transacciones</a:t>
                      </a:r>
                      <a:r>
                        <a:rPr dirty="0">
                          <a:latin typeface="Verdana" panose="020B0604030504040204" pitchFamily="34" charset="0"/>
                          <a:ea typeface="Verdana" panose="020B0604030504040204" pitchFamily="34" charset="0"/>
                        </a:rPr>
                        <a:t> </a:t>
                      </a:r>
                      <a:r>
                        <a:rPr dirty="0" err="1">
                          <a:latin typeface="Verdana" panose="020B0604030504040204" pitchFamily="34" charset="0"/>
                          <a:ea typeface="Verdana" panose="020B0604030504040204" pitchFamily="34" charset="0"/>
                        </a:rPr>
                        <a:t>bancarias</a:t>
                      </a:r>
                      <a:r>
                        <a:rPr dirty="0">
                          <a:latin typeface="Verdana" panose="020B0604030504040204" pitchFamily="34" charset="0"/>
                          <a:ea typeface="Verdana" panose="020B0604030504040204" pitchFamily="34" charset="0"/>
                        </a:rPr>
                        <a:t> OLTP (ACID </a:t>
                      </a:r>
                      <a:r>
                        <a:rPr dirty="0" err="1">
                          <a:latin typeface="Verdana" panose="020B0604030504040204" pitchFamily="34" charset="0"/>
                          <a:ea typeface="Verdana" panose="020B0604030504040204" pitchFamily="34" charset="0"/>
                        </a:rPr>
                        <a:t>estricto</a:t>
                      </a:r>
                      <a:r>
                        <a:rPr dirty="0">
                          <a:latin typeface="Verdana" panose="020B0604030504040204" pitchFamily="34" charset="0"/>
                          <a:ea typeface="Verdana" panose="020B0604030504040204" pitchFamily="34" charset="0"/>
                        </a:rPr>
                        <a:t>).</a:t>
                      </a:r>
                    </a:p>
                  </a:txBody>
                  <a:tcPr/>
                </a:tc>
                <a:extLst>
                  <a:ext uri="{0D108BD9-81ED-4DB2-BD59-A6C34878D82A}">
                    <a16:rowId xmlns:a16="http://schemas.microsoft.com/office/drawing/2014/main" val="10003"/>
                  </a:ext>
                </a:extLst>
              </a:tr>
              <a:tr h="914400">
                <a:tc>
                  <a:txBody>
                    <a:bodyPr/>
                    <a:lstStyle/>
                    <a:p>
                      <a:r>
                        <a:rPr dirty="0" err="1">
                          <a:latin typeface="Verdana" panose="020B0604030504040204" pitchFamily="34" charset="0"/>
                          <a:ea typeface="Verdana" panose="020B0604030504040204" pitchFamily="34" charset="0"/>
                        </a:rPr>
                        <a:t>Escalabilidad</a:t>
                      </a:r>
                      <a:r>
                        <a:rPr dirty="0">
                          <a:latin typeface="Verdana" panose="020B0604030504040204" pitchFamily="34" charset="0"/>
                          <a:ea typeface="Verdana" panose="020B0604030504040204" pitchFamily="34" charset="0"/>
                        </a:rPr>
                        <a:t> horizontal </a:t>
                      </a:r>
                      <a:r>
                        <a:rPr dirty="0" err="1">
                          <a:latin typeface="Verdana" panose="020B0604030504040204" pitchFamily="34" charset="0"/>
                          <a:ea typeface="Verdana" panose="020B0604030504040204" pitchFamily="34" charset="0"/>
                        </a:rPr>
                        <a:t>casi</a:t>
                      </a:r>
                      <a:r>
                        <a:rPr dirty="0">
                          <a:latin typeface="Verdana" panose="020B0604030504040204" pitchFamily="34" charset="0"/>
                          <a:ea typeface="Verdana" panose="020B0604030504040204" pitchFamily="34" charset="0"/>
                        </a:rPr>
                        <a:t> lineal.</a:t>
                      </a:r>
                    </a:p>
                  </a:txBody>
                  <a:tcPr/>
                </a:tc>
                <a:tc>
                  <a:txBody>
                    <a:bodyPr/>
                    <a:lstStyle/>
                    <a:p>
                      <a:r>
                        <a:rPr dirty="0" err="1">
                          <a:latin typeface="Verdana" panose="020B0604030504040204" pitchFamily="34" charset="0"/>
                          <a:ea typeface="Verdana" panose="020B0604030504040204" pitchFamily="34" charset="0"/>
                        </a:rPr>
                        <a:t>Comprar</a:t>
                      </a:r>
                      <a:r>
                        <a:rPr dirty="0">
                          <a:latin typeface="Verdana" panose="020B0604030504040204" pitchFamily="34" charset="0"/>
                          <a:ea typeface="Verdana" panose="020B0604030504040204" pitchFamily="34" charset="0"/>
                        </a:rPr>
                        <a:t> un </a:t>
                      </a:r>
                      <a:r>
                        <a:rPr dirty="0" err="1">
                          <a:latin typeface="Verdana" panose="020B0604030504040204" pitchFamily="34" charset="0"/>
                          <a:ea typeface="Verdana" panose="020B0604030504040204" pitchFamily="34" charset="0"/>
                        </a:rPr>
                        <a:t>servidor</a:t>
                      </a:r>
                      <a:r>
                        <a:rPr dirty="0">
                          <a:latin typeface="Verdana" panose="020B0604030504040204" pitchFamily="34" charset="0"/>
                          <a:ea typeface="Verdana" panose="020B0604030504040204" pitchFamily="34" charset="0"/>
                        </a:rPr>
                        <a:t> con </a:t>
                      </a:r>
                      <a:r>
                        <a:rPr dirty="0" err="1">
                          <a:latin typeface="Verdana" panose="020B0604030504040204" pitchFamily="34" charset="0"/>
                          <a:ea typeface="Verdana" panose="020B0604030504040204" pitchFamily="34" charset="0"/>
                        </a:rPr>
                        <a:t>más</a:t>
                      </a:r>
                      <a:r>
                        <a:rPr dirty="0">
                          <a:latin typeface="Verdana" panose="020B0604030504040204" pitchFamily="34" charset="0"/>
                          <a:ea typeface="Verdana" panose="020B0604030504040204" pitchFamily="34" charset="0"/>
                        </a:rPr>
                        <a:t> RAM (scale-up).</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363450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2423FB6-4C7A-E443-B097-74FC7F4CF144}"/>
              </a:ext>
            </a:extLst>
          </p:cNvPr>
          <p:cNvPicPr>
            <a:picLocks noChangeAspect="1"/>
          </p:cNvPicPr>
          <p:nvPr/>
        </p:nvPicPr>
        <p:blipFill>
          <a:blip r:embed="rId2"/>
          <a:stretch>
            <a:fillRect/>
          </a:stretch>
        </p:blipFill>
        <p:spPr>
          <a:xfrm>
            <a:off x="742792" y="447674"/>
            <a:ext cx="10706416" cy="5962652"/>
          </a:xfrm>
          <a:prstGeom prst="rect">
            <a:avLst/>
          </a:prstGeom>
        </p:spPr>
      </p:pic>
    </p:spTree>
    <p:extLst>
      <p:ext uri="{BB962C8B-B14F-4D97-AF65-F5344CB8AC3E}">
        <p14:creationId xmlns:p14="http://schemas.microsoft.com/office/powerpoint/2010/main" val="1067082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8C396A-A9AF-40E8-AEBF-3E53FA8FEFBE}"/>
              </a:ext>
            </a:extLst>
          </p:cNvPr>
          <p:cNvSpPr>
            <a:spLocks noGrp="1"/>
          </p:cNvSpPr>
          <p:nvPr>
            <p:ph type="title"/>
          </p:nvPr>
        </p:nvSpPr>
        <p:spPr/>
        <p:txBody>
          <a:bodyPr/>
          <a:lstStyle/>
          <a:p>
            <a:r>
              <a:rPr lang="es-CO" dirty="0"/>
              <a:t>Criterios de elección</a:t>
            </a:r>
          </a:p>
        </p:txBody>
      </p:sp>
      <p:sp>
        <p:nvSpPr>
          <p:cNvPr id="3" name="Marcador de contenido 2">
            <a:extLst>
              <a:ext uri="{FF2B5EF4-FFF2-40B4-BE49-F238E27FC236}">
                <a16:creationId xmlns:a16="http://schemas.microsoft.com/office/drawing/2014/main" id="{30F1432E-A0F6-49B7-97AB-8A1FACC03251}"/>
              </a:ext>
            </a:extLst>
          </p:cNvPr>
          <p:cNvSpPr>
            <a:spLocks noGrp="1"/>
          </p:cNvSpPr>
          <p:nvPr>
            <p:ph idx="1"/>
          </p:nvPr>
        </p:nvSpPr>
        <p:spPr/>
        <p:txBody>
          <a:bodyPr anchor="ctr"/>
          <a:lstStyle/>
          <a:p>
            <a:r>
              <a:rPr lang="es-CO" dirty="0"/>
              <a:t>Elegir RDBMS si: integridad fuerte, ≤ 1 TB, OLTP/OLAP ligero.</a:t>
            </a:r>
          </a:p>
          <a:p>
            <a:r>
              <a:rPr lang="es-CO" dirty="0"/>
              <a:t>Elegir Big Data si: múltiples formatos, </a:t>
            </a:r>
            <a:r>
              <a:rPr lang="es-CO" dirty="0" err="1"/>
              <a:t>streaming</a:t>
            </a:r>
            <a:r>
              <a:rPr lang="es-CO" dirty="0"/>
              <a:t>, crecimiento impredecible, IA a escala.</a:t>
            </a:r>
          </a:p>
          <a:p>
            <a:r>
              <a:rPr lang="es-CO" dirty="0"/>
              <a:t>Modelo híbrido: base transaccional + lago de datos para analítica.</a:t>
            </a:r>
          </a:p>
          <a:p>
            <a:endParaRPr lang="es-CO" dirty="0"/>
          </a:p>
        </p:txBody>
      </p:sp>
    </p:spTree>
    <p:extLst>
      <p:ext uri="{BB962C8B-B14F-4D97-AF65-F5344CB8AC3E}">
        <p14:creationId xmlns:p14="http://schemas.microsoft.com/office/powerpoint/2010/main" val="20908180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C82192-C560-49E3-07C7-BD3EB07C3359}"/>
              </a:ext>
            </a:extLst>
          </p:cNvPr>
          <p:cNvSpPr>
            <a:spLocks noGrp="1"/>
          </p:cNvSpPr>
          <p:nvPr>
            <p:ph type="title"/>
          </p:nvPr>
        </p:nvSpPr>
        <p:spPr/>
        <p:txBody>
          <a:bodyPr/>
          <a:lstStyle/>
          <a:p>
            <a:r>
              <a:rPr lang="es-CO" dirty="0"/>
              <a:t>Retos y mejores prácticas</a:t>
            </a:r>
          </a:p>
        </p:txBody>
      </p:sp>
      <p:sp>
        <p:nvSpPr>
          <p:cNvPr id="3" name="Marcador de contenido 2">
            <a:extLst>
              <a:ext uri="{FF2B5EF4-FFF2-40B4-BE49-F238E27FC236}">
                <a16:creationId xmlns:a16="http://schemas.microsoft.com/office/drawing/2014/main" id="{4C0DF1C8-99E9-31C8-9827-D9FA74E08D06}"/>
              </a:ext>
            </a:extLst>
          </p:cNvPr>
          <p:cNvSpPr>
            <a:spLocks noGrp="1"/>
          </p:cNvSpPr>
          <p:nvPr>
            <p:ph idx="1"/>
          </p:nvPr>
        </p:nvSpPr>
        <p:spPr/>
        <p:txBody>
          <a:bodyPr/>
          <a:lstStyle/>
          <a:p>
            <a:r>
              <a:rPr lang="es-MX" dirty="0"/>
              <a:t>Gobernanza: catálogo, linaje, GDPR.</a:t>
            </a:r>
          </a:p>
          <a:p>
            <a:r>
              <a:rPr lang="es-MX" dirty="0"/>
              <a:t>Costos: red, almacenamiento frío (Glacier).</a:t>
            </a:r>
          </a:p>
          <a:p>
            <a:r>
              <a:rPr lang="es-MX" dirty="0" err="1"/>
              <a:t>Observabilidad</a:t>
            </a:r>
            <a:r>
              <a:rPr lang="es-MX" dirty="0"/>
              <a:t>: métricas, </a:t>
            </a:r>
            <a:r>
              <a:rPr lang="es-MX" dirty="0" err="1"/>
              <a:t>alerting</a:t>
            </a:r>
            <a:r>
              <a:rPr lang="es-MX" dirty="0"/>
              <a:t>, pruebas de datos.</a:t>
            </a:r>
          </a:p>
          <a:p>
            <a:r>
              <a:rPr lang="es-MX" dirty="0"/>
              <a:t>Ética: sesgos algorítmicos, privacidad (Han &amp; </a:t>
            </a:r>
            <a:r>
              <a:rPr lang="es-MX" dirty="0" err="1"/>
              <a:t>Kamber</a:t>
            </a:r>
            <a:r>
              <a:rPr lang="es-MX" dirty="0"/>
              <a:t>, 2012).</a:t>
            </a:r>
          </a:p>
          <a:p>
            <a:endParaRPr lang="es-CO" dirty="0"/>
          </a:p>
        </p:txBody>
      </p:sp>
    </p:spTree>
    <p:extLst>
      <p:ext uri="{BB962C8B-B14F-4D97-AF65-F5344CB8AC3E}">
        <p14:creationId xmlns:p14="http://schemas.microsoft.com/office/powerpoint/2010/main" val="31483258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25D55A-ED89-4C33-A148-34FF45CDF84F}"/>
              </a:ext>
            </a:extLst>
          </p:cNvPr>
          <p:cNvSpPr>
            <a:spLocks noGrp="1"/>
          </p:cNvSpPr>
          <p:nvPr>
            <p:ph type="title"/>
          </p:nvPr>
        </p:nvSpPr>
        <p:spPr/>
        <p:txBody>
          <a:bodyPr/>
          <a:lstStyle/>
          <a:p>
            <a:r>
              <a:rPr lang="es-CO" dirty="0"/>
              <a:t>BODEGAS Y LAGOS DE DATOS</a:t>
            </a:r>
          </a:p>
        </p:txBody>
      </p:sp>
      <p:sp>
        <p:nvSpPr>
          <p:cNvPr id="3" name="Marcador de texto 2">
            <a:extLst>
              <a:ext uri="{FF2B5EF4-FFF2-40B4-BE49-F238E27FC236}">
                <a16:creationId xmlns:a16="http://schemas.microsoft.com/office/drawing/2014/main" id="{77DBCF43-B7DC-4198-B666-A1C232E702BA}"/>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5718895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DEBE3-4558-483A-B74D-F295C7CF473E}"/>
              </a:ext>
            </a:extLst>
          </p:cNvPr>
          <p:cNvSpPr>
            <a:spLocks noGrp="1"/>
          </p:cNvSpPr>
          <p:nvPr>
            <p:ph type="title"/>
          </p:nvPr>
        </p:nvSpPr>
        <p:spPr/>
        <p:txBody>
          <a:bodyPr/>
          <a:lstStyle/>
          <a:p>
            <a:r>
              <a:rPr lang="es-CO" dirty="0"/>
              <a:t>BODEGAS Y LAGOS DE DATOS</a:t>
            </a:r>
          </a:p>
        </p:txBody>
      </p:sp>
      <p:sp>
        <p:nvSpPr>
          <p:cNvPr id="3" name="Marcador de contenido 2">
            <a:extLst>
              <a:ext uri="{FF2B5EF4-FFF2-40B4-BE49-F238E27FC236}">
                <a16:creationId xmlns:a16="http://schemas.microsoft.com/office/drawing/2014/main" id="{0F51F849-129D-46FC-82FD-A9D512303303}"/>
              </a:ext>
            </a:extLst>
          </p:cNvPr>
          <p:cNvSpPr>
            <a:spLocks noGrp="1"/>
          </p:cNvSpPr>
          <p:nvPr>
            <p:ph sz="half" idx="1"/>
          </p:nvPr>
        </p:nvSpPr>
        <p:spPr/>
        <p:txBody>
          <a:bodyPr anchor="ctr"/>
          <a:lstStyle/>
          <a:p>
            <a:r>
              <a:rPr lang="es-CO" dirty="0"/>
              <a:t>Bodega de datos (Data </a:t>
            </a:r>
            <a:r>
              <a:rPr lang="es-CO" dirty="0" err="1"/>
              <a:t>Warehouse</a:t>
            </a:r>
            <a:r>
              <a:rPr lang="es-CO" dirty="0"/>
              <a:t>): Almacén histórico optimizado para consultas analíticas y reportes.</a:t>
            </a:r>
          </a:p>
          <a:p>
            <a:r>
              <a:rPr lang="es-CO" dirty="0"/>
              <a:t>Lago de datos (Data Lake): </a:t>
            </a:r>
            <a:r>
              <a:rPr lang="es-MX" dirty="0"/>
              <a:t>Gran repositorio que conserva la información en su estado </a:t>
            </a:r>
            <a:r>
              <a:rPr lang="es-MX" b="1" dirty="0"/>
              <a:t>bruto</a:t>
            </a:r>
            <a:endParaRPr lang="es-CO" dirty="0"/>
          </a:p>
        </p:txBody>
      </p:sp>
      <p:pic>
        <p:nvPicPr>
          <p:cNvPr id="7" name="Marcador de contenido 6">
            <a:extLst>
              <a:ext uri="{FF2B5EF4-FFF2-40B4-BE49-F238E27FC236}">
                <a16:creationId xmlns:a16="http://schemas.microsoft.com/office/drawing/2014/main" id="{DD2B2C2C-6B70-4893-AF80-DD0A6714E5CA}"/>
              </a:ext>
            </a:extLst>
          </p:cNvPr>
          <p:cNvPicPr>
            <a:picLocks noGrp="1" noChangeAspect="1"/>
          </p:cNvPicPr>
          <p:nvPr>
            <p:ph sz="half" idx="2"/>
          </p:nvPr>
        </p:nvPicPr>
        <p:blipFill>
          <a:blip r:embed="rId2"/>
          <a:stretch>
            <a:fillRect/>
          </a:stretch>
        </p:blipFill>
        <p:spPr>
          <a:xfrm>
            <a:off x="6172200" y="1928654"/>
            <a:ext cx="5181600" cy="4145280"/>
          </a:xfrm>
          <a:prstGeom prst="rect">
            <a:avLst/>
          </a:prstGeom>
        </p:spPr>
      </p:pic>
    </p:spTree>
    <p:extLst>
      <p:ext uri="{BB962C8B-B14F-4D97-AF65-F5344CB8AC3E}">
        <p14:creationId xmlns:p14="http://schemas.microsoft.com/office/powerpoint/2010/main" val="27599955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C4E9B-25C2-4D8E-BBCC-F5F7D2F6DEDA}"/>
              </a:ext>
            </a:extLst>
          </p:cNvPr>
          <p:cNvSpPr>
            <a:spLocks noGrp="1"/>
          </p:cNvSpPr>
          <p:nvPr>
            <p:ph type="title"/>
          </p:nvPr>
        </p:nvSpPr>
        <p:spPr/>
        <p:txBody>
          <a:bodyPr/>
          <a:lstStyle/>
          <a:p>
            <a:r>
              <a:rPr lang="es-CO" dirty="0"/>
              <a:t>Diferencias clave</a:t>
            </a:r>
          </a:p>
        </p:txBody>
      </p:sp>
      <p:graphicFrame>
        <p:nvGraphicFramePr>
          <p:cNvPr id="5" name="Tabla 5">
            <a:extLst>
              <a:ext uri="{FF2B5EF4-FFF2-40B4-BE49-F238E27FC236}">
                <a16:creationId xmlns:a16="http://schemas.microsoft.com/office/drawing/2014/main" id="{771D3E87-818D-4364-B3B3-47D8CB338059}"/>
              </a:ext>
            </a:extLst>
          </p:cNvPr>
          <p:cNvGraphicFramePr>
            <a:graphicFrameLocks noGrp="1"/>
          </p:cNvGraphicFramePr>
          <p:nvPr>
            <p:ph idx="1"/>
            <p:extLst>
              <p:ext uri="{D42A27DB-BD31-4B8C-83A1-F6EECF244321}">
                <p14:modId xmlns:p14="http://schemas.microsoft.com/office/powerpoint/2010/main" val="3489046192"/>
              </p:ext>
            </p:extLst>
          </p:nvPr>
        </p:nvGraphicFramePr>
        <p:xfrm>
          <a:off x="838200" y="1825625"/>
          <a:ext cx="10515597" cy="34188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891505135"/>
                    </a:ext>
                  </a:extLst>
                </a:gridCol>
                <a:gridCol w="3505199">
                  <a:extLst>
                    <a:ext uri="{9D8B030D-6E8A-4147-A177-3AD203B41FA5}">
                      <a16:colId xmlns:a16="http://schemas.microsoft.com/office/drawing/2014/main" val="2172511690"/>
                    </a:ext>
                  </a:extLst>
                </a:gridCol>
                <a:gridCol w="3505199">
                  <a:extLst>
                    <a:ext uri="{9D8B030D-6E8A-4147-A177-3AD203B41FA5}">
                      <a16:colId xmlns:a16="http://schemas.microsoft.com/office/drawing/2014/main" val="322750759"/>
                    </a:ext>
                  </a:extLst>
                </a:gridCol>
              </a:tblGrid>
              <a:tr h="370840">
                <a:tc>
                  <a:txBody>
                    <a:bodyPr/>
                    <a:lstStyle/>
                    <a:p>
                      <a:pPr algn="ctr"/>
                      <a:r>
                        <a:rPr lang="es-CO" sz="1400" dirty="0">
                          <a:latin typeface="Verdana" panose="020B0604030504040204" pitchFamily="34" charset="0"/>
                          <a:ea typeface="Verdana" panose="020B0604030504040204" pitchFamily="34" charset="0"/>
                        </a:rPr>
                        <a:t>Concepto</a:t>
                      </a:r>
                    </a:p>
                  </a:txBody>
                  <a:tcPr/>
                </a:tc>
                <a:tc>
                  <a:txBody>
                    <a:bodyPr/>
                    <a:lstStyle/>
                    <a:p>
                      <a:pPr algn="ctr"/>
                      <a:r>
                        <a:rPr lang="es-CO" sz="1400" dirty="0" err="1">
                          <a:latin typeface="Verdana" panose="020B0604030504040204" pitchFamily="34" charset="0"/>
                          <a:ea typeface="Verdana" panose="020B0604030504040204" pitchFamily="34" charset="0"/>
                        </a:rPr>
                        <a:t>Warehouse</a:t>
                      </a:r>
                      <a:endParaRPr lang="es-CO" sz="1400" dirty="0">
                        <a:latin typeface="Verdana" panose="020B0604030504040204" pitchFamily="34" charset="0"/>
                        <a:ea typeface="Verdana" panose="020B0604030504040204" pitchFamily="34" charset="0"/>
                      </a:endParaRPr>
                    </a:p>
                  </a:txBody>
                  <a:tcPr/>
                </a:tc>
                <a:tc>
                  <a:txBody>
                    <a:bodyPr/>
                    <a:lstStyle/>
                    <a:p>
                      <a:pPr algn="ctr"/>
                      <a:r>
                        <a:rPr lang="es-CO" sz="1400" dirty="0">
                          <a:latin typeface="Verdana" panose="020B0604030504040204" pitchFamily="34" charset="0"/>
                          <a:ea typeface="Verdana" panose="020B0604030504040204" pitchFamily="34" charset="0"/>
                        </a:rPr>
                        <a:t>Lake</a:t>
                      </a:r>
                    </a:p>
                  </a:txBody>
                  <a:tcPr/>
                </a:tc>
                <a:extLst>
                  <a:ext uri="{0D108BD9-81ED-4DB2-BD59-A6C34878D82A}">
                    <a16:rowId xmlns:a16="http://schemas.microsoft.com/office/drawing/2014/main" val="1957356849"/>
                  </a:ext>
                </a:extLst>
              </a:tr>
              <a:tr h="370840">
                <a:tc>
                  <a:txBody>
                    <a:bodyPr/>
                    <a:lstStyle/>
                    <a:p>
                      <a:r>
                        <a:rPr lang="es-CO" sz="1400" b="1" dirty="0">
                          <a:latin typeface="Verdana" panose="020B0604030504040204" pitchFamily="34" charset="0"/>
                          <a:ea typeface="Verdana" panose="020B0604030504040204" pitchFamily="34" charset="0"/>
                        </a:rPr>
                        <a:t>Estructura y esquema</a:t>
                      </a:r>
                      <a:endParaRPr lang="es-CO" sz="1400" dirty="0">
                        <a:latin typeface="Verdana" panose="020B0604030504040204" pitchFamily="34" charset="0"/>
                        <a:ea typeface="Verdana" panose="020B0604030504040204" pitchFamily="34" charset="0"/>
                      </a:endParaRPr>
                    </a:p>
                    <a:p>
                      <a:endParaRPr lang="es-CO" sz="1400" dirty="0">
                        <a:latin typeface="Verdana" panose="020B0604030504040204" pitchFamily="34" charset="0"/>
                        <a:ea typeface="Verdana" panose="020B0604030504040204" pitchFamily="34" charset="0"/>
                      </a:endParaRPr>
                    </a:p>
                  </a:txBody>
                  <a:tcPr anchor="ctr"/>
                </a:tc>
                <a:tc>
                  <a:txBody>
                    <a:bodyPr/>
                    <a:lstStyle/>
                    <a:p>
                      <a:r>
                        <a:rPr lang="es-MX" sz="1400" b="0" dirty="0">
                          <a:latin typeface="Verdana" panose="020B0604030504040204" pitchFamily="34" charset="0"/>
                          <a:ea typeface="Verdana" panose="020B0604030504040204" pitchFamily="34" charset="0"/>
                        </a:rPr>
                        <a:t>Exige un modelo de datos definido de antemano; la carga (ETL) limpia, integra y documenta la información antes de almacenarla. </a:t>
                      </a:r>
                      <a:r>
                        <a:rPr lang="es-MX" sz="1400" b="0" dirty="0">
                          <a:latin typeface="Verdana" panose="020B0604030504040204" pitchFamily="34" charset="0"/>
                          <a:ea typeface="Verdana" panose="020B0604030504040204" pitchFamily="34" charset="0"/>
                          <a:hlinkClick r:id="rId2"/>
                        </a:rPr>
                        <a:t>azure.microsoft.com</a:t>
                      </a:r>
                      <a:endParaRPr lang="es-CO" sz="1400" b="0" dirty="0">
                        <a:latin typeface="Verdana" panose="020B0604030504040204" pitchFamily="34" charset="0"/>
                        <a:ea typeface="Verdan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0" dirty="0">
                          <a:latin typeface="Verdana" panose="020B0604030504040204" pitchFamily="34" charset="0"/>
                          <a:ea typeface="Verdana" panose="020B0604030504040204" pitchFamily="34" charset="0"/>
                        </a:rPr>
                        <a:t>Guarda los archivos tal cual llegan (CSV, JSON, imágenes, logs, audio, etc.). El esquema se aplica cuando se consulta (ELT). </a:t>
                      </a:r>
                      <a:r>
                        <a:rPr lang="es-MX" sz="1400" b="0" dirty="0">
                          <a:latin typeface="Verdana" panose="020B0604030504040204" pitchFamily="34" charset="0"/>
                          <a:ea typeface="Verdana" panose="020B0604030504040204" pitchFamily="34" charset="0"/>
                          <a:hlinkClick r:id="rId3"/>
                        </a:rPr>
                        <a:t>aws.amazon.com</a:t>
                      </a:r>
                      <a:endParaRPr lang="es-CO" sz="1400" b="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17666773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latin typeface="Verdana" panose="020B0604030504040204" pitchFamily="34" charset="0"/>
                          <a:ea typeface="Verdana" panose="020B0604030504040204" pitchFamily="34" charset="0"/>
                        </a:rPr>
                        <a:t>Velocidad de incorporación vs. velocidad de consulta</a:t>
                      </a:r>
                      <a:endParaRPr lang="es-MX" sz="1400" dirty="0">
                        <a:latin typeface="Verdana" panose="020B0604030504040204" pitchFamily="34" charset="0"/>
                        <a:ea typeface="Verdana" panose="020B0604030504040204" pitchFamily="34" charset="0"/>
                      </a:endParaRPr>
                    </a:p>
                    <a:p>
                      <a:endParaRPr lang="es-CO" sz="1400" dirty="0">
                        <a:latin typeface="Verdana" panose="020B0604030504040204" pitchFamily="34" charset="0"/>
                        <a:ea typeface="Verdana" panose="020B0604030504040204" pitchFamily="34" charset="0"/>
                      </a:endParaRPr>
                    </a:p>
                  </a:txBody>
                  <a:tcPr anchor="ctr"/>
                </a:tc>
                <a:tc>
                  <a:txBody>
                    <a:bodyPr/>
                    <a:lstStyle/>
                    <a:p>
                      <a:r>
                        <a:rPr lang="es-MX" sz="1400" b="0" dirty="0">
                          <a:latin typeface="Verdana" panose="020B0604030504040204" pitchFamily="34" charset="0"/>
                          <a:ea typeface="Verdana" panose="020B0604030504040204" pitchFamily="34" charset="0"/>
                        </a:rPr>
                        <a:t>Ingesta casi inmediata; ideal para capturar flujos de datos de </a:t>
                      </a:r>
                      <a:r>
                        <a:rPr lang="es-MX" sz="1400" b="0" dirty="0" err="1">
                          <a:latin typeface="Verdana" panose="020B0604030504040204" pitchFamily="34" charset="0"/>
                          <a:ea typeface="Verdana" panose="020B0604030504040204" pitchFamily="34" charset="0"/>
                        </a:rPr>
                        <a:t>IoT</a:t>
                      </a:r>
                      <a:r>
                        <a:rPr lang="es-MX" sz="1400" b="0" dirty="0">
                          <a:latin typeface="Verdana" panose="020B0604030504040204" pitchFamily="34" charset="0"/>
                          <a:ea typeface="Verdana" panose="020B0604030504040204" pitchFamily="34" charset="0"/>
                        </a:rPr>
                        <a:t> o clic-</a:t>
                      </a:r>
                      <a:r>
                        <a:rPr lang="es-MX" sz="1400" b="0" dirty="0" err="1">
                          <a:latin typeface="Verdana" panose="020B0604030504040204" pitchFamily="34" charset="0"/>
                          <a:ea typeface="Verdana" panose="020B0604030504040204" pitchFamily="34" charset="0"/>
                        </a:rPr>
                        <a:t>streams</a:t>
                      </a:r>
                      <a:r>
                        <a:rPr lang="es-MX" sz="1400" b="0" dirty="0">
                          <a:latin typeface="Verdana" panose="020B0604030504040204" pitchFamily="34" charset="0"/>
                          <a:ea typeface="Verdana" panose="020B0604030504040204" pitchFamily="34" charset="0"/>
                        </a:rPr>
                        <a:t>.</a:t>
                      </a:r>
                      <a:endParaRPr lang="es-CO" sz="1400" b="0" dirty="0">
                        <a:latin typeface="Verdana" panose="020B0604030504040204" pitchFamily="34" charset="0"/>
                        <a:ea typeface="Verdan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0" dirty="0">
                          <a:latin typeface="Verdana" panose="020B0604030504040204" pitchFamily="34" charset="0"/>
                          <a:ea typeface="Verdana" panose="020B0604030504040204" pitchFamily="34" charset="0"/>
                        </a:rPr>
                        <a:t>Ingesta más lenta porque transforma y valida, pero luego las consultas son muy rápidas y consistentes. </a:t>
                      </a:r>
                      <a:r>
                        <a:rPr lang="es-MX" sz="1400" b="0" dirty="0">
                          <a:latin typeface="Verdana" panose="020B0604030504040204" pitchFamily="34" charset="0"/>
                          <a:ea typeface="Verdana" panose="020B0604030504040204" pitchFamily="34" charset="0"/>
                          <a:hlinkClick r:id="rId4"/>
                        </a:rPr>
                        <a:t>qlik.com</a:t>
                      </a:r>
                      <a:endParaRPr lang="es-CO" sz="1400" b="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40347470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latin typeface="Verdana" panose="020B0604030504040204" pitchFamily="34" charset="0"/>
                          <a:ea typeface="Verdana" panose="020B0604030504040204" pitchFamily="34" charset="0"/>
                        </a:rPr>
                        <a:t>Usuarios y casos de uso</a:t>
                      </a:r>
                      <a:endParaRPr lang="es-MX" sz="1400" dirty="0">
                        <a:latin typeface="Verdana" panose="020B0604030504040204" pitchFamily="34" charset="0"/>
                        <a:ea typeface="Verdana" panose="020B0604030504040204" pitchFamily="34" charset="0"/>
                      </a:endParaRPr>
                    </a:p>
                    <a:p>
                      <a:endParaRPr lang="es-CO" sz="1400" dirty="0">
                        <a:latin typeface="Verdana" panose="020B0604030504040204" pitchFamily="34" charset="0"/>
                        <a:ea typeface="Verdana" panose="020B0604030504040204" pitchFamily="34" charset="0"/>
                      </a:endParaRPr>
                    </a:p>
                  </a:txBody>
                  <a:tcPr anchor="ctr"/>
                </a:tc>
                <a:tc>
                  <a:txBody>
                    <a:bodyPr/>
                    <a:lstStyle/>
                    <a:p>
                      <a:r>
                        <a:rPr lang="es-MX" sz="1400" b="0" dirty="0">
                          <a:latin typeface="Verdana" panose="020B0604030504040204" pitchFamily="34" charset="0"/>
                          <a:ea typeface="Verdana" panose="020B0604030504040204" pitchFamily="34" charset="0"/>
                        </a:rPr>
                        <a:t>Métricas de negocio, paneles KPI, cumplimiento regulatorio.</a:t>
                      </a:r>
                      <a:endParaRPr lang="es-CO" sz="1400" b="0" dirty="0">
                        <a:latin typeface="Verdana" panose="020B0604030504040204" pitchFamily="34" charset="0"/>
                        <a:ea typeface="Verdan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0" dirty="0">
                          <a:latin typeface="Verdana" panose="020B0604030504040204" pitchFamily="34" charset="0"/>
                          <a:ea typeface="Verdana" panose="020B0604030504040204" pitchFamily="34" charset="0"/>
                        </a:rPr>
                        <a:t>Exploración ad-hoc, entrenamiento de modelos de aprendizaje automático, </a:t>
                      </a:r>
                      <a:r>
                        <a:rPr lang="es-MX" sz="1400" b="0" dirty="0" err="1">
                          <a:latin typeface="Verdana" panose="020B0604030504040204" pitchFamily="34" charset="0"/>
                          <a:ea typeface="Verdana" panose="020B0604030504040204" pitchFamily="34" charset="0"/>
                        </a:rPr>
                        <a:t>sandbox</a:t>
                      </a:r>
                      <a:r>
                        <a:rPr lang="es-MX" sz="1400" b="0" dirty="0">
                          <a:latin typeface="Verdana" panose="020B0604030504040204" pitchFamily="34" charset="0"/>
                          <a:ea typeface="Verdana" panose="020B0604030504040204" pitchFamily="34" charset="0"/>
                        </a:rPr>
                        <a:t> de innovación. </a:t>
                      </a:r>
                      <a:r>
                        <a:rPr lang="es-MX" sz="1400" b="0" dirty="0">
                          <a:latin typeface="Verdana" panose="020B0604030504040204" pitchFamily="34" charset="0"/>
                          <a:ea typeface="Verdana" panose="020B0604030504040204" pitchFamily="34" charset="0"/>
                          <a:hlinkClick r:id="rId4"/>
                        </a:rPr>
                        <a:t>qlik.com</a:t>
                      </a:r>
                      <a:endParaRPr lang="es-CO" sz="1400" b="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3102127347"/>
                  </a:ext>
                </a:extLst>
              </a:tr>
            </a:tbl>
          </a:graphicData>
        </a:graphic>
      </p:graphicFrame>
    </p:spTree>
    <p:extLst>
      <p:ext uri="{BB962C8B-B14F-4D97-AF65-F5344CB8AC3E}">
        <p14:creationId xmlns:p14="http://schemas.microsoft.com/office/powerpoint/2010/main" val="5496792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C4E9B-25C2-4D8E-BBCC-F5F7D2F6DEDA}"/>
              </a:ext>
            </a:extLst>
          </p:cNvPr>
          <p:cNvSpPr>
            <a:spLocks noGrp="1"/>
          </p:cNvSpPr>
          <p:nvPr>
            <p:ph type="title"/>
          </p:nvPr>
        </p:nvSpPr>
        <p:spPr/>
        <p:txBody>
          <a:bodyPr/>
          <a:lstStyle/>
          <a:p>
            <a:r>
              <a:rPr lang="es-CO" dirty="0"/>
              <a:t>Diferencias clave</a:t>
            </a:r>
          </a:p>
        </p:txBody>
      </p:sp>
      <p:graphicFrame>
        <p:nvGraphicFramePr>
          <p:cNvPr id="5" name="Tabla 5">
            <a:extLst>
              <a:ext uri="{FF2B5EF4-FFF2-40B4-BE49-F238E27FC236}">
                <a16:creationId xmlns:a16="http://schemas.microsoft.com/office/drawing/2014/main" id="{771D3E87-818D-4364-B3B3-47D8CB338059}"/>
              </a:ext>
            </a:extLst>
          </p:cNvPr>
          <p:cNvGraphicFramePr>
            <a:graphicFrameLocks noGrp="1"/>
          </p:cNvGraphicFramePr>
          <p:nvPr>
            <p:ph idx="1"/>
            <p:extLst>
              <p:ext uri="{D42A27DB-BD31-4B8C-83A1-F6EECF244321}">
                <p14:modId xmlns:p14="http://schemas.microsoft.com/office/powerpoint/2010/main" val="1028557023"/>
              </p:ext>
            </p:extLst>
          </p:nvPr>
        </p:nvGraphicFramePr>
        <p:xfrm>
          <a:off x="838200" y="1825625"/>
          <a:ext cx="10515597" cy="34188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891505135"/>
                    </a:ext>
                  </a:extLst>
                </a:gridCol>
                <a:gridCol w="3505199">
                  <a:extLst>
                    <a:ext uri="{9D8B030D-6E8A-4147-A177-3AD203B41FA5}">
                      <a16:colId xmlns:a16="http://schemas.microsoft.com/office/drawing/2014/main" val="2172511690"/>
                    </a:ext>
                  </a:extLst>
                </a:gridCol>
                <a:gridCol w="3505199">
                  <a:extLst>
                    <a:ext uri="{9D8B030D-6E8A-4147-A177-3AD203B41FA5}">
                      <a16:colId xmlns:a16="http://schemas.microsoft.com/office/drawing/2014/main" val="322750759"/>
                    </a:ext>
                  </a:extLst>
                </a:gridCol>
              </a:tblGrid>
              <a:tr h="370840">
                <a:tc>
                  <a:txBody>
                    <a:bodyPr/>
                    <a:lstStyle/>
                    <a:p>
                      <a:pPr algn="ctr"/>
                      <a:r>
                        <a:rPr lang="es-CO" sz="1400" dirty="0">
                          <a:latin typeface="Verdana" panose="020B0604030504040204" pitchFamily="34" charset="0"/>
                          <a:ea typeface="Verdana" panose="020B0604030504040204" pitchFamily="34" charset="0"/>
                        </a:rPr>
                        <a:t>Concepto</a:t>
                      </a:r>
                    </a:p>
                  </a:txBody>
                  <a:tcPr/>
                </a:tc>
                <a:tc>
                  <a:txBody>
                    <a:bodyPr/>
                    <a:lstStyle/>
                    <a:p>
                      <a:pPr algn="ctr"/>
                      <a:r>
                        <a:rPr lang="es-CO" sz="1400" dirty="0" err="1">
                          <a:latin typeface="Verdana" panose="020B0604030504040204" pitchFamily="34" charset="0"/>
                          <a:ea typeface="Verdana" panose="020B0604030504040204" pitchFamily="34" charset="0"/>
                        </a:rPr>
                        <a:t>Warehouse</a:t>
                      </a:r>
                      <a:endParaRPr lang="es-CO" sz="1400" dirty="0">
                        <a:latin typeface="Verdana" panose="020B0604030504040204" pitchFamily="34" charset="0"/>
                        <a:ea typeface="Verdana" panose="020B0604030504040204" pitchFamily="34" charset="0"/>
                      </a:endParaRPr>
                    </a:p>
                  </a:txBody>
                  <a:tcPr/>
                </a:tc>
                <a:tc>
                  <a:txBody>
                    <a:bodyPr/>
                    <a:lstStyle/>
                    <a:p>
                      <a:pPr algn="ctr"/>
                      <a:r>
                        <a:rPr lang="es-CO" sz="1400" dirty="0">
                          <a:latin typeface="Verdana" panose="020B0604030504040204" pitchFamily="34" charset="0"/>
                          <a:ea typeface="Verdana" panose="020B0604030504040204" pitchFamily="34" charset="0"/>
                        </a:rPr>
                        <a:t>Lake</a:t>
                      </a:r>
                    </a:p>
                  </a:txBody>
                  <a:tcPr/>
                </a:tc>
                <a:extLst>
                  <a:ext uri="{0D108BD9-81ED-4DB2-BD59-A6C34878D82A}">
                    <a16:rowId xmlns:a16="http://schemas.microsoft.com/office/drawing/2014/main" val="19573568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400" b="1" dirty="0">
                          <a:latin typeface="Verdana" panose="020B0604030504040204" pitchFamily="34" charset="0"/>
                          <a:ea typeface="Verdana" panose="020B0604030504040204" pitchFamily="34" charset="0"/>
                        </a:rPr>
                        <a:t>Costos y plataforma</a:t>
                      </a:r>
                      <a:endParaRPr lang="es-CO" sz="1400" dirty="0">
                        <a:latin typeface="Verdana" panose="020B0604030504040204" pitchFamily="34" charset="0"/>
                        <a:ea typeface="Verdana" panose="020B0604030504040204" pitchFamily="34" charset="0"/>
                      </a:endParaRPr>
                    </a:p>
                    <a:p>
                      <a:endParaRPr lang="es-CO" sz="1400" dirty="0">
                        <a:latin typeface="Verdana" panose="020B0604030504040204" pitchFamily="34" charset="0"/>
                        <a:ea typeface="Verdana" panose="020B0604030504040204" pitchFamily="34" charset="0"/>
                      </a:endParaRPr>
                    </a:p>
                  </a:txBody>
                  <a:tcPr anchor="ctr"/>
                </a:tc>
                <a:tc>
                  <a:txBody>
                    <a:bodyPr/>
                    <a:lstStyle/>
                    <a:p>
                      <a:r>
                        <a:rPr lang="es-CO" sz="1400" b="0" dirty="0">
                          <a:latin typeface="Verdana" panose="020B0604030504040204" pitchFamily="34" charset="0"/>
                          <a:ea typeface="Verdana" panose="020B0604030504040204" pitchFamily="34" charset="0"/>
                        </a:rPr>
                        <a:t>Las bodegas usan motores analíticos columnar y recursos de cómputo más caros pero optimizados (</a:t>
                      </a:r>
                      <a:r>
                        <a:rPr lang="es-CO" sz="1400" b="0" dirty="0" err="1">
                          <a:latin typeface="Verdana" panose="020B0604030504040204" pitchFamily="34" charset="0"/>
                          <a:ea typeface="Verdana" panose="020B0604030504040204" pitchFamily="34" charset="0"/>
                        </a:rPr>
                        <a:t>BigQuery</a:t>
                      </a:r>
                      <a:r>
                        <a:rPr lang="es-CO" sz="1400" b="0" dirty="0">
                          <a:latin typeface="Verdana" panose="020B0604030504040204" pitchFamily="34" charset="0"/>
                          <a:ea typeface="Verdana" panose="020B0604030504040204" pitchFamily="34" charset="0"/>
                        </a:rPr>
                        <a:t>, </a:t>
                      </a:r>
                      <a:r>
                        <a:rPr lang="es-CO" sz="1400" b="0" dirty="0" err="1">
                          <a:latin typeface="Verdana" panose="020B0604030504040204" pitchFamily="34" charset="0"/>
                          <a:ea typeface="Verdana" panose="020B0604030504040204" pitchFamily="34" charset="0"/>
                        </a:rPr>
                        <a:t>Snowflake</a:t>
                      </a:r>
                      <a:r>
                        <a:rPr lang="es-CO" sz="1400" b="0" dirty="0">
                          <a:latin typeface="Verdana" panose="020B0604030504040204" pitchFamily="34" charset="0"/>
                          <a:ea typeface="Verdana" panose="020B0604030504040204" pitchFamily="34" charset="0"/>
                        </a:rPr>
                        <a:t>, </a:t>
                      </a:r>
                      <a:r>
                        <a:rPr lang="es-CO" sz="1400" b="0" dirty="0" err="1">
                          <a:latin typeface="Verdana" panose="020B0604030504040204" pitchFamily="34" charset="0"/>
                          <a:ea typeface="Verdana" panose="020B0604030504040204" pitchFamily="34" charset="0"/>
                        </a:rPr>
                        <a:t>Redshift</a:t>
                      </a:r>
                      <a:r>
                        <a:rPr lang="es-CO" sz="1400" b="0" dirty="0">
                          <a:latin typeface="Verdana" panose="020B0604030504040204" pitchFamily="34" charset="0"/>
                          <a:ea typeface="Verdana" panose="020B0604030504040204" pitchFamily="34" charset="0"/>
                        </a:rPr>
                        <a:t>, </a:t>
                      </a:r>
                      <a:r>
                        <a:rPr lang="es-CO" sz="1400" b="0" dirty="0" err="1">
                          <a:latin typeface="Verdana" panose="020B0604030504040204" pitchFamily="34" charset="0"/>
                          <a:ea typeface="Verdana" panose="020B0604030504040204" pitchFamily="34" charset="0"/>
                        </a:rPr>
                        <a:t>Synapse</a:t>
                      </a:r>
                      <a:r>
                        <a:rPr lang="es-CO" sz="1400" b="0" dirty="0">
                          <a:latin typeface="Verdana" panose="020B0604030504040204" pitchFamily="34" charset="0"/>
                          <a:ea typeface="Verdana" panose="020B0604030504040204" pitchFamily="34"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400" b="0" dirty="0">
                          <a:latin typeface="Verdana" panose="020B0604030504040204" pitchFamily="34" charset="0"/>
                          <a:ea typeface="Verdana" panose="020B0604030504040204" pitchFamily="34" charset="0"/>
                        </a:rPr>
                        <a:t>Los lagos suelen montarse sobre almacenamiento distribuido de bajo costo (HDFS, Amazon S3, Azure Data Lake Storage).</a:t>
                      </a:r>
                    </a:p>
                  </a:txBody>
                  <a:tcPr anchor="ctr"/>
                </a:tc>
                <a:extLst>
                  <a:ext uri="{0D108BD9-81ED-4DB2-BD59-A6C34878D82A}">
                    <a16:rowId xmlns:a16="http://schemas.microsoft.com/office/drawing/2014/main" val="17666773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400" b="1" dirty="0">
                          <a:latin typeface="Verdana" panose="020B0604030504040204" pitchFamily="34" charset="0"/>
                          <a:ea typeface="Verdana" panose="020B0604030504040204" pitchFamily="34" charset="0"/>
                        </a:rPr>
                        <a:t>Gobernanza y calidad</a:t>
                      </a:r>
                      <a:endParaRPr lang="es-CO" sz="1400" dirty="0">
                        <a:latin typeface="Verdana" panose="020B0604030504040204" pitchFamily="34" charset="0"/>
                        <a:ea typeface="Verdana" panose="020B0604030504040204" pitchFamily="34" charset="0"/>
                      </a:endParaRPr>
                    </a:p>
                    <a:p>
                      <a:endParaRPr lang="es-CO" sz="1400" dirty="0">
                        <a:latin typeface="Verdana" panose="020B0604030504040204" pitchFamily="34" charset="0"/>
                        <a:ea typeface="Verdana" panose="020B0604030504040204" pitchFamily="34" charset="0"/>
                      </a:endParaRPr>
                    </a:p>
                  </a:txBody>
                  <a:tcPr anchor="ctr"/>
                </a:tc>
                <a:tc>
                  <a:txBody>
                    <a:bodyPr/>
                    <a:lstStyle/>
                    <a:p>
                      <a:r>
                        <a:rPr lang="es-MX" sz="1400" b="0" dirty="0">
                          <a:latin typeface="Verdana" panose="020B0604030504040204" pitchFamily="34" charset="0"/>
                          <a:ea typeface="Verdana" panose="020B0604030504040204" pitchFamily="34" charset="0"/>
                        </a:rPr>
                        <a:t>En un </a:t>
                      </a:r>
                      <a:r>
                        <a:rPr lang="es-MX" sz="1400" b="0" dirty="0" err="1">
                          <a:latin typeface="Verdana" panose="020B0604030504040204" pitchFamily="34" charset="0"/>
                          <a:ea typeface="Verdana" panose="020B0604030504040204" pitchFamily="34" charset="0"/>
                        </a:rPr>
                        <a:t>warehouse</a:t>
                      </a:r>
                      <a:r>
                        <a:rPr lang="es-MX" sz="1400" b="0" dirty="0">
                          <a:latin typeface="Verdana" panose="020B0604030504040204" pitchFamily="34" charset="0"/>
                          <a:ea typeface="Verdana" panose="020B0604030504040204" pitchFamily="34" charset="0"/>
                        </a:rPr>
                        <a:t> la calidad está garantizada por los procesos ETL y los controles de acceso finos.</a:t>
                      </a:r>
                      <a:endParaRPr lang="es-CO" sz="1400" b="0" dirty="0">
                        <a:latin typeface="Verdana" panose="020B0604030504040204" pitchFamily="34" charset="0"/>
                        <a:ea typeface="Verdan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0" dirty="0">
                          <a:latin typeface="Verdana" panose="020B0604030504040204" pitchFamily="34" charset="0"/>
                          <a:ea typeface="Verdana" panose="020B0604030504040204" pitchFamily="34" charset="0"/>
                        </a:rPr>
                        <a:t>Un </a:t>
                      </a:r>
                      <a:r>
                        <a:rPr lang="es-MX" sz="1400" b="0" dirty="0" err="1">
                          <a:latin typeface="Verdana" panose="020B0604030504040204" pitchFamily="34" charset="0"/>
                          <a:ea typeface="Verdana" panose="020B0604030504040204" pitchFamily="34" charset="0"/>
                        </a:rPr>
                        <a:t>lake</a:t>
                      </a:r>
                      <a:r>
                        <a:rPr lang="es-MX" sz="1400" b="0" dirty="0">
                          <a:latin typeface="Verdana" panose="020B0604030504040204" pitchFamily="34" charset="0"/>
                          <a:ea typeface="Verdana" panose="020B0604030504040204" pitchFamily="34" charset="0"/>
                        </a:rPr>
                        <a:t> necesita capas adicionales (catálogo de metadatos, data </a:t>
                      </a:r>
                      <a:r>
                        <a:rPr lang="es-MX" sz="1400" b="0" dirty="0" err="1">
                          <a:latin typeface="Verdana" panose="020B0604030504040204" pitchFamily="34" charset="0"/>
                          <a:ea typeface="Verdana" panose="020B0604030504040204" pitchFamily="34" charset="0"/>
                        </a:rPr>
                        <a:t>quality</a:t>
                      </a:r>
                      <a:r>
                        <a:rPr lang="es-MX" sz="1400" b="0" dirty="0">
                          <a:latin typeface="Verdana" panose="020B0604030504040204" pitchFamily="34" charset="0"/>
                          <a:ea typeface="Verdana" panose="020B0604030504040204" pitchFamily="34" charset="0"/>
                        </a:rPr>
                        <a:t>, políticas de seguridad) para evitar convertirse en un “data </a:t>
                      </a:r>
                      <a:r>
                        <a:rPr lang="es-MX" sz="1400" b="0" dirty="0" err="1">
                          <a:latin typeface="Verdana" panose="020B0604030504040204" pitchFamily="34" charset="0"/>
                          <a:ea typeface="Verdana" panose="020B0604030504040204" pitchFamily="34" charset="0"/>
                        </a:rPr>
                        <a:t>swamp</a:t>
                      </a:r>
                      <a:r>
                        <a:rPr lang="es-MX" sz="1400" b="0" dirty="0">
                          <a:latin typeface="Verdana" panose="020B0604030504040204" pitchFamily="34" charset="0"/>
                          <a:ea typeface="Verdana" panose="020B0604030504040204" pitchFamily="34" charset="0"/>
                        </a:rPr>
                        <a:t>”.</a:t>
                      </a:r>
                      <a:endParaRPr lang="es-CO" sz="1400" b="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40347470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400" b="1" dirty="0">
                          <a:latin typeface="Verdana" panose="020B0604030504040204" pitchFamily="34" charset="0"/>
                          <a:ea typeface="Verdana" panose="020B0604030504040204" pitchFamily="34" charset="0"/>
                        </a:rPr>
                        <a:t>Evolución reciente: </a:t>
                      </a:r>
                      <a:r>
                        <a:rPr lang="es-CO" sz="1400" b="1" dirty="0" err="1">
                          <a:latin typeface="Verdana" panose="020B0604030504040204" pitchFamily="34" charset="0"/>
                          <a:ea typeface="Verdana" panose="020B0604030504040204" pitchFamily="34" charset="0"/>
                        </a:rPr>
                        <a:t>Lakehouse</a:t>
                      </a:r>
                      <a:endParaRPr lang="es-CO" sz="1400" dirty="0">
                        <a:latin typeface="Verdana" panose="020B0604030504040204" pitchFamily="34" charset="0"/>
                        <a:ea typeface="Verdana" panose="020B0604030504040204" pitchFamily="34" charset="0"/>
                      </a:endParaRPr>
                    </a:p>
                  </a:txBody>
                  <a:tcPr anchor="ctr"/>
                </a:tc>
                <a:tc gridSpan="2">
                  <a:txBody>
                    <a:bodyPr/>
                    <a:lstStyle/>
                    <a:p>
                      <a:pPr algn="ctr"/>
                      <a:r>
                        <a:rPr lang="es-MX" sz="1400" b="0" dirty="0">
                          <a:latin typeface="Verdana" panose="020B0604030504040204" pitchFamily="34" charset="0"/>
                          <a:ea typeface="Verdana" panose="020B0604030504040204" pitchFamily="34" charset="0"/>
                        </a:rPr>
                        <a:t>Combina un único repositorio de bajo costo con transacciones ACID, catálogos y rendimiento analítico (Delta Lake, Apache Iceberg, </a:t>
                      </a:r>
                      <a:r>
                        <a:rPr lang="es-MX" sz="1400" b="0" dirty="0" err="1">
                          <a:latin typeface="Verdana" panose="020B0604030504040204" pitchFamily="34" charset="0"/>
                          <a:ea typeface="Verdana" panose="020B0604030504040204" pitchFamily="34" charset="0"/>
                        </a:rPr>
                        <a:t>Hudi</a:t>
                      </a:r>
                      <a:r>
                        <a:rPr lang="es-MX" sz="1400" b="0" dirty="0">
                          <a:latin typeface="Verdana" panose="020B0604030504040204" pitchFamily="34" charset="0"/>
                          <a:ea typeface="Verdana" panose="020B0604030504040204" pitchFamily="34" charset="0"/>
                        </a:rPr>
                        <a:t>), intentando ofrecer “lo mejor de ambos mundos”</a:t>
                      </a:r>
                      <a:endParaRPr lang="es-CO" sz="1400" b="0" dirty="0">
                        <a:latin typeface="Verdana" panose="020B0604030504040204" pitchFamily="34" charset="0"/>
                        <a:ea typeface="Verdana" panose="020B0604030504040204" pitchFamily="34" charset="0"/>
                      </a:endParaRPr>
                    </a:p>
                  </a:txBody>
                  <a:tcPr anchor="ctr"/>
                </a:tc>
                <a:tc hMerge="1">
                  <a:txBody>
                    <a:bodyPr/>
                    <a:lstStyle/>
                    <a:p>
                      <a:endParaRPr lang="es-CO" sz="1600" dirty="0"/>
                    </a:p>
                  </a:txBody>
                  <a:tcPr/>
                </a:tc>
                <a:extLst>
                  <a:ext uri="{0D108BD9-81ED-4DB2-BD59-A6C34878D82A}">
                    <a16:rowId xmlns:a16="http://schemas.microsoft.com/office/drawing/2014/main" val="3102127347"/>
                  </a:ext>
                </a:extLst>
              </a:tr>
            </a:tbl>
          </a:graphicData>
        </a:graphic>
      </p:graphicFrame>
    </p:spTree>
    <p:extLst>
      <p:ext uri="{BB962C8B-B14F-4D97-AF65-F5344CB8AC3E}">
        <p14:creationId xmlns:p14="http://schemas.microsoft.com/office/powerpoint/2010/main" val="24951015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C2F04-B76D-4586-A309-0400BFD4F339}"/>
              </a:ext>
            </a:extLst>
          </p:cNvPr>
          <p:cNvSpPr>
            <a:spLocks noGrp="1"/>
          </p:cNvSpPr>
          <p:nvPr>
            <p:ph type="title"/>
          </p:nvPr>
        </p:nvSpPr>
        <p:spPr/>
        <p:txBody>
          <a:bodyPr/>
          <a:lstStyle/>
          <a:p>
            <a:r>
              <a:rPr lang="es-CO" dirty="0"/>
              <a:t>GRACIAS</a:t>
            </a:r>
          </a:p>
        </p:txBody>
      </p:sp>
      <p:sp>
        <p:nvSpPr>
          <p:cNvPr id="3" name="Marcador de texto 2">
            <a:extLst>
              <a:ext uri="{FF2B5EF4-FFF2-40B4-BE49-F238E27FC236}">
                <a16:creationId xmlns:a16="http://schemas.microsoft.com/office/drawing/2014/main" id="{29410631-9493-4FD6-99E0-A4FB0F49C2F2}"/>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426579986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TotalTime>
  <Words>3440</Words>
  <Application>Microsoft Office PowerPoint</Application>
  <PresentationFormat>Panorámica</PresentationFormat>
  <Paragraphs>398</Paragraphs>
  <Slides>62</Slides>
  <Notes>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62</vt:i4>
      </vt:variant>
    </vt:vector>
  </HeadingPairs>
  <TitlesOfParts>
    <vt:vector size="71" baseType="lpstr">
      <vt:lpstr>Aptos</vt:lpstr>
      <vt:lpstr>Arial</vt:lpstr>
      <vt:lpstr>Calibri</vt:lpstr>
      <vt:lpstr>Consolas</vt:lpstr>
      <vt:lpstr>Lucida Console</vt:lpstr>
      <vt:lpstr>Söhne</vt:lpstr>
      <vt:lpstr>ui-sans-serif</vt:lpstr>
      <vt:lpstr>Verdana</vt:lpstr>
      <vt:lpstr>Tema de Office</vt:lpstr>
      <vt:lpstr>Módulo 2 – Consulta de Datos, Scraping e Introducción a Big Data</vt:lpstr>
      <vt:lpstr>Consulta de Datos y Scraping</vt:lpstr>
      <vt:lpstr>CRISP-DM: Data Understanding</vt:lpstr>
      <vt:lpstr>Formatos de almacenamiento local</vt:lpstr>
      <vt:lpstr>Formatos de almacenamiento local</vt:lpstr>
      <vt:lpstr>Formatos de almacenamiento local</vt:lpstr>
      <vt:lpstr>Buenas prácticas al importar</vt:lpstr>
      <vt:lpstr>Demo rápida (Jupyter)</vt:lpstr>
      <vt:lpstr>Web Scraping responsable en Python</vt:lpstr>
      <vt:lpstr>¿Qué es Web Scraping?</vt:lpstr>
      <vt:lpstr>Anatomía de una petición HTTP</vt:lpstr>
      <vt:lpstr>Librería requests</vt:lpstr>
      <vt:lpstr>Datos Estructurados</vt:lpstr>
      <vt:lpstr>¿Qué son los Datos Estructurados?</vt:lpstr>
      <vt:lpstr>Características Principales de los Datos Estructurados</vt:lpstr>
      <vt:lpstr>Recomendaciones para Formatear una Tabla para Análisis</vt:lpstr>
      <vt:lpstr>Buenas Prácticas en la Gestión de Datos Estructurados</vt:lpstr>
      <vt:lpstr>Y entonces… ¿Qué son los Datos No Estructurados?</vt:lpstr>
      <vt:lpstr>Bases de datos relacionales</vt:lpstr>
      <vt:lpstr>Relevancia de las bases de datos</vt:lpstr>
      <vt:lpstr>Definición y función del Sistema Gestor de Bases de Datos (SGBD)</vt:lpstr>
      <vt:lpstr>Enfoque relacional</vt:lpstr>
      <vt:lpstr>Elementos claves de una BD relacional</vt:lpstr>
      <vt:lpstr>Llaves y reglas de integridad</vt:lpstr>
      <vt:lpstr>Cardinalidad de las relaciones</vt:lpstr>
      <vt:lpstr>Cardinalidad de las relaciones</vt:lpstr>
      <vt:lpstr>Consultas a bases de datos</vt:lpstr>
      <vt:lpstr>¿Qué es SQL?</vt:lpstr>
      <vt:lpstr>SQL Cheat Sheets</vt:lpstr>
      <vt:lpstr>Conexión a bases de datos (DB) en Python</vt:lpstr>
      <vt:lpstr>Exploración GUI con HeidiSQL</vt:lpstr>
      <vt:lpstr>Instalación de MariaDB y HeidiSQL</vt:lpstr>
      <vt:lpstr>De la consulta a pandas</vt:lpstr>
      <vt:lpstr>SELECT: qué columnas traer</vt:lpstr>
      <vt:lpstr>WHERE: filtrar filas</vt:lpstr>
      <vt:lpstr>WHERE: filtrar filas</vt:lpstr>
      <vt:lpstr>WHERE: filtrar filas</vt:lpstr>
      <vt:lpstr>GROUP BY: agregación</vt:lpstr>
      <vt:lpstr>HAVING: filtrar grupos</vt:lpstr>
      <vt:lpstr>LIMIT y OFFSET</vt:lpstr>
      <vt:lpstr>JOIN: combinar tablas</vt:lpstr>
      <vt:lpstr>JOIN: combinar tablas</vt:lpstr>
      <vt:lpstr>JOIN: combinar tablas</vt:lpstr>
      <vt:lpstr>Introducción a Big Data</vt:lpstr>
      <vt:lpstr>Motivación y contexto</vt:lpstr>
      <vt:lpstr>Presentación de PowerPoint</vt:lpstr>
      <vt:lpstr>Definición formal de Big Data</vt:lpstr>
      <vt:lpstr>Las 5 V con ejemplos</vt:lpstr>
      <vt:lpstr>Arquitectura genérica (Lambda)</vt:lpstr>
      <vt:lpstr>Hadoop Distributed File System (HDFS)</vt:lpstr>
      <vt:lpstr>Parallelism</vt:lpstr>
      <vt:lpstr>Presentación de PowerPoint</vt:lpstr>
      <vt:lpstr>Presentación de PowerPoint</vt:lpstr>
      <vt:lpstr>Qué sí y qué no es Big Data</vt:lpstr>
      <vt:lpstr>Presentación de PowerPoint</vt:lpstr>
      <vt:lpstr>Criterios de elección</vt:lpstr>
      <vt:lpstr>Retos y mejores prácticas</vt:lpstr>
      <vt:lpstr>BODEGAS Y LAGOS DE DATOS</vt:lpstr>
      <vt:lpstr>BODEGAS Y LAGOS DE DATOS</vt:lpstr>
      <vt:lpstr>Diferencias clave</vt:lpstr>
      <vt:lpstr>Diferencias clave</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1 – Fundamentos y Exploración de Datos</dc:title>
  <dc:creator>Délany Ramírez</dc:creator>
  <cp:lastModifiedBy>Délany Ramírez</cp:lastModifiedBy>
  <cp:revision>74</cp:revision>
  <dcterms:created xsi:type="dcterms:W3CDTF">2025-06-13T16:06:54Z</dcterms:created>
  <dcterms:modified xsi:type="dcterms:W3CDTF">2025-06-28T17:50:45Z</dcterms:modified>
</cp:coreProperties>
</file>