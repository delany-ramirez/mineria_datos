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9" r:id="rId8"/>
    <p:sldId id="266" r:id="rId9"/>
    <p:sldId id="267" r:id="rId10"/>
    <p:sldId id="265" r:id="rId11"/>
    <p:sldId id="268" r:id="rId12"/>
    <p:sldId id="261" r:id="rId13"/>
    <p:sldId id="264" r:id="rId14"/>
    <p:sldId id="262" r:id="rId15"/>
    <p:sldId id="263" r:id="rId16"/>
    <p:sldId id="270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53FCC-5847-44A9-B9A2-2333505D7291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B3BB1-4A80-4BA1-9D18-8663063562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410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66C01-AC10-76A6-EF5B-4D9F33D8D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78CC0E-71E0-49D9-9151-044FC1371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01931B-11C3-3F06-36A7-41EE182F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DDF91-A837-8C12-71DF-B1A2833C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B751DC-D0D1-C26F-8A1F-737FA16A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021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49D36-90E7-4936-246D-8FC7485D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0FAD18-D00D-EC99-7D02-90424190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0C40D5-E5AC-A3D0-38A0-C7DC5E99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8DEDFF-FF0C-2015-2E6A-59AA6FE2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F3CBA9-141B-B518-2788-D80DC68E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30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FDDD8-132A-6A88-2790-1C95D597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794FFA-A2F4-819B-18F6-90B9174CA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F2E70-7D8C-2196-88DC-4FD6961D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5032C0-44F5-6293-E33C-2B5E4A4B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42632D-AD7C-8500-1DF3-EFB9EDDF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922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AC8A-8AEF-A631-FE9C-6539B5B4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60563-9628-A67D-F6FC-2B8D412E1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4B0B02-2277-6B42-B4D5-058820C6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B15FBC-973F-38ED-CB6B-96352AB1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AA1419-199A-8B5B-EF65-4D71EE6F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0D61A-EA5C-788C-3127-E01A621C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7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CE96F-B7BF-57AA-B1CE-32B0C3BA6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45B669-EE7C-CD78-6DA2-1723E9EC8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D8791D-7EC8-3ACB-9A03-D4B1BAB96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99E7FA-7994-995F-09AD-BDCAF66CE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95CA99-C0C4-A1B9-9465-AFCB5B9DF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B4D68E-9BDA-91AD-717D-F979CB19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3F838E-3A69-C45B-2D22-294D332F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C6BA84-E52A-3ED7-4FB9-8C39E797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508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303A6-DD4B-1C56-CB19-A8494883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A60437-2E26-6575-2D30-664F5BB8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357D26-5B41-4647-00E0-33B93BF1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EEE155-DC9B-D3BC-09FA-CB945CA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892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C3A07A-D994-E2A2-400E-E38C95AE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4DF012-685A-6E59-0CC2-BACDADAB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BD190F-13D6-2F02-95D4-94222086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27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9D61C-CBA7-E601-BF85-F629B6CC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ED213-EA9A-1072-C2C4-0D02BFF47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B1EE55-65CD-9A64-FE92-45A424264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AFBA2D-1D04-073A-2EE3-F90FFE23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888DB0-FF4F-7F7E-7C9F-5A20678C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565546-69B3-0141-F2BD-87460B03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704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D42E4-9959-8E53-E949-8D68BA00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36FB9E-90BF-4A04-918D-8AE4E8D7B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4780D7-D636-01B7-6057-3F3BC329C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22172-6986-EBD6-4DB8-E5F6C8AF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E8A601-264F-4E65-C261-D7B82DC8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26D01A-ACCA-A0A7-13FC-6E387FA9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187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45045-B911-B6EE-3C2E-A05CBD54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503704-9AD2-9637-1267-6D434C045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05CE6D-432C-30D6-1F29-1A1AD9B4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76382-168B-539C-A8BA-B33CFBC8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E7F6C-EC16-C660-3E1C-3A8D1E98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360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DBE436-DF49-CCD6-1BE6-0F243BE7B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3E6762-C139-12BB-0358-3CB55ECCE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AD419-0CE7-A45D-F656-68602E37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472289-6D1B-5354-3E41-A3823487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7DCDE6-5EB9-95A5-ADB8-A70C511F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A29E-CA09-4170-A41B-C2470AA2B3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304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5C1E176-07E8-5EB5-F6D7-DEB4F9B7E77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49A98D-2845-E1DA-42A5-3B56E588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DB6C26-A679-9B3D-C8E0-1DD9BCB1A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84354-06B1-F908-15FD-92D645A56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03456-0D41-4FAA-A4DE-FC88BE14D655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60379-8F10-AA26-B385-2682EA063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20F80E-7552-FBAE-8835-F09378C6C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423A29E-CA09-4170-A41B-C2470AA2B37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505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ography.com/davechild/cheat-sheets/regular-expressions/#google_vignette" TargetMode="External"/><Relationship Id="rId2" Type="http://schemas.openxmlformats.org/officeDocument/2006/relationships/hyperlink" Target="https://media.datacamp.com/legacy/image/upload/v1665049611/Marketing/Blog/Regular_Expressions_Cheat_Shee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JavaScript/Guide/Regular_expressions/Cheatsheet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29682-032B-BB03-0571-E6A9C0DC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Módulo 3 –</a:t>
            </a:r>
            <a:r>
              <a:rPr lang="es-MX" dirty="0" err="1">
                <a:latin typeface="Verdana" panose="020B0604030504040204" pitchFamily="34" charset="0"/>
                <a:ea typeface="Verdana" panose="020B0604030504040204" pitchFamily="34" charset="0"/>
              </a:rPr>
              <a:t>Mineria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de texto y detección de patrones</a:t>
            </a:r>
            <a:endParaRPr lang="es-CO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185A58-688E-1E9C-71A3-F607F7D48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b="1" dirty="0">
                <a:latin typeface="Verdana" panose="020B0604030504040204" pitchFamily="34" charset="0"/>
                <a:ea typeface="Verdana" panose="020B0604030504040204" pitchFamily="34" charset="0"/>
              </a:rPr>
              <a:t>Especialización en Analítica y Ciencia de Datos Aplicada</a:t>
            </a:r>
          </a:p>
          <a:p>
            <a:endParaRPr lang="es-MX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MX" b="1" dirty="0">
                <a:latin typeface="Verdana" panose="020B0604030504040204" pitchFamily="34" charset="0"/>
                <a:ea typeface="Verdana" panose="020B0604030504040204" pitchFamily="34" charset="0"/>
              </a:rPr>
              <a:t>Délany Ramírez del Río</a:t>
            </a:r>
          </a:p>
          <a:p>
            <a:r>
              <a:rPr lang="es-MX" sz="1600" dirty="0">
                <a:latin typeface="Verdana" panose="020B0604030504040204" pitchFamily="34" charset="0"/>
                <a:ea typeface="Verdana" panose="020B0604030504040204" pitchFamily="34" charset="0"/>
              </a:rPr>
              <a:t>Ingeniero Industrial</a:t>
            </a:r>
          </a:p>
          <a:p>
            <a:r>
              <a:rPr lang="es-CO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MSc</a:t>
            </a:r>
            <a:r>
              <a:rPr lang="es-CO" sz="1600" dirty="0">
                <a:latin typeface="Verdana" panose="020B0604030504040204" pitchFamily="34" charset="0"/>
                <a:ea typeface="Verdana" panose="020B0604030504040204" pitchFamily="34" charset="0"/>
              </a:rPr>
              <a:t>. en Investigación Operativa y Estadística</a:t>
            </a:r>
          </a:p>
        </p:txBody>
      </p:sp>
    </p:spTree>
    <p:extLst>
      <p:ext uri="{BB962C8B-B14F-4D97-AF65-F5344CB8AC3E}">
        <p14:creationId xmlns:p14="http://schemas.microsoft.com/office/powerpoint/2010/main" val="15283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2905BB1-DB62-4B7C-9492-5EE1FBB7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Expresiones Regulares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19A95E-13BA-4891-BD8B-329339F1C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038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64CE3-F6D9-42BB-B274-83A32854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Expresiones regulares (</a:t>
            </a:r>
            <a:r>
              <a:rPr lang="es-MX" dirty="0" err="1"/>
              <a:t>regex</a:t>
            </a:r>
            <a:r>
              <a:rPr lang="es-MX" dirty="0"/>
              <a:t>) en Minería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58EB4-3312-4742-85A7-326DC7FF9D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Instrumento formal para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buscar, extraer y validar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patrones textuales.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Usos típicos: limpieza de logs, normalización de texto, extracción de entidades (fechas, e-mails), filtrado de ruido.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Ventajas: concisión, reproducibilidad, alto rendimiento sobre grandes volúmenes.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EE49300-8F67-4B10-AF64-6936765402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15724"/>
            <a:ext cx="5181600" cy="317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99FF5-E4ED-4B22-82CB-D6178855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rgbClr val="0D0D0D"/>
                </a:solidFill>
                <a:latin typeface="ui-sans-serif"/>
              </a:rPr>
              <a:t>¿Qué es una expresión regular?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FD9383-95E2-4721-AD34-7D25FB6D9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Definición: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cadena patrón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descrita en un </a:t>
            </a:r>
            <a:r>
              <a:rPr lang="es-MX" i="1" dirty="0">
                <a:solidFill>
                  <a:srgbClr val="0D0D0D"/>
                </a:solidFill>
                <a:latin typeface="ui-sans-serif"/>
              </a:rPr>
              <a:t>metalenguaje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que coincide con secuencias de caracteres.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Componentes:</a:t>
            </a:r>
          </a:p>
          <a:p>
            <a:pPr marL="742950" lvl="1" indent="-285750"/>
            <a:r>
              <a:rPr lang="es-MX" b="1" dirty="0">
                <a:solidFill>
                  <a:srgbClr val="0D0D0D"/>
                </a:solidFill>
                <a:latin typeface="ui-sans-serif"/>
              </a:rPr>
              <a:t>Símbolos literales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(a-z, 0-9).</a:t>
            </a:r>
          </a:p>
          <a:p>
            <a:pPr marL="742950" lvl="1" indent="-285750"/>
            <a:r>
              <a:rPr lang="es-MX" b="1" dirty="0" err="1">
                <a:solidFill>
                  <a:srgbClr val="0D0D0D"/>
                </a:solidFill>
                <a:latin typeface="ui-sans-serif"/>
              </a:rPr>
              <a:t>Metacaracteres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que controlan coincidencia.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Motor de </a:t>
            </a:r>
            <a:r>
              <a:rPr lang="es-MX" dirty="0" err="1">
                <a:solidFill>
                  <a:srgbClr val="0D0D0D"/>
                </a:solidFill>
                <a:latin typeface="ui-sans-serif"/>
              </a:rPr>
              <a:t>regex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: algoritmo que recorre el texto y resuelve el patrón.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Módulo oficial de Python: re 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Módulo en R: grep, </a:t>
            </a:r>
            <a:r>
              <a:rPr lang="es-MX" dirty="0" err="1">
                <a:solidFill>
                  <a:srgbClr val="0D0D0D"/>
                </a:solidFill>
                <a:latin typeface="ui-sans-serif"/>
              </a:rPr>
              <a:t>regexpr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, </a:t>
            </a:r>
            <a:r>
              <a:rPr lang="es-MX" dirty="0" err="1">
                <a:solidFill>
                  <a:srgbClr val="0D0D0D"/>
                </a:solidFill>
                <a:latin typeface="ui-sans-serif"/>
              </a:rPr>
              <a:t>stringr</a:t>
            </a:r>
            <a:endParaRPr lang="es-MX" dirty="0">
              <a:solidFill>
                <a:srgbClr val="0D0D0D"/>
              </a:solidFill>
              <a:latin typeface="ui-sans-serif"/>
            </a:endParaRPr>
          </a:p>
          <a:p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89E14E6-9327-4B9F-96A6-D8B592A3E6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1750" y="2834481"/>
            <a:ext cx="47625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1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43E1C-4040-5EDD-AF56-03ACF0D6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Cheatsheets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C44BD-AE90-6A82-65C8-F4667196F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CO" dirty="0">
                <a:hlinkClick r:id="rId2"/>
              </a:rPr>
              <a:t>https://media.datacamp.com/legacy/image/upload/v1665049611/Marketing/Blog/Regular_Expressions_Cheat_Sheet.pdf</a:t>
            </a:r>
            <a:endParaRPr lang="es-CO" dirty="0"/>
          </a:p>
          <a:p>
            <a:r>
              <a:rPr lang="es-CO" dirty="0">
                <a:hlinkClick r:id="rId3"/>
              </a:rPr>
              <a:t>https://cheatography.com/davechild/cheat-sheets/regular-expressions/#google_vignette</a:t>
            </a:r>
            <a:endParaRPr lang="es-CO" dirty="0"/>
          </a:p>
          <a:p>
            <a:r>
              <a:rPr lang="es-CO" dirty="0">
                <a:hlinkClick r:id="rId4"/>
              </a:rPr>
              <a:t>https://developer.mozilla.org/en-US/docs/Web/JavaScript/Guide/Regular_expressions/Cheatsheet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14849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46F331-AA23-4F63-B02D-E9966E07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>
                <a:solidFill>
                  <a:srgbClr val="0D0D0D"/>
                </a:solidFill>
                <a:latin typeface="ui-sans-serif"/>
              </a:rPr>
              <a:t>Metacaracteres</a:t>
            </a:r>
            <a:r>
              <a:rPr lang="es-CO" b="1" dirty="0">
                <a:solidFill>
                  <a:srgbClr val="0D0D0D"/>
                </a:solidFill>
                <a:latin typeface="ui-sans-serif"/>
              </a:rPr>
              <a:t> y anclas clave</a:t>
            </a:r>
            <a:endParaRPr lang="es-CO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DC61460A-937B-4D60-9300-CC8281508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884917"/>
              </p:ext>
            </p:extLst>
          </p:nvPr>
        </p:nvGraphicFramePr>
        <p:xfrm>
          <a:off x="838200" y="2492534"/>
          <a:ext cx="10515600" cy="3017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82687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1936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84405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7381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Símbolo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Significado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Ejemplo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Coincide con…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27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Cualquier carácter (excepto salto de línea)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 err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c.t</a:t>
                      </a:r>
                      <a:endParaRPr lang="es-CO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cat, c2t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9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Inicio de línea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^ERROR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líneas que comienzan en “ERROR”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68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Fin de línea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;$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“;” al 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63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[]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Clase de caracteres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[A-F0-9]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hex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\d|`\w|\\s`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dígito, carácter de palabra, espacio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\d{4}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4 dígitos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2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83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19BCF-9EE0-4DF2-A333-2DDBB2C9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ui-sans-serif"/>
              </a:rPr>
              <a:t>Anclas ( </a:t>
            </a:r>
            <a:r>
              <a:rPr lang="es-MX" b="1" i="1" dirty="0" err="1">
                <a:solidFill>
                  <a:srgbClr val="0D0D0D"/>
                </a:solidFill>
                <a:latin typeface="ui-sans-serif"/>
              </a:rPr>
              <a:t>anchors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 ) comunes en expresiones regulares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1F4D3C1-DEFE-4E28-B48C-C9CBF973A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557172"/>
              </p:ext>
            </p:extLst>
          </p:nvPr>
        </p:nvGraphicFramePr>
        <p:xfrm>
          <a:off x="1190080" y="2223672"/>
          <a:ext cx="9811840" cy="3447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52960">
                  <a:extLst>
                    <a:ext uri="{9D8B030D-6E8A-4147-A177-3AD203B41FA5}">
                      <a16:colId xmlns:a16="http://schemas.microsoft.com/office/drawing/2014/main" val="661552112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108859943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1625492022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1736505247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Ancla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Significado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Alcance por defecto¹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Ejemplo que coincide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82120627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^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/>
                        <a:t>Inicio de línea/cadena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Línea (con </a:t>
                      </a:r>
                      <a:r>
                        <a:rPr lang="es-CO" sz="1700" dirty="0" err="1"/>
                        <a:t>re.MULTILINE</a:t>
                      </a:r>
                      <a:r>
                        <a:rPr lang="es-CO" sz="1700" dirty="0"/>
                        <a:t>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^ERROR → «ERROR …»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8327157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$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Fin de línea/cadena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Línea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;$ → «…;» al final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104293717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700" dirty="0"/>
                        <a:t>Inicio absoluto de la </a:t>
                      </a:r>
                      <a:r>
                        <a:rPr lang="es-MX" sz="1700" b="1" dirty="0"/>
                        <a:t>cadena</a:t>
                      </a:r>
                      <a:endParaRPr lang="es-MX" sz="17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Cadena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/>
                        <a:t>\ASELECT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08446540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\b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700" dirty="0"/>
                        <a:t>Límite de palabra (\w ↔ ¬\w)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</a:t>
                      </a:r>
                      <a:r>
                        <a:rPr lang="es-CO" sz="1700" dirty="0" err="1"/>
                        <a:t>bcat</a:t>
                      </a:r>
                      <a:r>
                        <a:rPr lang="es-CO" sz="1700" dirty="0"/>
                        <a:t>\b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76979673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\B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No-límite de palabra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</a:t>
                      </a:r>
                      <a:r>
                        <a:rPr lang="es-CO" sz="1700" dirty="0" err="1"/>
                        <a:t>Bcat</a:t>
                      </a:r>
                      <a:r>
                        <a:rPr lang="es-CO" sz="1700" dirty="0"/>
                        <a:t>\B (en «</a:t>
                      </a:r>
                      <a:r>
                        <a:rPr lang="es-CO" sz="1700" dirty="0" err="1"/>
                        <a:t>concatenate</a:t>
                      </a:r>
                      <a:r>
                        <a:rPr lang="es-CO" sz="1700" dirty="0"/>
                        <a:t>»)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416465647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\G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700" dirty="0"/>
                        <a:t>Punto donde terminó la </a:t>
                      </a:r>
                      <a:r>
                        <a:rPr lang="es-MX" sz="1700" b="1" dirty="0"/>
                        <a:t>última</a:t>
                      </a:r>
                      <a:r>
                        <a:rPr lang="es-MX" sz="1700" dirty="0"/>
                        <a:t> coincidencia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Secuencial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dirty="0"/>
                        <a:t>En bucles para </a:t>
                      </a:r>
                      <a:r>
                        <a:rPr lang="es-CO" sz="1700" dirty="0" err="1"/>
                        <a:t>tokenizar</a:t>
                      </a:r>
                      <a:endParaRPr lang="es-CO" sz="1700" dirty="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27907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895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98473-89BD-406E-8AD9-517A3E68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Clases de caracteres (</a:t>
            </a:r>
            <a:r>
              <a:rPr lang="es-CO" b="1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[...]</a:t>
            </a:r>
            <a:r>
              <a:rPr lang="es-CO" b="1" dirty="0">
                <a:solidFill>
                  <a:srgbClr val="0D0D0D"/>
                </a:solidFill>
                <a:latin typeface="ui-sans-serif"/>
              </a:rPr>
              <a:t>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74897A-07F7-4BA7-9F8C-327194029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Conjunto entre corchetes que hace </a:t>
            </a:r>
            <a:r>
              <a:rPr lang="es-MX" i="1" dirty="0">
                <a:solidFill>
                  <a:srgbClr val="0D0D0D"/>
                </a:solidFill>
                <a:latin typeface="ui-sans-serif"/>
              </a:rPr>
              <a:t>match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con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un solo carácter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perteneciente a la lista especificada.</a:t>
            </a:r>
          </a:p>
          <a:p>
            <a:r>
              <a:rPr lang="es-MX" b="1" dirty="0">
                <a:solidFill>
                  <a:srgbClr val="0D0D0D"/>
                </a:solidFill>
                <a:latin typeface="ui-sans-serif"/>
              </a:rPr>
              <a:t>Sintaxis esencial</a:t>
            </a:r>
            <a:endParaRPr lang="es-MX" dirty="0">
              <a:solidFill>
                <a:srgbClr val="0D0D0D"/>
              </a:solidFill>
              <a:latin typeface="ui-sans-serif"/>
            </a:endParaRPr>
          </a:p>
          <a:p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[...]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 caracteres literales o rangos: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s-MX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aeiou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[A-Z0-9]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^</a:t>
            </a:r>
            <a:r>
              <a:rPr lang="es-MX" dirty="0">
                <a:solidFill>
                  <a:srgbClr val="0D0D0D"/>
                </a:solidFill>
                <a:latin typeface="Consolas" panose="020B0609020204030204" pitchFamily="49" charset="0"/>
              </a:rPr>
              <a:t> 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como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primer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símbolo → negación: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[^0-9]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(no‐dígitos).</a:t>
            </a:r>
          </a:p>
          <a:p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define rango, pero escápalo o colócalo al final si es literal: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[A-Z-]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y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\\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deben escaparse:</a:t>
            </a:r>
            <a:r>
              <a:rPr lang="es-MX" dirty="0">
                <a:solidFill>
                  <a:srgbClr val="0D0D0D"/>
                </a:solidFill>
                <a:latin typeface="Consolas" panose="020B0609020204030204" pitchFamily="49" charset="0"/>
              </a:rPr>
              <a:t> [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\\]</a:t>
            </a:r>
            <a:r>
              <a:rPr lang="es-MX" dirty="0">
                <a:solidFill>
                  <a:srgbClr val="0D0D0D"/>
                </a:solidFill>
                <a:latin typeface="Consolas" panose="020B0609020204030204" pitchFamily="49" charset="0"/>
              </a:rPr>
              <a:t>] 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coincide con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45593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424AA-99D9-4A2D-8FAC-6F3AF848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rgbClr val="0D0D0D"/>
                </a:solidFill>
                <a:latin typeface="ui-sans-serif"/>
              </a:rPr>
              <a:t>Clases abreviadas (fuera de corchetes)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C1C68EF-59FC-4518-BE28-85D50ADE2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971003"/>
              </p:ext>
            </p:extLst>
          </p:nvPr>
        </p:nvGraphicFramePr>
        <p:xfrm>
          <a:off x="838200" y="2949734"/>
          <a:ext cx="10515600" cy="2103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30430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30013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32238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Atajo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Equivalente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Uso típico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2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[0-9]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Dígitos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4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[A-Za-z0-9_]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“Palabras”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713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[ \\t\\n\\r\\f\\v]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/>
                        <a:t>Espacios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49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</a:t>
                      </a:r>
                      <a:r>
                        <a:rPr lang="pt-BR" dirty="0" err="1"/>
                        <a:t>Antepon</a:t>
                      </a:r>
                      <a:r>
                        <a:rPr lang="pt-BR" dirty="0"/>
                        <a:t> </a:t>
                      </a:r>
                      <a:r>
                        <a:rPr lang="pt-BR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pt-BR" dirty="0"/>
                        <a:t> para </a:t>
                      </a:r>
                      <a:r>
                        <a:rPr lang="pt-BR" dirty="0" err="1"/>
                        <a:t>negarlas</a:t>
                      </a:r>
                      <a:r>
                        <a:rPr lang="pt-BR" dirty="0"/>
                        <a:t>: </a:t>
                      </a:r>
                      <a:r>
                        <a:rPr lang="pt-BR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\\D</a:t>
                      </a:r>
                      <a:r>
                        <a:rPr lang="pt-BR" dirty="0"/>
                        <a:t>, </a:t>
                      </a:r>
                      <a:r>
                        <a:rPr lang="pt-BR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\\W</a:t>
                      </a:r>
                      <a:r>
                        <a:rPr lang="pt-BR" dirty="0"/>
                        <a:t>, </a:t>
                      </a:r>
                      <a:r>
                        <a:rPr lang="pt-BR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\\S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56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1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66FBE-6071-45F1-8086-6EE1FC15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Escape de caracteres especiales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64FF97-63D3-49FD-9A97-FFF23B15C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0D0D0D"/>
                </a:solidFill>
                <a:latin typeface="ui-sans-serif"/>
              </a:rPr>
              <a:t>¿Por qué escapar?</a:t>
            </a:r>
            <a:endParaRPr lang="es-MX" dirty="0">
              <a:solidFill>
                <a:srgbClr val="0D0D0D"/>
              </a:solidFill>
              <a:latin typeface="ui-sans-serif"/>
            </a:endParaRP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Algunos símbolos </a:t>
            </a:r>
            <a:r>
              <a:rPr lang="es-MX" dirty="0">
                <a:solidFill>
                  <a:srgbClr val="0D0D0D"/>
                </a:solidFill>
                <a:latin typeface="Consolas" panose="020B0609020204030204" pitchFamily="49" charset="0"/>
              </a:rPr>
              <a:t>(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. ^ $ * + ? { } [ ] ( ) | \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) tienen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significado meta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; para usarlos como literales debes anteponer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\\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Evita falsos positivos al buscar rutas, </a:t>
            </a:r>
            <a:r>
              <a:rPr lang="es-MX" dirty="0" err="1">
                <a:solidFill>
                  <a:srgbClr val="0D0D0D"/>
                </a:solidFill>
                <a:latin typeface="ui-sans-serif"/>
              </a:rPr>
              <a:t>URLs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 o expresiones matemáticas.</a:t>
            </a:r>
          </a:p>
          <a:p>
            <a:pPr marL="0" indent="0">
              <a:buNone/>
            </a:pPr>
            <a:r>
              <a:rPr lang="es-MX" b="1" dirty="0">
                <a:solidFill>
                  <a:srgbClr val="0D0D0D"/>
                </a:solidFill>
                <a:latin typeface="ui-sans-serif"/>
              </a:rPr>
              <a:t>Regla general</a:t>
            </a:r>
            <a:endParaRPr lang="es-MX" dirty="0">
              <a:solidFill>
                <a:srgbClr val="0D0D0D"/>
              </a:solidFill>
              <a:latin typeface="ui-sans-serif"/>
            </a:endParaRP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Precede con </a:t>
            </a:r>
            <a:r>
              <a:rPr lang="es-MX" b="1" dirty="0">
                <a:solidFill>
                  <a:srgbClr val="0D0D0D"/>
                </a:solidFill>
                <a:latin typeface="ui-sans-serif"/>
              </a:rPr>
              <a:t>barra inversa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: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\\.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coincide con un punto real,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\\$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con el signo peso, etc.</a:t>
            </a:r>
          </a:p>
          <a:p>
            <a:r>
              <a:rPr lang="es-MX" dirty="0">
                <a:solidFill>
                  <a:srgbClr val="0D0D0D"/>
                </a:solidFill>
                <a:latin typeface="ui-sans-serif"/>
              </a:rPr>
              <a:t>Dentro de clases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[]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solo se escapan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]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\\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-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  <a:latin typeface="ui-sans-serif"/>
              </a:rPr>
              <a:t>^</a:t>
            </a:r>
            <a:r>
              <a:rPr lang="es-MX" dirty="0">
                <a:solidFill>
                  <a:srgbClr val="0D0D0D"/>
                </a:solidFill>
                <a:latin typeface="ui-sans-serif"/>
              </a:rPr>
              <a:t> (si va al inicio).</a:t>
            </a:r>
          </a:p>
          <a:p>
            <a:pPr marL="0" indent="0">
              <a:buNone/>
            </a:pPr>
            <a:r>
              <a:rPr lang="es-MX" dirty="0"/>
              <a:t>Escapar correctamente garantiza que los caracteres especiales actúen como literales y mantiene la precisión de tus búsquedas.</a:t>
            </a:r>
            <a:endParaRPr lang="es-MX" dirty="0">
              <a:solidFill>
                <a:srgbClr val="0D0D0D"/>
              </a:solidFill>
              <a:latin typeface="ui-sans-serif"/>
            </a:endParaRPr>
          </a:p>
          <a:p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08C1B59-C393-4786-965B-C60E2AA9D5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s-CO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import</a:t>
            </a:r>
            <a:r>
              <a:rPr lang="es-CO" sz="1400" dirty="0">
                <a:latin typeface="Consolas" panose="020B0609020204030204" pitchFamily="49" charset="0"/>
              </a:rPr>
              <a:t> re</a:t>
            </a: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texto = </a:t>
            </a:r>
            <a:r>
              <a:rPr lang="es-CO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"Precio final: 9.99$ (oferta)."</a:t>
            </a:r>
          </a:p>
          <a:p>
            <a:pPr marL="0" indent="0">
              <a:buNone/>
            </a:pPr>
            <a:endParaRPr lang="es-CO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# 1. Coincidir el literal 9.99$</a:t>
            </a:r>
          </a:p>
          <a:p>
            <a:pPr marL="0" indent="0">
              <a:buNone/>
            </a:pPr>
            <a:r>
              <a:rPr lang="es-CO" sz="1400" dirty="0" err="1">
                <a:latin typeface="Consolas" panose="020B0609020204030204" pitchFamily="49" charset="0"/>
              </a:rPr>
              <a:t>pat</a:t>
            </a:r>
            <a:r>
              <a:rPr lang="es-CO" sz="1400" dirty="0">
                <a:latin typeface="Consolas" panose="020B0609020204030204" pitchFamily="49" charset="0"/>
              </a:rPr>
              <a:t> = </a:t>
            </a:r>
            <a:r>
              <a:rPr lang="es-CO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r"\\d\\.\\d{2}\\$"</a:t>
            </a:r>
          </a:p>
          <a:p>
            <a:pPr marL="0" indent="0">
              <a:buNone/>
            </a:pPr>
            <a:r>
              <a:rPr lang="es-CO" sz="1400" dirty="0" err="1">
                <a:latin typeface="Consolas" panose="020B0609020204030204" pitchFamily="49" charset="0"/>
              </a:rPr>
              <a:t>re.findall</a:t>
            </a:r>
            <a:r>
              <a:rPr lang="es-CO" sz="1400" dirty="0">
                <a:latin typeface="Consolas" panose="020B0609020204030204" pitchFamily="49" charset="0"/>
              </a:rPr>
              <a:t>(</a:t>
            </a:r>
            <a:r>
              <a:rPr lang="es-CO" sz="1400" dirty="0" err="1">
                <a:latin typeface="Consolas" panose="020B0609020204030204" pitchFamily="49" charset="0"/>
              </a:rPr>
              <a:t>pat</a:t>
            </a:r>
            <a:r>
              <a:rPr lang="es-CO" sz="1400" dirty="0">
                <a:latin typeface="Consolas" panose="020B0609020204030204" pitchFamily="49" charset="0"/>
              </a:rPr>
              <a:t>, texto)      </a:t>
            </a: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# ['9.99$']</a:t>
            </a:r>
          </a:p>
          <a:p>
            <a:pPr marL="0" indent="0">
              <a:buNone/>
            </a:pPr>
            <a:endParaRPr lang="es-CO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# 2. Extraer rutas Windows con \\ y puntos</a:t>
            </a: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ruta = </a:t>
            </a:r>
            <a:r>
              <a:rPr lang="es-CO" sz="1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r"C</a:t>
            </a:r>
            <a:r>
              <a:rPr lang="es-CO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:\\\\datos\\\\reporte\\.csv"   </a:t>
            </a: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# raw-</a:t>
            </a:r>
            <a:r>
              <a:rPr lang="es-CO" sz="1400" dirty="0" err="1">
                <a:latin typeface="Consolas" panose="020B0609020204030204" pitchFamily="49" charset="0"/>
              </a:rPr>
              <a:t>string</a:t>
            </a:r>
            <a:r>
              <a:rPr lang="es-CO" sz="1400" dirty="0">
                <a:latin typeface="Consolas" panose="020B0609020204030204" pitchFamily="49" charset="0"/>
              </a:rPr>
              <a:t>: </a:t>
            </a:r>
            <a:r>
              <a:rPr lang="es-CO" sz="1400" dirty="0" err="1">
                <a:latin typeface="Consolas" panose="020B0609020204030204" pitchFamily="49" charset="0"/>
              </a:rPr>
              <a:t>r"C</a:t>
            </a:r>
            <a:r>
              <a:rPr lang="es-CO" sz="1400" dirty="0">
                <a:latin typeface="Consolas" panose="020B0609020204030204" pitchFamily="49" charset="0"/>
              </a:rPr>
              <a:t>:\\datos\\reporte\.csv"</a:t>
            </a:r>
          </a:p>
          <a:p>
            <a:pPr marL="0" indent="0">
              <a:buNone/>
            </a:pPr>
            <a:r>
              <a:rPr lang="es-CO" sz="1400" dirty="0" err="1">
                <a:latin typeface="Consolas" panose="020B0609020204030204" pitchFamily="49" charset="0"/>
              </a:rPr>
              <a:t>re.search</a:t>
            </a:r>
            <a:r>
              <a:rPr lang="es-CO" sz="1400" dirty="0">
                <a:latin typeface="Consolas" panose="020B0609020204030204" pitchFamily="49" charset="0"/>
              </a:rPr>
              <a:t>(ruta, </a:t>
            </a:r>
            <a:r>
              <a:rPr lang="es-CO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s-CO" sz="1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Path</a:t>
            </a:r>
            <a:r>
              <a:rPr lang="es-CO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: C:\\datos\\reporte.csv"</a:t>
            </a:r>
            <a:r>
              <a:rPr lang="es-CO" sz="1400" dirty="0">
                <a:latin typeface="Consolas" panose="020B0609020204030204" pitchFamily="49" charset="0"/>
              </a:rPr>
              <a:t>)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667273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D9157-3E7B-45A4-A2D1-82532E1A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Secuencias de escape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48118B8-5F6B-4011-8031-5B7E45C484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961432"/>
              </p:ext>
            </p:extLst>
          </p:nvPr>
        </p:nvGraphicFramePr>
        <p:xfrm>
          <a:off x="838200" y="1808834"/>
          <a:ext cx="10515600" cy="435343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85563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279929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368063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Secuencia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Nombre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Uso habitual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861587576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\\t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Tabulación horizontal</a:t>
                      </a:r>
                      <a:endParaRPr lang="es-CO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Avanzar al siguiente </a:t>
                      </a:r>
                      <a:r>
                        <a:rPr lang="es-MX" sz="1600" dirty="0" err="1"/>
                        <a:t>tab</a:t>
                      </a:r>
                      <a:r>
                        <a:rPr lang="es-MX" sz="1600" dirty="0"/>
                        <a:t>-stop en tablas o columnas.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501057383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\\n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b="1"/>
                        <a:t>Salto de línea (line feed, LF)</a:t>
                      </a:r>
                      <a:endParaRPr lang="es-MX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Iniciar una nueva línea en sistemas Unix/Linux/macOS.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911895967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\\r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pt-BR" sz="1600" b="1" dirty="0"/>
                        <a:t>Retorno de carro (</a:t>
                      </a:r>
                      <a:r>
                        <a:rPr lang="pt-BR" sz="1600" b="1" dirty="0" err="1"/>
                        <a:t>carriage</a:t>
                      </a:r>
                      <a:r>
                        <a:rPr lang="pt-BR" sz="1600" b="1" dirty="0"/>
                        <a:t> </a:t>
                      </a:r>
                      <a:r>
                        <a:rPr lang="pt-BR" sz="1600" b="1" dirty="0" err="1"/>
                        <a:t>return</a:t>
                      </a:r>
                      <a:r>
                        <a:rPr lang="pt-BR" sz="1600" b="1" dirty="0"/>
                        <a:t>, CR)</a:t>
                      </a:r>
                      <a:endParaRPr lang="pt-BR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Volver al inicio de la línea; en Windows se combina como \\r\\n.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246312286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\\f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CO" sz="1600" b="1" dirty="0" err="1"/>
                        <a:t>Form</a:t>
                      </a:r>
                      <a:r>
                        <a:rPr lang="es-CO" sz="1600" b="1" dirty="0"/>
                        <a:t> </a:t>
                      </a:r>
                      <a:r>
                        <a:rPr lang="es-CO" sz="1600" b="1" dirty="0" err="1"/>
                        <a:t>feed</a:t>
                      </a:r>
                      <a:endParaRPr lang="es-CO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Avanzar a la siguiente página en impresoras; poco usado hoy.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476994749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\\v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Tabulación vertical</a:t>
                      </a:r>
                      <a:endParaRPr lang="es-CO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Mover el cursor a la línea siguiente manteniendo la columna; muy raro.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794415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5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14D7F-AF0A-4AC3-BE19-9C0C09FB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Cuantificadores</a:t>
            </a:r>
            <a:endParaRPr lang="es-CO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FEC6E310-855E-4412-B9EA-863EC2D82D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6034016"/>
              </p:ext>
            </p:extLst>
          </p:nvPr>
        </p:nvGraphicFramePr>
        <p:xfrm>
          <a:off x="838200" y="2205514"/>
          <a:ext cx="5181600" cy="3591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0389049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95793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Símbolo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Significado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8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0 - 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58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1 - 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65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{m}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Rango exacto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0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{</a:t>
                      </a:r>
                      <a:r>
                        <a:rPr lang="es-CO" dirty="0" err="1"/>
                        <a:t>m,n</a:t>
                      </a:r>
                      <a:r>
                        <a:rPr lang="es-CO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Intervalo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41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Modo </a:t>
                      </a:r>
                      <a:r>
                        <a:rPr lang="es-CO" dirty="0" err="1"/>
                        <a:t>lazy</a:t>
                      </a:r>
                      <a:r>
                        <a:rPr lang="es-CO" dirty="0"/>
                        <a:t>: </a:t>
                      </a:r>
                      <a:r>
                        <a:rPr lang="es-MX" dirty="0"/>
                        <a:t>es una forma de hacer que los cuantificadores busquen la coincidencia más corta posible, en lugar de la más larga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643840"/>
                  </a:ext>
                </a:extLst>
              </a:tr>
            </a:tbl>
          </a:graphicData>
        </a:graphic>
      </p:graphicFrame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F1561A-8DAE-467B-8CC5-5813E92F72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r>
              <a:rPr lang="es-CO" sz="1800" dirty="0">
                <a:latin typeface="Consolas" panose="020B0609020204030204" pitchFamily="49" charset="0"/>
              </a:rPr>
              <a:t># Fechas AAAA-MM-DD</a:t>
            </a:r>
          </a:p>
          <a:p>
            <a:r>
              <a:rPr lang="es-CO" sz="1800" dirty="0" err="1">
                <a:latin typeface="Consolas" panose="020B0609020204030204" pitchFamily="49" charset="0"/>
              </a:rPr>
              <a:t>pat</a:t>
            </a:r>
            <a:r>
              <a:rPr lang="es-CO" sz="1800" dirty="0">
                <a:latin typeface="Consolas" panose="020B0609020204030204" pitchFamily="49" charset="0"/>
              </a:rPr>
              <a:t> = r"\b\d{4}-\d{2}-\d{2}\b"</a:t>
            </a:r>
          </a:p>
          <a:p>
            <a:r>
              <a:rPr lang="es-CO" sz="1800" dirty="0" err="1">
                <a:latin typeface="Consolas" panose="020B0609020204030204" pitchFamily="49" charset="0"/>
              </a:rPr>
              <a:t>re.findall</a:t>
            </a:r>
            <a:r>
              <a:rPr lang="es-CO" sz="1800" dirty="0">
                <a:latin typeface="Consolas" panose="020B0609020204030204" pitchFamily="49" charset="0"/>
              </a:rPr>
              <a:t>(</a:t>
            </a:r>
            <a:r>
              <a:rPr lang="es-CO" sz="1800" dirty="0" err="1">
                <a:latin typeface="Consolas" panose="020B0609020204030204" pitchFamily="49" charset="0"/>
              </a:rPr>
              <a:t>pat</a:t>
            </a:r>
            <a:r>
              <a:rPr lang="es-CO" sz="1800" dirty="0">
                <a:latin typeface="Consolas" panose="020B0609020204030204" pitchFamily="49" charset="0"/>
              </a:rPr>
              <a:t>, texto)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2705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636BA-967D-45EC-891F-925634B8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 Grupos, alternancia y referencias</a:t>
            </a:r>
            <a:endParaRPr lang="es-CO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4F4ECBF-D620-4CC6-9562-F8603C46BF6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9569005"/>
              </p:ext>
            </p:extLst>
          </p:nvPr>
        </p:nvGraphicFramePr>
        <p:xfrm>
          <a:off x="838200" y="3259614"/>
          <a:ext cx="518160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99010005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106849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Símbolo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8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rgbClr val="0D0D0D"/>
                          </a:solidFill>
                          <a:effectLst/>
                        </a:rPr>
                        <a:t>Paréntesis ( 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b="0" dirty="0">
                          <a:solidFill>
                            <a:srgbClr val="0D0D0D"/>
                          </a:solidFill>
                          <a:effectLst/>
                        </a:rPr>
                        <a:t>agrupan y capturan.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817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rgbClr val="0D0D0D"/>
                          </a:solidFill>
                          <a:effectLst/>
                        </a:rPr>
                        <a:t>Alternancia |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b="0" dirty="0">
                          <a:solidFill>
                            <a:srgbClr val="0D0D0D"/>
                          </a:solidFill>
                          <a:effectLst/>
                        </a:rPr>
                        <a:t>(OR lógico): </a:t>
                      </a:r>
                      <a:r>
                        <a:rPr lang="es-CO" dirty="0" err="1"/>
                        <a:t>cat|dog</a:t>
                      </a:r>
                      <a:r>
                        <a:rPr lang="es-CO" b="0" dirty="0">
                          <a:solidFill>
                            <a:srgbClr val="0D0D0D"/>
                          </a:solidFill>
                          <a:effectLst/>
                        </a:rPr>
                        <a:t>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28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rgbClr val="0D0D0D"/>
                          </a:solidFill>
                          <a:effectLst/>
                        </a:rPr>
                        <a:t>Grupos nombrados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s-MX" dirty="0">
                          <a:effectLst/>
                        </a:rPr>
                        <a:t>(?P&lt;</a:t>
                      </a:r>
                      <a:r>
                        <a:rPr lang="es-MX" dirty="0" err="1">
                          <a:effectLst/>
                        </a:rPr>
                        <a:t>anio</a:t>
                      </a:r>
                      <a:r>
                        <a:rPr lang="es-MX" dirty="0">
                          <a:effectLst/>
                        </a:rPr>
                        <a:t>&gt;\d{4}).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8099"/>
                  </a:ext>
                </a:extLst>
              </a:tr>
            </a:tbl>
          </a:graphicData>
        </a:graphic>
      </p:graphicFrame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B935A3-A5BC-4030-9CFF-7CD0765AE1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p = </a:t>
            </a:r>
            <a:r>
              <a:rPr lang="es-CO" sz="1400" dirty="0" err="1">
                <a:latin typeface="Consolas" panose="020B0609020204030204" pitchFamily="49" charset="0"/>
              </a:rPr>
              <a:t>re.compile</a:t>
            </a:r>
            <a:r>
              <a:rPr lang="es-CO" sz="1400" dirty="0">
                <a:latin typeface="Consolas" panose="020B0609020204030204" pitchFamily="49" charset="0"/>
              </a:rPr>
              <a:t>(r"(?P&lt;</a:t>
            </a:r>
            <a:r>
              <a:rPr lang="es-CO" sz="1400" dirty="0" err="1">
                <a:latin typeface="Consolas" panose="020B0609020204030204" pitchFamily="49" charset="0"/>
              </a:rPr>
              <a:t>user</a:t>
            </a:r>
            <a:r>
              <a:rPr lang="es-CO" sz="1400" dirty="0">
                <a:latin typeface="Consolas" panose="020B0609020204030204" pitchFamily="49" charset="0"/>
              </a:rPr>
              <a:t>&gt;\w+)@(?P&lt;dom&gt;\w+\.\w+)")</a:t>
            </a:r>
          </a:p>
          <a:p>
            <a:pPr marL="0" indent="0">
              <a:buNone/>
            </a:pPr>
            <a:r>
              <a:rPr lang="es-CO" sz="1400" dirty="0">
                <a:latin typeface="Consolas" panose="020B0609020204030204" pitchFamily="49" charset="0"/>
              </a:rPr>
              <a:t>m = </a:t>
            </a:r>
            <a:r>
              <a:rPr lang="es-CO" sz="1400" dirty="0" err="1">
                <a:latin typeface="Consolas" panose="020B0609020204030204" pitchFamily="49" charset="0"/>
              </a:rPr>
              <a:t>p.search</a:t>
            </a:r>
            <a:r>
              <a:rPr lang="es-CO" sz="1400" dirty="0">
                <a:latin typeface="Consolas" panose="020B0609020204030204" pitchFamily="49" charset="0"/>
              </a:rPr>
              <a:t>("contacto: ana92@utp.edu.co")</a:t>
            </a:r>
          </a:p>
          <a:p>
            <a:pPr marL="0" indent="0">
              <a:buNone/>
            </a:pPr>
            <a:r>
              <a:rPr lang="es-CO" sz="1400" dirty="0" err="1">
                <a:latin typeface="Consolas" panose="020B0609020204030204" pitchFamily="49" charset="0"/>
              </a:rPr>
              <a:t>m.groupdict</a:t>
            </a:r>
            <a:r>
              <a:rPr lang="es-CO" sz="1400" dirty="0">
                <a:latin typeface="Consolas" panose="020B0609020204030204" pitchFamily="49" charset="0"/>
              </a:rPr>
              <a:t>()  # {'user':'ana92', '</a:t>
            </a:r>
            <a:r>
              <a:rPr lang="es-CO" sz="1400" dirty="0" err="1">
                <a:latin typeface="Consolas" panose="020B0609020204030204" pitchFamily="49" charset="0"/>
              </a:rPr>
              <a:t>dom':'utp.edu.co</a:t>
            </a:r>
            <a:r>
              <a:rPr lang="es-CO" sz="1400" dirty="0">
                <a:latin typeface="Consolas" panose="020B0609020204030204" pitchFamily="49" charset="0"/>
              </a:rPr>
              <a:t>'}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929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451F1-1674-4AE5-862B-21F65596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rgbClr val="0D0D0D"/>
                </a:solidFill>
                <a:latin typeface="ui-sans-serif"/>
              </a:rPr>
              <a:t>Banderas y flujo de trabajo en Python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F65BBD-56DE-4EB4-A5BE-F8D647901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CO" dirty="0">
                <a:solidFill>
                  <a:srgbClr val="0D0D0D"/>
                </a:solidFill>
                <a:latin typeface="ui-sans-serif"/>
              </a:rPr>
              <a:t>Banderas útiles: </a:t>
            </a:r>
            <a:r>
              <a:rPr lang="es-CO" dirty="0" err="1">
                <a:solidFill>
                  <a:srgbClr val="0D0D0D"/>
                </a:solidFill>
                <a:latin typeface="Consolas" panose="020B0609020204030204" pitchFamily="49" charset="0"/>
              </a:rPr>
              <a:t>re.IGNORECASE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CO" dirty="0" err="1">
                <a:solidFill>
                  <a:srgbClr val="0D0D0D"/>
                </a:solidFill>
                <a:latin typeface="Consolas" panose="020B0609020204030204" pitchFamily="49" charset="0"/>
              </a:rPr>
              <a:t>re.MULTILINE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CO" dirty="0" err="1">
                <a:solidFill>
                  <a:srgbClr val="0D0D0D"/>
                </a:solidFill>
                <a:latin typeface="Consolas" panose="020B0609020204030204" pitchFamily="49" charset="0"/>
              </a:rPr>
              <a:t>re.DOTALL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, </a:t>
            </a:r>
            <a:r>
              <a:rPr lang="es-CO" dirty="0" err="1">
                <a:solidFill>
                  <a:srgbClr val="0D0D0D"/>
                </a:solidFill>
                <a:latin typeface="Consolas" panose="020B0609020204030204" pitchFamily="49" charset="0"/>
              </a:rPr>
              <a:t>re.VERBOSE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Pasos recomendados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: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Bosquejar patrón en regex101.com.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Probar con subconjunto del corpus.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Refactorizar usando grupos nombrados y comentarios </a:t>
            </a:r>
            <a:r>
              <a:rPr lang="es-CO" dirty="0" err="1">
                <a:solidFill>
                  <a:srgbClr val="0D0D0D"/>
                </a:solidFill>
                <a:latin typeface="ui-sans-serif"/>
              </a:rPr>
              <a:t>re.VERBOSE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Integrar en procesos ETL o notebooks.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4535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7DDC2-7BE9-4385-B080-0EC6A781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0D0D0D"/>
                </a:solidFill>
                <a:latin typeface="ui-sans-serif"/>
              </a:rPr>
              <a:t>Buenas prácticas y recursos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C532A-0DFC-4257-8A0B-3139CEAA0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CO" dirty="0">
                <a:solidFill>
                  <a:srgbClr val="0D0D0D"/>
                </a:solidFill>
                <a:latin typeface="ui-sans-serif"/>
              </a:rPr>
              <a:t>Mantener patrones </a:t>
            </a:r>
            <a:r>
              <a:rPr lang="es-CO" b="1" dirty="0">
                <a:solidFill>
                  <a:srgbClr val="0D0D0D"/>
                </a:solidFill>
                <a:latin typeface="ui-sans-serif"/>
              </a:rPr>
              <a:t>pequeños y </a:t>
            </a:r>
            <a:r>
              <a:rPr lang="es-CO" b="1" dirty="0" err="1">
                <a:solidFill>
                  <a:srgbClr val="0D0D0D"/>
                </a:solidFill>
                <a:latin typeface="ui-sans-serif"/>
              </a:rPr>
              <a:t>testeables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; dividir la lógica compleja.</a:t>
            </a:r>
          </a:p>
          <a:p>
            <a:r>
              <a:rPr lang="es-CO" dirty="0">
                <a:solidFill>
                  <a:srgbClr val="0D0D0D"/>
                </a:solidFill>
                <a:latin typeface="ui-sans-serif"/>
              </a:rPr>
              <a:t>Documenta con </a:t>
            </a:r>
            <a:r>
              <a:rPr lang="es-CO" dirty="0" err="1">
                <a:solidFill>
                  <a:srgbClr val="0D0D0D"/>
                </a:solidFill>
                <a:latin typeface="ui-sans-serif"/>
              </a:rPr>
              <a:t>re.VERBOSE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s-CO" dirty="0">
                <a:solidFill>
                  <a:srgbClr val="0D0D0D"/>
                </a:solidFill>
                <a:latin typeface="ui-sans-serif"/>
              </a:rPr>
              <a:t>Perfila: compila patrones una sola vez (</a:t>
            </a:r>
            <a:r>
              <a:rPr lang="es-CO" dirty="0" err="1">
                <a:solidFill>
                  <a:srgbClr val="0D0D0D"/>
                </a:solidFill>
                <a:latin typeface="ui-sans-serif"/>
              </a:rPr>
              <a:t>re.compile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).</a:t>
            </a:r>
          </a:p>
          <a:p>
            <a:r>
              <a:rPr lang="es-CO" dirty="0">
                <a:solidFill>
                  <a:srgbClr val="0D0D0D"/>
                </a:solidFill>
                <a:latin typeface="ui-sans-serif"/>
              </a:rPr>
              <a:t>Recursos:</a:t>
            </a:r>
          </a:p>
          <a:p>
            <a:pPr marL="742950" lvl="1" indent="-285750"/>
            <a:r>
              <a:rPr lang="es-CO" dirty="0" err="1">
                <a:solidFill>
                  <a:srgbClr val="0D0D0D"/>
                </a:solidFill>
                <a:latin typeface="ui-sans-serif"/>
              </a:rPr>
              <a:t>Friedl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, J. (2006) </a:t>
            </a:r>
            <a:r>
              <a:rPr lang="es-CO" i="1" dirty="0" err="1">
                <a:solidFill>
                  <a:srgbClr val="0D0D0D"/>
                </a:solidFill>
                <a:latin typeface="ui-sans-serif"/>
              </a:rPr>
              <a:t>Mastering</a:t>
            </a:r>
            <a:r>
              <a:rPr lang="es-CO" i="1" dirty="0">
                <a:solidFill>
                  <a:srgbClr val="0D0D0D"/>
                </a:solidFill>
                <a:latin typeface="ui-sans-serif"/>
              </a:rPr>
              <a:t> Regular </a:t>
            </a:r>
            <a:r>
              <a:rPr lang="es-CO" i="1" dirty="0" err="1">
                <a:solidFill>
                  <a:srgbClr val="0D0D0D"/>
                </a:solidFill>
                <a:latin typeface="ui-sans-serif"/>
              </a:rPr>
              <a:t>Expressions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 (3ª ed.).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Documentación oficial re (Python 3.12).</a:t>
            </a:r>
          </a:p>
          <a:p>
            <a:pPr marL="742950" lvl="1" indent="-285750"/>
            <a:r>
              <a:rPr lang="es-CO" dirty="0">
                <a:solidFill>
                  <a:srgbClr val="0D0D0D"/>
                </a:solidFill>
                <a:latin typeface="ui-sans-serif"/>
              </a:rPr>
              <a:t>Chequeadores interactivos: regex101, </a:t>
            </a:r>
            <a:r>
              <a:rPr lang="es-CO" dirty="0" err="1">
                <a:solidFill>
                  <a:srgbClr val="0D0D0D"/>
                </a:solidFill>
                <a:latin typeface="ui-sans-serif"/>
              </a:rPr>
              <a:t>RegExr</a:t>
            </a:r>
            <a:r>
              <a:rPr lang="es-CO" dirty="0">
                <a:solidFill>
                  <a:srgbClr val="0D0D0D"/>
                </a:solidFill>
                <a:latin typeface="ui-sans-serif"/>
              </a:rPr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3301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672C20-D88C-4C62-8535-93E38A0A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0E0EB6-8119-4DE2-891C-E48147EA1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1401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1126</Words>
  <Application>Microsoft Office PowerPoint</Application>
  <PresentationFormat>Panorámica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Consolas</vt:lpstr>
      <vt:lpstr>ui-sans-serif</vt:lpstr>
      <vt:lpstr>Verdana</vt:lpstr>
      <vt:lpstr>Tema de Office</vt:lpstr>
      <vt:lpstr>Módulo 3 –Mineria de texto y detección de patrones</vt:lpstr>
      <vt:lpstr>Expresiones Regulares</vt:lpstr>
      <vt:lpstr>Expresiones regulares (regex) en Minería de Datos</vt:lpstr>
      <vt:lpstr>¿Qué es una expresión regular?</vt:lpstr>
      <vt:lpstr>Cheatsheets</vt:lpstr>
      <vt:lpstr>Metacaracteres y anclas clave</vt:lpstr>
      <vt:lpstr>Anclas ( anchors ) comunes en expresiones regulares</vt:lpstr>
      <vt:lpstr>Clases de caracteres ([...])</vt:lpstr>
      <vt:lpstr>Clases abreviadas (fuera de corchetes)</vt:lpstr>
      <vt:lpstr>Escape de caracteres especiales</vt:lpstr>
      <vt:lpstr>Secuencias de escape</vt:lpstr>
      <vt:lpstr>Cuantificadores</vt:lpstr>
      <vt:lpstr> Grupos, alternancia y referencias</vt:lpstr>
      <vt:lpstr>Banderas y flujo de trabajo en Python</vt:lpstr>
      <vt:lpstr>Buenas prácticas y recursos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 – Fundamentos y Exploración de Datos</dc:title>
  <dc:creator>Délany Ramírez</dc:creator>
  <cp:lastModifiedBy>Délany Ramírez</cp:lastModifiedBy>
  <cp:revision>94</cp:revision>
  <dcterms:created xsi:type="dcterms:W3CDTF">2025-06-13T16:06:54Z</dcterms:created>
  <dcterms:modified xsi:type="dcterms:W3CDTF">2025-07-03T01:04:03Z</dcterms:modified>
</cp:coreProperties>
</file>