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92" r:id="rId3"/>
    <p:sldId id="293" r:id="rId4"/>
    <p:sldId id="300" r:id="rId5"/>
    <p:sldId id="297" r:id="rId6"/>
    <p:sldId id="298" r:id="rId7"/>
    <p:sldId id="301" r:id="rId8"/>
    <p:sldId id="302" r:id="rId9"/>
    <p:sldId id="299" r:id="rId10"/>
    <p:sldId id="329" r:id="rId11"/>
    <p:sldId id="303" r:id="rId12"/>
    <p:sldId id="304" r:id="rId13"/>
    <p:sldId id="305" r:id="rId14"/>
    <p:sldId id="306" r:id="rId15"/>
    <p:sldId id="291" r:id="rId16"/>
    <p:sldId id="271" r:id="rId17"/>
    <p:sldId id="274" r:id="rId18"/>
    <p:sldId id="275" r:id="rId19"/>
    <p:sldId id="273" r:id="rId20"/>
    <p:sldId id="276" r:id="rId21"/>
    <p:sldId id="288" r:id="rId22"/>
    <p:sldId id="277" r:id="rId23"/>
    <p:sldId id="323" r:id="rId24"/>
    <p:sldId id="322" r:id="rId25"/>
    <p:sldId id="325" r:id="rId26"/>
    <p:sldId id="324" r:id="rId27"/>
    <p:sldId id="327" r:id="rId28"/>
    <p:sldId id="326" r:id="rId29"/>
    <p:sldId id="328" r:id="rId30"/>
    <p:sldId id="278" r:id="rId31"/>
    <p:sldId id="279" r:id="rId32"/>
    <p:sldId id="280" r:id="rId33"/>
    <p:sldId id="283" r:id="rId34"/>
    <p:sldId id="282" r:id="rId35"/>
    <p:sldId id="281" r:id="rId36"/>
    <p:sldId id="284" r:id="rId37"/>
    <p:sldId id="285" r:id="rId38"/>
    <p:sldId id="286" r:id="rId39"/>
    <p:sldId id="287" r:id="rId40"/>
    <p:sldId id="290" r:id="rId41"/>
    <p:sldId id="321" r:id="rId42"/>
    <p:sldId id="317" r:id="rId43"/>
    <p:sldId id="318" r:id="rId44"/>
    <p:sldId id="319" r:id="rId45"/>
    <p:sldId id="320" r:id="rId46"/>
    <p:sldId id="258" r:id="rId47"/>
    <p:sldId id="259" r:id="rId48"/>
    <p:sldId id="260" r:id="rId49"/>
    <p:sldId id="261" r:id="rId50"/>
    <p:sldId id="262" r:id="rId51"/>
    <p:sldId id="263" r:id="rId52"/>
    <p:sldId id="265" r:id="rId53"/>
    <p:sldId id="266" r:id="rId54"/>
    <p:sldId id="307" r:id="rId55"/>
    <p:sldId id="308" r:id="rId56"/>
    <p:sldId id="257" r:id="rId57"/>
    <p:sldId id="309" r:id="rId58"/>
    <p:sldId id="310" r:id="rId59"/>
    <p:sldId id="311" r:id="rId60"/>
    <p:sldId id="312" r:id="rId61"/>
    <p:sldId id="313" r:id="rId62"/>
    <p:sldId id="314" r:id="rId63"/>
    <p:sldId id="315" r:id="rId64"/>
    <p:sldId id="316" r:id="rId65"/>
    <p:sldId id="270" r:id="rId6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91"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353FCC-5847-44A9-B9A2-2333505D7291}" type="datetimeFigureOut">
              <a:rPr lang="es-CO" smtClean="0"/>
              <a:t>12/07/2025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6B3BB1-4A80-4BA1-9D18-86630635624D}" type="slidenum">
              <a:rPr lang="es-CO" smtClean="0"/>
              <a:t>‹Nº›</a:t>
            </a:fld>
            <a:endParaRPr lang="es-CO"/>
          </a:p>
        </p:txBody>
      </p:sp>
    </p:spTree>
    <p:extLst>
      <p:ext uri="{BB962C8B-B14F-4D97-AF65-F5344CB8AC3E}">
        <p14:creationId xmlns:p14="http://schemas.microsoft.com/office/powerpoint/2010/main" val="2654101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Utiliza ejemplos cotidianos, como recomendaciones de películas o filtros de spam.</a:t>
            </a:r>
          </a:p>
          <a:p>
            <a:r>
              <a:rPr lang="es-MX" dirty="0"/>
              <a:t>Enfatiza cómo el ML permite a las máquinas mejorar con la experiencia.</a:t>
            </a:r>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46</a:t>
            </a:fld>
            <a:endParaRPr lang="es-CO"/>
          </a:p>
        </p:txBody>
      </p:sp>
    </p:spTree>
    <p:extLst>
      <p:ext uri="{BB962C8B-B14F-4D97-AF65-F5344CB8AC3E}">
        <p14:creationId xmlns:p14="http://schemas.microsoft.com/office/powerpoint/2010/main" val="1746794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Muestra entusiasmo por el impacto positivo del ML en la sociedad.</a:t>
            </a:r>
          </a:p>
          <a:p>
            <a:r>
              <a:rPr lang="es-MX" dirty="0"/>
              <a:t>Invita a los estudiantes a pensar en aplicaciones potenciales en sus áreas de interés.</a:t>
            </a:r>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47</a:t>
            </a:fld>
            <a:endParaRPr lang="es-CO"/>
          </a:p>
        </p:txBody>
      </p:sp>
    </p:spTree>
    <p:extLst>
      <p:ext uri="{BB962C8B-B14F-4D97-AF65-F5344CB8AC3E}">
        <p14:creationId xmlns:p14="http://schemas.microsoft.com/office/powerpoint/2010/main" val="757345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Aclara que mientras toda DL es ML, no todo ML es DL.</a:t>
            </a:r>
          </a:p>
          <a:p>
            <a:r>
              <a:rPr lang="es-MX" dirty="0"/>
              <a:t>Proporciona ejemplos: IA (asistentes virtuales), ML (clasificación de emails), DL (reconocimiento facial).</a:t>
            </a:r>
            <a:endParaRPr lang="es-CO" dirty="0"/>
          </a:p>
          <a:p>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48</a:t>
            </a:fld>
            <a:endParaRPr lang="es-CO"/>
          </a:p>
        </p:txBody>
      </p:sp>
    </p:spTree>
    <p:extLst>
      <p:ext uri="{BB962C8B-B14F-4D97-AF65-F5344CB8AC3E}">
        <p14:creationId xmlns:p14="http://schemas.microsoft.com/office/powerpoint/2010/main" val="2307277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Resalta las diferencias clave y cuándo se utiliza cada tipo.</a:t>
            </a:r>
          </a:p>
          <a:p>
            <a:r>
              <a:rPr lang="es-MX" dirty="0"/>
              <a:t>Utiliza analogías, como enseñar a un niño (supervisado) versus dejarlo explorar (no supervisado).</a:t>
            </a:r>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49</a:t>
            </a:fld>
            <a:endParaRPr lang="es-CO"/>
          </a:p>
        </p:txBody>
      </p:sp>
    </p:spTree>
    <p:extLst>
      <p:ext uri="{BB962C8B-B14F-4D97-AF65-F5344CB8AC3E}">
        <p14:creationId xmlns:p14="http://schemas.microsoft.com/office/powerpoint/2010/main" val="1575105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Explica cómo el modelo ajusta sus parámetros para minimizar el error.</a:t>
            </a:r>
          </a:p>
          <a:p>
            <a:r>
              <a:rPr lang="es-MX" dirty="0"/>
              <a:t>Menciona la importancia de la calidad y cantidad de datos etiquetados.</a:t>
            </a:r>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51</a:t>
            </a:fld>
            <a:endParaRPr lang="es-CO"/>
          </a:p>
        </p:txBody>
      </p:sp>
    </p:spTree>
    <p:extLst>
      <p:ext uri="{BB962C8B-B14F-4D97-AF65-F5344CB8AC3E}">
        <p14:creationId xmlns:p14="http://schemas.microsoft.com/office/powerpoint/2010/main" val="3876689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Resalta que es útil cuando no hay datos etiquetados disponibles.</a:t>
            </a:r>
          </a:p>
          <a:p>
            <a:r>
              <a:rPr lang="es-MX" dirty="0"/>
              <a:t>Comenta sobre la exploración de datos y el descubrimiento de conocimientos.</a:t>
            </a:r>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52</a:t>
            </a:fld>
            <a:endParaRPr lang="es-CO"/>
          </a:p>
        </p:txBody>
      </p:sp>
    </p:spTree>
    <p:extLst>
      <p:ext uri="{BB962C8B-B14F-4D97-AF65-F5344CB8AC3E}">
        <p14:creationId xmlns:p14="http://schemas.microsoft.com/office/powerpoint/2010/main" val="2019966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Explica la idea de exploración vs. explotación en aprendizaje por refuerzo.</a:t>
            </a:r>
          </a:p>
          <a:p>
            <a:r>
              <a:rPr lang="es-MX" dirty="0"/>
              <a:t>Menciona casos de éxito conocidos para captar interés.</a:t>
            </a:r>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53</a:t>
            </a:fld>
            <a:endParaRPr lang="es-CO"/>
          </a:p>
        </p:txBody>
      </p:sp>
    </p:spTree>
    <p:extLst>
      <p:ext uri="{BB962C8B-B14F-4D97-AF65-F5344CB8AC3E}">
        <p14:creationId xmlns:p14="http://schemas.microsoft.com/office/powerpoint/2010/main" val="1818488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Invita a los estudiantes a compartir otros ejemplos que conozcan.</a:t>
            </a:r>
          </a:p>
          <a:p>
            <a:r>
              <a:rPr lang="es-MX" dirty="0"/>
              <a:t>Abre un espacio para discutir las implicaciones futuras del ML.</a:t>
            </a:r>
            <a:endParaRPr lang="es-CO" dirty="0"/>
          </a:p>
        </p:txBody>
      </p:sp>
      <p:sp>
        <p:nvSpPr>
          <p:cNvPr id="4" name="Marcador de número de diapositiva 3"/>
          <p:cNvSpPr>
            <a:spLocks noGrp="1"/>
          </p:cNvSpPr>
          <p:nvPr>
            <p:ph type="sldNum" sz="quarter" idx="5"/>
          </p:nvPr>
        </p:nvSpPr>
        <p:spPr/>
        <p:txBody>
          <a:bodyPr/>
          <a:lstStyle/>
          <a:p>
            <a:fld id="{0EAA7E1F-0B73-4B56-8C34-31C88069021A}" type="slidenum">
              <a:rPr lang="es-CO" smtClean="0"/>
              <a:t>54</a:t>
            </a:fld>
            <a:endParaRPr lang="es-CO"/>
          </a:p>
        </p:txBody>
      </p:sp>
    </p:spTree>
    <p:extLst>
      <p:ext uri="{BB962C8B-B14F-4D97-AF65-F5344CB8AC3E}">
        <p14:creationId xmlns:p14="http://schemas.microsoft.com/office/powerpoint/2010/main" val="2728579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Aclara que el ciclo es </a:t>
            </a:r>
            <a:r>
              <a:rPr lang="es-MX" b="1" dirty="0"/>
              <a:t>flexible</a:t>
            </a:r>
            <a:r>
              <a:rPr lang="es-MX" dirty="0"/>
              <a:t> y puede adaptarse según el proyecto.</a:t>
            </a:r>
          </a:p>
          <a:p>
            <a:r>
              <a:rPr lang="es-MX" dirty="0"/>
              <a:t>Menciona que es común regresar a etapas anteriores para mejorar el modelo.</a:t>
            </a:r>
            <a:endParaRPr lang="es-CO" dirty="0"/>
          </a:p>
        </p:txBody>
      </p:sp>
      <p:sp>
        <p:nvSpPr>
          <p:cNvPr id="4" name="Marcador de número de diapositiva 3"/>
          <p:cNvSpPr>
            <a:spLocks noGrp="1"/>
          </p:cNvSpPr>
          <p:nvPr>
            <p:ph type="sldNum" sz="quarter" idx="5"/>
          </p:nvPr>
        </p:nvSpPr>
        <p:spPr/>
        <p:txBody>
          <a:bodyPr/>
          <a:lstStyle/>
          <a:p>
            <a:fld id="{4815B6AD-3CE0-4661-86CF-24AA6157AE7D}" type="slidenum">
              <a:rPr lang="es-CO" smtClean="0"/>
              <a:t>56</a:t>
            </a:fld>
            <a:endParaRPr lang="es-CO"/>
          </a:p>
        </p:txBody>
      </p:sp>
    </p:spTree>
    <p:extLst>
      <p:ext uri="{BB962C8B-B14F-4D97-AF65-F5344CB8AC3E}">
        <p14:creationId xmlns:p14="http://schemas.microsoft.com/office/powerpoint/2010/main" val="2691220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Usa un ejemplo real (p.ej., predicción de ventas) para ilustrar la importancia de esta etapa.</a:t>
            </a:r>
          </a:p>
          <a:p>
            <a:r>
              <a:rPr lang="es-MX" dirty="0"/>
              <a:t>Enfatiza que una </a:t>
            </a:r>
            <a:r>
              <a:rPr lang="es-MX" b="1" dirty="0"/>
              <a:t>definición precisa</a:t>
            </a:r>
            <a:r>
              <a:rPr lang="es-MX" dirty="0"/>
              <a:t> guía todo el proyecto.</a:t>
            </a:r>
            <a:endParaRPr lang="es-CO" dirty="0"/>
          </a:p>
        </p:txBody>
      </p:sp>
      <p:sp>
        <p:nvSpPr>
          <p:cNvPr id="4" name="Marcador de número de diapositiva 3"/>
          <p:cNvSpPr>
            <a:spLocks noGrp="1"/>
          </p:cNvSpPr>
          <p:nvPr>
            <p:ph type="sldNum" sz="quarter" idx="5"/>
          </p:nvPr>
        </p:nvSpPr>
        <p:spPr/>
        <p:txBody>
          <a:bodyPr/>
          <a:lstStyle/>
          <a:p>
            <a:fld id="{4815B6AD-3CE0-4661-86CF-24AA6157AE7D}" type="slidenum">
              <a:rPr lang="es-CO" smtClean="0"/>
              <a:t>57</a:t>
            </a:fld>
            <a:endParaRPr lang="es-CO"/>
          </a:p>
        </p:txBody>
      </p:sp>
    </p:spTree>
    <p:extLst>
      <p:ext uri="{BB962C8B-B14F-4D97-AF65-F5344CB8AC3E}">
        <p14:creationId xmlns:p14="http://schemas.microsoft.com/office/powerpoint/2010/main" val="478771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Menciona que esta etapa puede consumir hasta el </a:t>
            </a:r>
            <a:r>
              <a:rPr lang="es-MX" b="1" dirty="0"/>
              <a:t>80% del tiempo</a:t>
            </a:r>
            <a:r>
              <a:rPr lang="es-MX" dirty="0"/>
              <a:t> del proyecto.</a:t>
            </a:r>
          </a:p>
          <a:p>
            <a:r>
              <a:rPr lang="es-MX" dirty="0"/>
              <a:t>Destaca la importancia de </a:t>
            </a:r>
            <a:r>
              <a:rPr lang="es-MX" b="1" dirty="0"/>
              <a:t>datos de calidad</a:t>
            </a:r>
            <a:r>
              <a:rPr lang="es-MX" dirty="0"/>
              <a:t> para resultados confiables.</a:t>
            </a:r>
            <a:endParaRPr lang="es-CO" dirty="0"/>
          </a:p>
        </p:txBody>
      </p:sp>
      <p:sp>
        <p:nvSpPr>
          <p:cNvPr id="4" name="Marcador de número de diapositiva 3"/>
          <p:cNvSpPr>
            <a:spLocks noGrp="1"/>
          </p:cNvSpPr>
          <p:nvPr>
            <p:ph type="sldNum" sz="quarter" idx="5"/>
          </p:nvPr>
        </p:nvSpPr>
        <p:spPr/>
        <p:txBody>
          <a:bodyPr/>
          <a:lstStyle/>
          <a:p>
            <a:fld id="{4815B6AD-3CE0-4661-86CF-24AA6157AE7D}" type="slidenum">
              <a:rPr lang="es-CO" smtClean="0"/>
              <a:t>58</a:t>
            </a:fld>
            <a:endParaRPr lang="es-CO"/>
          </a:p>
        </p:txBody>
      </p:sp>
    </p:spTree>
    <p:extLst>
      <p:ext uri="{BB962C8B-B14F-4D97-AF65-F5344CB8AC3E}">
        <p14:creationId xmlns:p14="http://schemas.microsoft.com/office/powerpoint/2010/main" val="4290801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Introduce librerías como </a:t>
            </a:r>
            <a:r>
              <a:rPr lang="es-MX" b="1" dirty="0" err="1"/>
              <a:t>matplotlib</a:t>
            </a:r>
            <a:r>
              <a:rPr lang="es-MX" dirty="0"/>
              <a:t> y </a:t>
            </a:r>
            <a:r>
              <a:rPr lang="es-MX" b="1" dirty="0" err="1"/>
              <a:t>seaborn</a:t>
            </a:r>
            <a:r>
              <a:rPr lang="es-MX" dirty="0"/>
              <a:t> para visualización.</a:t>
            </a:r>
          </a:p>
          <a:p>
            <a:r>
              <a:rPr lang="es-MX" dirty="0"/>
              <a:t>Invita a los estudiantes a pensar en </a:t>
            </a:r>
            <a:r>
              <a:rPr lang="es-MX" b="1" dirty="0"/>
              <a:t>preguntas</a:t>
            </a:r>
            <a:r>
              <a:rPr lang="es-MX" dirty="0"/>
              <a:t> que pueden responderse con EDA.</a:t>
            </a:r>
            <a:endParaRPr lang="es-CO" dirty="0"/>
          </a:p>
        </p:txBody>
      </p:sp>
      <p:sp>
        <p:nvSpPr>
          <p:cNvPr id="4" name="Marcador de número de diapositiva 3"/>
          <p:cNvSpPr>
            <a:spLocks noGrp="1"/>
          </p:cNvSpPr>
          <p:nvPr>
            <p:ph type="sldNum" sz="quarter" idx="5"/>
          </p:nvPr>
        </p:nvSpPr>
        <p:spPr/>
        <p:txBody>
          <a:bodyPr/>
          <a:lstStyle/>
          <a:p>
            <a:fld id="{4815B6AD-3CE0-4661-86CF-24AA6157AE7D}" type="slidenum">
              <a:rPr lang="es-CO" smtClean="0"/>
              <a:t>59</a:t>
            </a:fld>
            <a:endParaRPr lang="es-CO"/>
          </a:p>
        </p:txBody>
      </p:sp>
    </p:spTree>
    <p:extLst>
      <p:ext uri="{BB962C8B-B14F-4D97-AF65-F5344CB8AC3E}">
        <p14:creationId xmlns:p14="http://schemas.microsoft.com/office/powerpoint/2010/main" val="1077813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Explica conceptos como </a:t>
            </a:r>
            <a:r>
              <a:rPr lang="es-MX" b="1" dirty="0" err="1"/>
              <a:t>overfitting</a:t>
            </a:r>
            <a:r>
              <a:rPr lang="es-MX" dirty="0"/>
              <a:t> y </a:t>
            </a:r>
            <a:r>
              <a:rPr lang="es-MX" b="1" dirty="0" err="1"/>
              <a:t>underfitting</a:t>
            </a:r>
            <a:r>
              <a:rPr lang="es-MX" dirty="0"/>
              <a:t>.</a:t>
            </a:r>
          </a:p>
          <a:p>
            <a:r>
              <a:rPr lang="es-MX" dirty="0"/>
              <a:t>Menciona herramientas como </a:t>
            </a:r>
            <a:r>
              <a:rPr lang="es-MX" b="1" dirty="0" err="1"/>
              <a:t>scikit-learn</a:t>
            </a:r>
            <a:r>
              <a:rPr lang="es-MX" dirty="0"/>
              <a:t>.</a:t>
            </a:r>
            <a:endParaRPr lang="es-CO" dirty="0"/>
          </a:p>
        </p:txBody>
      </p:sp>
      <p:sp>
        <p:nvSpPr>
          <p:cNvPr id="4" name="Marcador de número de diapositiva 3"/>
          <p:cNvSpPr>
            <a:spLocks noGrp="1"/>
          </p:cNvSpPr>
          <p:nvPr>
            <p:ph type="sldNum" sz="quarter" idx="5"/>
          </p:nvPr>
        </p:nvSpPr>
        <p:spPr/>
        <p:txBody>
          <a:bodyPr/>
          <a:lstStyle/>
          <a:p>
            <a:fld id="{4815B6AD-3CE0-4661-86CF-24AA6157AE7D}" type="slidenum">
              <a:rPr lang="es-CO" smtClean="0"/>
              <a:t>60</a:t>
            </a:fld>
            <a:endParaRPr lang="es-CO"/>
          </a:p>
        </p:txBody>
      </p:sp>
    </p:spTree>
    <p:extLst>
      <p:ext uri="{BB962C8B-B14F-4D97-AF65-F5344CB8AC3E}">
        <p14:creationId xmlns:p14="http://schemas.microsoft.com/office/powerpoint/2010/main" val="3828643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Enfatiza la importancia de elegir la </a:t>
            </a:r>
            <a:r>
              <a:rPr lang="es-MX" b="1" dirty="0"/>
              <a:t>métrica adecuada</a:t>
            </a:r>
            <a:r>
              <a:rPr lang="es-MX" dirty="0"/>
              <a:t> según el contexto.</a:t>
            </a:r>
          </a:p>
          <a:p>
            <a:r>
              <a:rPr lang="es-MX" dirty="0"/>
              <a:t>Discute posibles </a:t>
            </a:r>
            <a:r>
              <a:rPr lang="es-MX" b="1" dirty="0"/>
              <a:t>compromisos</a:t>
            </a:r>
            <a:r>
              <a:rPr lang="es-MX" dirty="0"/>
              <a:t> entre diferentes métricas.</a:t>
            </a:r>
            <a:endParaRPr lang="es-CO" dirty="0"/>
          </a:p>
        </p:txBody>
      </p:sp>
      <p:sp>
        <p:nvSpPr>
          <p:cNvPr id="4" name="Marcador de número de diapositiva 3"/>
          <p:cNvSpPr>
            <a:spLocks noGrp="1"/>
          </p:cNvSpPr>
          <p:nvPr>
            <p:ph type="sldNum" sz="quarter" idx="5"/>
          </p:nvPr>
        </p:nvSpPr>
        <p:spPr/>
        <p:txBody>
          <a:bodyPr/>
          <a:lstStyle/>
          <a:p>
            <a:fld id="{4815B6AD-3CE0-4661-86CF-24AA6157AE7D}" type="slidenum">
              <a:rPr lang="es-CO" smtClean="0"/>
              <a:t>62</a:t>
            </a:fld>
            <a:endParaRPr lang="es-CO"/>
          </a:p>
        </p:txBody>
      </p:sp>
    </p:spTree>
    <p:extLst>
      <p:ext uri="{BB962C8B-B14F-4D97-AF65-F5344CB8AC3E}">
        <p14:creationId xmlns:p14="http://schemas.microsoft.com/office/powerpoint/2010/main" val="166473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266C01-AC10-76A6-EF5B-4D9F33D8DF0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0F78CC0E-71E0-49D9-9151-044FC1371F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501931B-11C3-3F06-36A7-41EE182F78DB}"/>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5" name="Marcador de pie de página 4">
            <a:extLst>
              <a:ext uri="{FF2B5EF4-FFF2-40B4-BE49-F238E27FC236}">
                <a16:creationId xmlns:a16="http://schemas.microsoft.com/office/drawing/2014/main" id="{417DDF91-A837-8C12-71DF-B1A2833C4C8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B751DC-D0D1-C26F-8A1F-737FA16A90B2}"/>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4020218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49D36-90E7-4936-246D-8FC7485D2D9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20FAD18-D00D-EC99-7D02-90424190089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D0C40D5-E5AC-A3D0-38A0-C7DC5E993123}"/>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5" name="Marcador de pie de página 4">
            <a:extLst>
              <a:ext uri="{FF2B5EF4-FFF2-40B4-BE49-F238E27FC236}">
                <a16:creationId xmlns:a16="http://schemas.microsoft.com/office/drawing/2014/main" id="{2B8DEDFF-FF0C-2015-2E6A-59AA6FE2DCB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0F3CBA9-141B-B518-2788-D80DC68ED9BC}"/>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253303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FDDD8-132A-6A88-2790-1C95D597403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F794FFA-A2F4-819B-18F6-90B9174CA1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E2F2E70-7D8C-2196-88DC-4FD6961D0C7E}"/>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5" name="Marcador de pie de página 4">
            <a:extLst>
              <a:ext uri="{FF2B5EF4-FFF2-40B4-BE49-F238E27FC236}">
                <a16:creationId xmlns:a16="http://schemas.microsoft.com/office/drawing/2014/main" id="{F65032C0-44F5-6293-E33C-2B5E4A4B28D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42632D-AD7C-8500-1DF3-EFB9EDDF060F}"/>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579220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49AC8A-8AEF-A631-FE9C-6539B5B400B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9360563-9628-A67D-F6FC-2B8D412E1CD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F4B0B02-2277-6B42-B4D5-058820C627B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0B15FBC-973F-38ED-CB6B-96352AB1EA6A}"/>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6" name="Marcador de pie de página 5">
            <a:extLst>
              <a:ext uri="{FF2B5EF4-FFF2-40B4-BE49-F238E27FC236}">
                <a16:creationId xmlns:a16="http://schemas.microsoft.com/office/drawing/2014/main" id="{B1AA1419-199A-8B5B-EF65-4D71EE6F0C4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050D61A-EA5C-788C-3127-E01A621CD762}"/>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269673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CCE96F-B7BF-57AA-B1CE-32B0C3BA662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045B669-EE7C-CD78-6DA2-1723E9EC8B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5D8791D-7EC8-3ACB-9A03-D4B1BAB962A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1699E7FA-7994-995F-09AD-BDCAF66CE7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A95CA99-C0C4-A1B9-9465-AFCB5B9DF8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0B4D68E-9BDA-91AD-717D-F979CB19B6CF}"/>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8" name="Marcador de pie de página 7">
            <a:extLst>
              <a:ext uri="{FF2B5EF4-FFF2-40B4-BE49-F238E27FC236}">
                <a16:creationId xmlns:a16="http://schemas.microsoft.com/office/drawing/2014/main" id="{273F838E-3A69-C45B-2D22-294D332FC9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AC6BA84-E52A-3ED7-4FB9-8C39E797E260}"/>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4275085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0303A6-DD4B-1C56-CB19-A8494883096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A60437-2E26-6575-2D30-664F5BB83C89}"/>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4" name="Marcador de pie de página 3">
            <a:extLst>
              <a:ext uri="{FF2B5EF4-FFF2-40B4-BE49-F238E27FC236}">
                <a16:creationId xmlns:a16="http://schemas.microsoft.com/office/drawing/2014/main" id="{15357D26-5B41-4647-00E0-33B93BF1860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3EEE155-DC9B-D3BC-09FA-CB945CAAC75A}"/>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788921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DC3A07A-D994-E2A2-400E-E38C95AEF072}"/>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3" name="Marcador de pie de página 2">
            <a:extLst>
              <a:ext uri="{FF2B5EF4-FFF2-40B4-BE49-F238E27FC236}">
                <a16:creationId xmlns:a16="http://schemas.microsoft.com/office/drawing/2014/main" id="{8D4DF012-685A-6E59-0CC2-BACDADAB9D9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3BD190F-13D6-2F02-95D4-9422208629DC}"/>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183271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9D61C-CBA7-E601-BF85-F629B6CC35A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BCED213-EA9A-1072-C2C4-0D02BFF47D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BB1EE55-65CD-9A64-FE92-45A424264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AFBA2D-1D04-073A-2EE3-F90FFE23A504}"/>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6" name="Marcador de pie de página 5">
            <a:extLst>
              <a:ext uri="{FF2B5EF4-FFF2-40B4-BE49-F238E27FC236}">
                <a16:creationId xmlns:a16="http://schemas.microsoft.com/office/drawing/2014/main" id="{4D888DB0-FF4F-7F7E-7C9F-5A20678C82A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F565546-69B3-0141-F2BD-87460B03B994}"/>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79704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D42E4-9959-8E53-E949-8D68BA004A2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136FB9E-90BF-4A04-918D-8AE4E8D7BE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124780D7-D636-01B7-6057-3F3BC329C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622172-6986-EBD6-4DB8-E5F6C8AF7894}"/>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6" name="Marcador de pie de página 5">
            <a:extLst>
              <a:ext uri="{FF2B5EF4-FFF2-40B4-BE49-F238E27FC236}">
                <a16:creationId xmlns:a16="http://schemas.microsoft.com/office/drawing/2014/main" id="{CDE8A601-264F-4E65-C261-D7B82DC8753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226D01A-ACCA-A0A7-13FC-6E387FA92D1D}"/>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1031870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545045-B911-B6EE-3C2E-A05CBD54BBC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09503704-9AD2-9637-1267-6D434C0453A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905CE6D-432C-30D6-1F29-1A1AD9B4EAEF}"/>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5" name="Marcador de pie de página 4">
            <a:extLst>
              <a:ext uri="{FF2B5EF4-FFF2-40B4-BE49-F238E27FC236}">
                <a16:creationId xmlns:a16="http://schemas.microsoft.com/office/drawing/2014/main" id="{2C476382-168B-539C-A8BA-B33CFBC85F6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8DE7F6C-EC16-C660-3E1C-3A8D1E9866B9}"/>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146360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9DBE436-DF49-CCD6-1BE6-0F243BE7B22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53E6762-C139-12BB-0358-3CB55ECCE4A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7AAD419-0CE7-A45D-F656-68602E372E39}"/>
              </a:ext>
            </a:extLst>
          </p:cNvPr>
          <p:cNvSpPr>
            <a:spLocks noGrp="1"/>
          </p:cNvSpPr>
          <p:nvPr>
            <p:ph type="dt" sz="half" idx="10"/>
          </p:nvPr>
        </p:nvSpPr>
        <p:spPr/>
        <p:txBody>
          <a:bodyPr/>
          <a:lstStyle/>
          <a:p>
            <a:fld id="{E8703456-0D41-4FAA-A4DE-FC88BE14D655}" type="datetimeFigureOut">
              <a:rPr lang="es-CO" smtClean="0"/>
              <a:t>12/07/2025</a:t>
            </a:fld>
            <a:endParaRPr lang="es-CO"/>
          </a:p>
        </p:txBody>
      </p:sp>
      <p:sp>
        <p:nvSpPr>
          <p:cNvPr id="5" name="Marcador de pie de página 4">
            <a:extLst>
              <a:ext uri="{FF2B5EF4-FFF2-40B4-BE49-F238E27FC236}">
                <a16:creationId xmlns:a16="http://schemas.microsoft.com/office/drawing/2014/main" id="{A5472289-6D1B-5354-3E41-A3823487B7D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47DCDE6-5EB9-95A5-ADB8-A70C511F35D8}"/>
              </a:ext>
            </a:extLst>
          </p:cNvPr>
          <p:cNvSpPr>
            <a:spLocks noGrp="1"/>
          </p:cNvSpPr>
          <p:nvPr>
            <p:ph type="sldNum" sz="quarter" idx="12"/>
          </p:nvPr>
        </p:nvSpPr>
        <p:spPr/>
        <p:txBody>
          <a:bodyPr/>
          <a:lstStyle/>
          <a:p>
            <a:fld id="{2423A29E-CA09-4170-A41B-C2470AA2B376}" type="slidenum">
              <a:rPr lang="es-CO" smtClean="0"/>
              <a:t>‹Nº›</a:t>
            </a:fld>
            <a:endParaRPr lang="es-CO"/>
          </a:p>
        </p:txBody>
      </p:sp>
    </p:spTree>
    <p:extLst>
      <p:ext uri="{BB962C8B-B14F-4D97-AF65-F5344CB8AC3E}">
        <p14:creationId xmlns:p14="http://schemas.microsoft.com/office/powerpoint/2010/main" val="3243046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5C1E176-07E8-5EB5-F6D7-DEB4F9B7E77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Marcador de título 1">
            <a:extLst>
              <a:ext uri="{FF2B5EF4-FFF2-40B4-BE49-F238E27FC236}">
                <a16:creationId xmlns:a16="http://schemas.microsoft.com/office/drawing/2014/main" id="{4049A98D-2845-E1DA-42A5-3B56E58832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92DB6C26-A679-9B3D-C8E0-1DD9BCB1A4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2F84354-06B1-F908-15FD-92D645A560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703456-0D41-4FAA-A4DE-FC88BE14D655}" type="datetimeFigureOut">
              <a:rPr lang="es-CO" smtClean="0"/>
              <a:t>12/07/2025</a:t>
            </a:fld>
            <a:endParaRPr lang="es-CO"/>
          </a:p>
        </p:txBody>
      </p:sp>
      <p:sp>
        <p:nvSpPr>
          <p:cNvPr id="5" name="Marcador de pie de página 4">
            <a:extLst>
              <a:ext uri="{FF2B5EF4-FFF2-40B4-BE49-F238E27FC236}">
                <a16:creationId xmlns:a16="http://schemas.microsoft.com/office/drawing/2014/main" id="{8B360379-8F10-AA26-B385-2682EA063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82000"/>
                  </a:schemeClr>
                </a:solidFill>
                <a:latin typeface="Verdana" panose="020B0604030504040204" pitchFamily="34" charset="0"/>
                <a:ea typeface="Verdana" panose="020B0604030504040204" pitchFamily="34" charset="0"/>
              </a:defRPr>
            </a:lvl1pPr>
          </a:lstStyle>
          <a:p>
            <a:endParaRPr lang="es-CO"/>
          </a:p>
        </p:txBody>
      </p:sp>
      <p:sp>
        <p:nvSpPr>
          <p:cNvPr id="6" name="Marcador de número de diapositiva 5">
            <a:extLst>
              <a:ext uri="{FF2B5EF4-FFF2-40B4-BE49-F238E27FC236}">
                <a16:creationId xmlns:a16="http://schemas.microsoft.com/office/drawing/2014/main" id="{3D20F80E-7552-FBAE-8835-F09378C6C0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82000"/>
                  </a:schemeClr>
                </a:solidFill>
                <a:latin typeface="Verdana" panose="020B0604030504040204" pitchFamily="34" charset="0"/>
                <a:ea typeface="Verdana" panose="020B0604030504040204" pitchFamily="34" charset="0"/>
              </a:defRPr>
            </a:lvl1pPr>
          </a:lstStyle>
          <a:p>
            <a:fld id="{2423A29E-CA09-4170-A41B-C2470AA2B376}" type="slidenum">
              <a:rPr lang="es-CO" smtClean="0"/>
              <a:pPr/>
              <a:t>‹Nº›</a:t>
            </a:fld>
            <a:endParaRPr lang="es-CO"/>
          </a:p>
        </p:txBody>
      </p:sp>
    </p:spTree>
    <p:extLst>
      <p:ext uri="{BB962C8B-B14F-4D97-AF65-F5344CB8AC3E}">
        <p14:creationId xmlns:p14="http://schemas.microsoft.com/office/powerpoint/2010/main" val="705052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es.wikipedia.org/wiki/Universidad_Cat%C3%B3lica_de_Lovaina" TargetMode="External"/><Relationship Id="rId2" Type="http://schemas.openxmlformats.org/officeDocument/2006/relationships/hyperlink" Target="https://es.wikipedia.org/wiki/M%C3%A9todo_de_Louvain#cite_note-Louvain-1" TargetMode="External"/><Relationship Id="rId1" Type="http://schemas.openxmlformats.org/officeDocument/2006/relationships/slideLayout" Target="../slideLayouts/slideLayout2.xml"/><Relationship Id="rId4" Type="http://schemas.openxmlformats.org/officeDocument/2006/relationships/hyperlink" Target="https://es.wikipedia.org/wiki/Estructura_de_comunidades"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5.xml"/><Relationship Id="rId4" Type="http://schemas.openxmlformats.org/officeDocument/2006/relationships/hyperlink" Target="https://www.youtube.com/watch?v=xnf8i_IRCcw"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youtube.com/watch?v=Lu56xVlZ40M"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129682-032B-BB03-0571-E6A9C0DCB416}"/>
              </a:ext>
            </a:extLst>
          </p:cNvPr>
          <p:cNvSpPr>
            <a:spLocks noGrp="1"/>
          </p:cNvSpPr>
          <p:nvPr>
            <p:ph type="title"/>
          </p:nvPr>
        </p:nvSpPr>
        <p:spPr/>
        <p:txBody>
          <a:bodyPr>
            <a:noAutofit/>
          </a:bodyPr>
          <a:lstStyle/>
          <a:p>
            <a:r>
              <a:rPr lang="es-MX" sz="4800" dirty="0">
                <a:latin typeface="Verdana" panose="020B0604030504040204" pitchFamily="34" charset="0"/>
                <a:ea typeface="Verdana" panose="020B0604030504040204" pitchFamily="34" charset="0"/>
              </a:rPr>
              <a:t>Módulo 4 – Reglas de asociación, detección de anomalías y Análisis de grafos</a:t>
            </a:r>
            <a:endParaRPr lang="es-CO" sz="4800" dirty="0">
              <a:latin typeface="Verdana" panose="020B0604030504040204" pitchFamily="34" charset="0"/>
              <a:ea typeface="Verdana" panose="020B0604030504040204" pitchFamily="34" charset="0"/>
            </a:endParaRPr>
          </a:p>
        </p:txBody>
      </p:sp>
      <p:sp>
        <p:nvSpPr>
          <p:cNvPr id="3" name="Subtítulo 2">
            <a:extLst>
              <a:ext uri="{FF2B5EF4-FFF2-40B4-BE49-F238E27FC236}">
                <a16:creationId xmlns:a16="http://schemas.microsoft.com/office/drawing/2014/main" id="{83185A58-688E-1E9C-71A3-F607F7D48A3B}"/>
              </a:ext>
            </a:extLst>
          </p:cNvPr>
          <p:cNvSpPr>
            <a:spLocks noGrp="1"/>
          </p:cNvSpPr>
          <p:nvPr>
            <p:ph type="body" idx="1"/>
          </p:nvPr>
        </p:nvSpPr>
        <p:spPr/>
        <p:txBody>
          <a:bodyPr>
            <a:normAutofit fontScale="77500" lnSpcReduction="20000"/>
          </a:bodyPr>
          <a:lstStyle/>
          <a:p>
            <a:r>
              <a:rPr lang="es-MX" b="1" dirty="0">
                <a:latin typeface="Verdana" panose="020B0604030504040204" pitchFamily="34" charset="0"/>
                <a:ea typeface="Verdana" panose="020B0604030504040204" pitchFamily="34" charset="0"/>
              </a:rPr>
              <a:t>Especialización en Analítica y Ciencia de Datos Aplicada</a:t>
            </a:r>
          </a:p>
          <a:p>
            <a:endParaRPr lang="es-MX" dirty="0">
              <a:latin typeface="Verdana" panose="020B0604030504040204" pitchFamily="34" charset="0"/>
              <a:ea typeface="Verdana" panose="020B0604030504040204" pitchFamily="34" charset="0"/>
            </a:endParaRPr>
          </a:p>
          <a:p>
            <a:r>
              <a:rPr lang="es-MX" b="1" dirty="0">
                <a:latin typeface="Verdana" panose="020B0604030504040204" pitchFamily="34" charset="0"/>
                <a:ea typeface="Verdana" panose="020B0604030504040204" pitchFamily="34" charset="0"/>
              </a:rPr>
              <a:t>Délany Ramírez del Río</a:t>
            </a:r>
          </a:p>
          <a:p>
            <a:r>
              <a:rPr lang="es-MX" sz="1600" dirty="0">
                <a:latin typeface="Verdana" panose="020B0604030504040204" pitchFamily="34" charset="0"/>
                <a:ea typeface="Verdana" panose="020B0604030504040204" pitchFamily="34" charset="0"/>
              </a:rPr>
              <a:t>Ingeniero Industrial</a:t>
            </a:r>
          </a:p>
          <a:p>
            <a:r>
              <a:rPr lang="es-CO" sz="1600" dirty="0" err="1">
                <a:latin typeface="Verdana" panose="020B0604030504040204" pitchFamily="34" charset="0"/>
                <a:ea typeface="Verdana" panose="020B0604030504040204" pitchFamily="34" charset="0"/>
              </a:rPr>
              <a:t>MSc</a:t>
            </a:r>
            <a:r>
              <a:rPr lang="es-CO" sz="1600" dirty="0">
                <a:latin typeface="Verdana" panose="020B0604030504040204" pitchFamily="34" charset="0"/>
                <a:ea typeface="Verdana" panose="020B0604030504040204" pitchFamily="34" charset="0"/>
              </a:rPr>
              <a:t>. en Investigación Operativa y Estadística</a:t>
            </a:r>
          </a:p>
        </p:txBody>
      </p:sp>
    </p:spTree>
    <p:extLst>
      <p:ext uri="{BB962C8B-B14F-4D97-AF65-F5344CB8AC3E}">
        <p14:creationId xmlns:p14="http://schemas.microsoft.com/office/powerpoint/2010/main" val="152833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1A1067C-DB1D-7B96-A6F7-83A45FAB3DCB}"/>
              </a:ext>
            </a:extLst>
          </p:cNvPr>
          <p:cNvSpPr>
            <a:spLocks noGrp="1"/>
          </p:cNvSpPr>
          <p:nvPr>
            <p:ph type="title"/>
          </p:nvPr>
        </p:nvSpPr>
        <p:spPr/>
        <p:txBody>
          <a:bodyPr/>
          <a:lstStyle/>
          <a:p>
            <a:r>
              <a:rPr lang="es-CO" dirty="0"/>
              <a:t>Reglas de asociación</a:t>
            </a:r>
          </a:p>
        </p:txBody>
      </p:sp>
      <p:sp>
        <p:nvSpPr>
          <p:cNvPr id="5" name="Marcador de texto 4">
            <a:extLst>
              <a:ext uri="{FF2B5EF4-FFF2-40B4-BE49-F238E27FC236}">
                <a16:creationId xmlns:a16="http://schemas.microsoft.com/office/drawing/2014/main" id="{5F7FD01D-9F9D-A132-C2F0-BEC865CB8278}"/>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4216651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A9A621-2596-269E-1F9F-6E147D8B3CEC}"/>
              </a:ext>
            </a:extLst>
          </p:cNvPr>
          <p:cNvSpPr>
            <a:spLocks noGrp="1"/>
          </p:cNvSpPr>
          <p:nvPr>
            <p:ph type="title"/>
          </p:nvPr>
        </p:nvSpPr>
        <p:spPr/>
        <p:txBody>
          <a:bodyPr/>
          <a:lstStyle/>
          <a:p>
            <a:r>
              <a:rPr lang="es-CO" b="1" dirty="0">
                <a:solidFill>
                  <a:srgbClr val="0D0D0D"/>
                </a:solidFill>
                <a:latin typeface="ui-sans-serif"/>
              </a:rPr>
              <a:t>Reglas de Asociación</a:t>
            </a:r>
            <a:endParaRPr lang="es-CO" dirty="0"/>
          </a:p>
        </p:txBody>
      </p:sp>
      <p:sp>
        <p:nvSpPr>
          <p:cNvPr id="3" name="Marcador de contenido 2">
            <a:extLst>
              <a:ext uri="{FF2B5EF4-FFF2-40B4-BE49-F238E27FC236}">
                <a16:creationId xmlns:a16="http://schemas.microsoft.com/office/drawing/2014/main" id="{79A69612-74E4-6A2D-3706-1CBB973DFFFA}"/>
              </a:ext>
            </a:extLst>
          </p:cNvPr>
          <p:cNvSpPr>
            <a:spLocks noGrp="1"/>
          </p:cNvSpPr>
          <p:nvPr>
            <p:ph sz="half" idx="1"/>
          </p:nvPr>
        </p:nvSpPr>
        <p:spPr/>
        <p:txBody>
          <a:bodyPr anchor="ctr">
            <a:normAutofit/>
          </a:bodyPr>
          <a:lstStyle/>
          <a:p>
            <a:pPr marL="0" indent="0">
              <a:spcAft>
                <a:spcPts val="1200"/>
              </a:spcAft>
              <a:buNone/>
            </a:pPr>
            <a:r>
              <a:rPr lang="es-MX" sz="2800" dirty="0">
                <a:solidFill>
                  <a:srgbClr val="0D0D0D"/>
                </a:solidFill>
                <a:latin typeface="ui-sans-serif"/>
              </a:rPr>
              <a:t>El algoritmo </a:t>
            </a:r>
            <a:r>
              <a:rPr lang="es-MX" sz="2800" b="1" dirty="0" err="1">
                <a:solidFill>
                  <a:srgbClr val="0D0D0D"/>
                </a:solidFill>
                <a:latin typeface="ui-sans-serif"/>
              </a:rPr>
              <a:t>Apriori</a:t>
            </a:r>
            <a:r>
              <a:rPr lang="es-MX" sz="2800" dirty="0">
                <a:solidFill>
                  <a:srgbClr val="0D0D0D"/>
                </a:solidFill>
                <a:latin typeface="ui-sans-serif"/>
              </a:rPr>
              <a:t> es un algoritmo de minería de datos utilizado para </a:t>
            </a:r>
            <a:r>
              <a:rPr lang="es-MX" sz="2800" b="1" dirty="0">
                <a:solidFill>
                  <a:srgbClr val="0D0D0D"/>
                </a:solidFill>
                <a:latin typeface="ui-sans-serif"/>
              </a:rPr>
              <a:t>encontrar conjuntos de elementos frecuentes </a:t>
            </a:r>
            <a:r>
              <a:rPr lang="es-MX" sz="2800" dirty="0">
                <a:solidFill>
                  <a:srgbClr val="0D0D0D"/>
                </a:solidFill>
                <a:latin typeface="ui-sans-serif"/>
              </a:rPr>
              <a:t>y reglas de asociación en bases de datos transaccionales. En esencia, busca patrones en los datos, como </a:t>
            </a:r>
            <a:r>
              <a:rPr lang="es-MX" sz="2800" b="1" dirty="0">
                <a:solidFill>
                  <a:srgbClr val="0D0D0D"/>
                </a:solidFill>
                <a:latin typeface="ui-sans-serif"/>
              </a:rPr>
              <a:t>qué artículos se compran juntos con frecuencia en un supermercado</a:t>
            </a:r>
            <a:r>
              <a:rPr lang="es-MX" sz="2800" dirty="0">
                <a:solidFill>
                  <a:srgbClr val="0D0D0D"/>
                </a:solidFill>
                <a:latin typeface="ui-sans-serif"/>
              </a:rPr>
              <a:t>, y genera reglas basadas en esos patrones.</a:t>
            </a:r>
            <a:endParaRPr lang="es-CO" sz="2800" dirty="0"/>
          </a:p>
        </p:txBody>
      </p:sp>
      <p:pic>
        <p:nvPicPr>
          <p:cNvPr id="6" name="Marcador de contenido 5">
            <a:extLst>
              <a:ext uri="{FF2B5EF4-FFF2-40B4-BE49-F238E27FC236}">
                <a16:creationId xmlns:a16="http://schemas.microsoft.com/office/drawing/2014/main" id="{E1CB8B78-4037-20A0-4EAC-AE0D6BF1CCFE}"/>
              </a:ext>
            </a:extLst>
          </p:cNvPr>
          <p:cNvPicPr>
            <a:picLocks noGrp="1" noChangeAspect="1"/>
          </p:cNvPicPr>
          <p:nvPr>
            <p:ph sz="half" idx="2"/>
          </p:nvPr>
        </p:nvPicPr>
        <p:blipFill>
          <a:blip r:embed="rId2"/>
          <a:stretch>
            <a:fillRect/>
          </a:stretch>
        </p:blipFill>
        <p:spPr>
          <a:xfrm>
            <a:off x="6172200" y="2280841"/>
            <a:ext cx="5181600" cy="3440906"/>
          </a:xfrm>
          <a:prstGeom prst="rect">
            <a:avLst/>
          </a:prstGeom>
        </p:spPr>
      </p:pic>
    </p:spTree>
    <p:extLst>
      <p:ext uri="{BB962C8B-B14F-4D97-AF65-F5344CB8AC3E}">
        <p14:creationId xmlns:p14="http://schemas.microsoft.com/office/powerpoint/2010/main" val="1912684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DA99E-D1DF-7243-7FA0-EC5FEC639706}"/>
              </a:ext>
            </a:extLst>
          </p:cNvPr>
          <p:cNvSpPr>
            <a:spLocks noGrp="1"/>
          </p:cNvSpPr>
          <p:nvPr>
            <p:ph type="title"/>
          </p:nvPr>
        </p:nvSpPr>
        <p:spPr/>
        <p:txBody>
          <a:bodyPr/>
          <a:lstStyle/>
          <a:p>
            <a:r>
              <a:rPr lang="es-CO" b="1" dirty="0">
                <a:solidFill>
                  <a:srgbClr val="0D0D0D"/>
                </a:solidFill>
                <a:latin typeface="ui-sans-serif"/>
              </a:rPr>
              <a:t>Reglas de Asociación</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DFF7D46-F5B8-B564-C695-DF9006D04BC8}"/>
                  </a:ext>
                </a:extLst>
              </p:cNvPr>
              <p:cNvSpPr>
                <a:spLocks noGrp="1"/>
              </p:cNvSpPr>
              <p:nvPr>
                <p:ph idx="1"/>
              </p:nvPr>
            </p:nvSpPr>
            <p:spPr/>
            <p:txBody>
              <a:bodyPr>
                <a:normAutofit fontScale="85000" lnSpcReduction="20000"/>
              </a:bodyPr>
              <a:lstStyle/>
              <a:p>
                <a:pPr>
                  <a:lnSpc>
                    <a:spcPct val="110000"/>
                  </a:lnSpc>
                  <a:buNone/>
                </a:pPr>
                <a:r>
                  <a:rPr lang="es-MX" dirty="0">
                    <a:solidFill>
                      <a:srgbClr val="0D0D0D"/>
                    </a:solidFill>
                    <a:latin typeface="ui-sans-serif"/>
                  </a:rPr>
                  <a:t>Son </a:t>
                </a:r>
                <a:r>
                  <a:rPr lang="es-MX" b="1" dirty="0">
                    <a:solidFill>
                      <a:srgbClr val="0D0D0D"/>
                    </a:solidFill>
                    <a:latin typeface="ui-sans-serif"/>
                  </a:rPr>
                  <a:t>implicaciones del tipo </a:t>
                </a:r>
                <a:r>
                  <a:rPr lang="es-MX" b="1" i="1" dirty="0">
                    <a:solidFill>
                      <a:srgbClr val="0D0D0D"/>
                    </a:solidFill>
                    <a:latin typeface="ui-sans-serif"/>
                  </a:rPr>
                  <a:t>Si-entonces</a:t>
                </a:r>
                <a:r>
                  <a:rPr lang="es-MX" dirty="0">
                    <a:solidFill>
                      <a:srgbClr val="0D0D0D"/>
                    </a:solidFill>
                    <a:latin typeface="ui-sans-serif"/>
                  </a:rPr>
                  <a:t> extraídas de grandes bases de datos que describen </a:t>
                </a:r>
                <a:r>
                  <a:rPr lang="es-MX" b="1" dirty="0">
                    <a:solidFill>
                      <a:srgbClr val="0D0D0D"/>
                    </a:solidFill>
                    <a:latin typeface="ui-sans-serif"/>
                  </a:rPr>
                  <a:t>patrones de </a:t>
                </a:r>
                <a:r>
                  <a:rPr lang="es-MX" b="1" dirty="0" err="1">
                    <a:solidFill>
                      <a:srgbClr val="0D0D0D"/>
                    </a:solidFill>
                    <a:latin typeface="ui-sans-serif"/>
                  </a:rPr>
                  <a:t>co-ocurrencia</a:t>
                </a:r>
                <a:r>
                  <a:rPr lang="es-MX" dirty="0">
                    <a:solidFill>
                      <a:srgbClr val="0D0D0D"/>
                    </a:solidFill>
                    <a:latin typeface="ui-sans-serif"/>
                  </a:rPr>
                  <a:t> entre atributos o ítems.</a:t>
                </a:r>
              </a:p>
              <a:p>
                <a:pPr>
                  <a:lnSpc>
                    <a:spcPct val="110000"/>
                  </a:lnSpc>
                  <a:spcAft>
                    <a:spcPts val="1200"/>
                  </a:spcAft>
                </a:pPr>
                <a:r>
                  <a:rPr lang="es-MX" b="1" dirty="0">
                    <a:solidFill>
                      <a:srgbClr val="0D0D0D"/>
                    </a:solidFill>
                    <a:latin typeface="ui-sans-serif"/>
                  </a:rPr>
                  <a:t>Ejemplo clásico</a:t>
                </a:r>
                <a:r>
                  <a:rPr lang="es-MX" dirty="0">
                    <a:solidFill>
                      <a:srgbClr val="0D0D0D"/>
                    </a:solidFill>
                    <a:latin typeface="ui-sans-serif"/>
                  </a:rPr>
                  <a:t>: “Si un cliente compra </a:t>
                </a:r>
                <a:r>
                  <a:rPr lang="es-MX" i="1" dirty="0">
                    <a:solidFill>
                      <a:srgbClr val="0D0D0D"/>
                    </a:solidFill>
                    <a:latin typeface="ui-sans-serif"/>
                  </a:rPr>
                  <a:t>pan</a:t>
                </a:r>
                <a:r>
                  <a:rPr lang="es-MX" dirty="0">
                    <a:solidFill>
                      <a:srgbClr val="0D0D0D"/>
                    </a:solidFill>
                    <a:latin typeface="ui-sans-serif"/>
                  </a:rPr>
                  <a:t> y </a:t>
                </a:r>
                <a:r>
                  <a:rPr lang="es-MX" i="1" dirty="0">
                    <a:solidFill>
                      <a:srgbClr val="0D0D0D"/>
                    </a:solidFill>
                    <a:latin typeface="ui-sans-serif"/>
                  </a:rPr>
                  <a:t>mantequilla</a:t>
                </a:r>
                <a:r>
                  <a:rPr lang="es-MX" dirty="0">
                    <a:solidFill>
                      <a:srgbClr val="0D0D0D"/>
                    </a:solidFill>
                    <a:latin typeface="ui-sans-serif"/>
                  </a:rPr>
                  <a:t>, entonces también compra </a:t>
                </a:r>
                <a:r>
                  <a:rPr lang="es-MX" i="1" dirty="0">
                    <a:solidFill>
                      <a:srgbClr val="0D0D0D"/>
                    </a:solidFill>
                    <a:latin typeface="ui-sans-serif"/>
                  </a:rPr>
                  <a:t>mermelada</a:t>
                </a:r>
                <a:r>
                  <a:rPr lang="es-MX" dirty="0">
                    <a:solidFill>
                      <a:srgbClr val="0D0D0D"/>
                    </a:solidFill>
                    <a:latin typeface="ui-sans-serif"/>
                  </a:rPr>
                  <a:t>”.</a:t>
                </a:r>
              </a:p>
              <a:p>
                <a:pPr>
                  <a:lnSpc>
                    <a:spcPct val="110000"/>
                  </a:lnSpc>
                  <a:spcAft>
                    <a:spcPts val="1200"/>
                  </a:spcAft>
                </a:pPr>
                <a:r>
                  <a:rPr lang="es-MX" b="1" dirty="0">
                    <a:solidFill>
                      <a:srgbClr val="0D0D0D"/>
                    </a:solidFill>
                    <a:latin typeface="ui-sans-serif"/>
                  </a:rPr>
                  <a:t>Métricas clave</a:t>
                </a:r>
                <a:endParaRPr lang="es-MX" dirty="0">
                  <a:solidFill>
                    <a:srgbClr val="0D0D0D"/>
                  </a:solidFill>
                  <a:latin typeface="ui-sans-serif"/>
                </a:endParaRPr>
              </a:p>
              <a:p>
                <a:pPr marL="742950" lvl="1" indent="-285750">
                  <a:lnSpc>
                    <a:spcPct val="110000"/>
                  </a:lnSpc>
                  <a:spcAft>
                    <a:spcPts val="1200"/>
                  </a:spcAft>
                </a:pPr>
                <a:r>
                  <a:rPr lang="es-MX" b="1" dirty="0">
                    <a:solidFill>
                      <a:srgbClr val="0D0D0D"/>
                    </a:solidFill>
                    <a:latin typeface="ui-sans-serif"/>
                  </a:rPr>
                  <a:t>Soporte</a:t>
                </a:r>
                <a:r>
                  <a:rPr lang="es-MX" dirty="0">
                    <a:solidFill>
                      <a:srgbClr val="0D0D0D"/>
                    </a:solidFill>
                    <a:latin typeface="ui-sans-serif"/>
                  </a:rPr>
                  <a:t>: frecuencia con que ocurre el conjunto de ítems en el universo de transacciones.</a:t>
                </a:r>
              </a:p>
              <a:p>
                <a:pPr marL="742950" lvl="1" indent="-285750">
                  <a:lnSpc>
                    <a:spcPct val="110000"/>
                  </a:lnSpc>
                  <a:spcAft>
                    <a:spcPts val="1200"/>
                  </a:spcAft>
                </a:pPr>
                <a:r>
                  <a:rPr lang="es-MX" b="1" dirty="0">
                    <a:solidFill>
                      <a:srgbClr val="0D0D0D"/>
                    </a:solidFill>
                    <a:latin typeface="ui-sans-serif"/>
                  </a:rPr>
                  <a:t>Confianza</a:t>
                </a:r>
                <a:r>
                  <a:rPr lang="es-MX" dirty="0">
                    <a:solidFill>
                      <a:srgbClr val="0D0D0D"/>
                    </a:solidFill>
                    <a:latin typeface="ui-sans-serif"/>
                  </a:rPr>
                  <a:t>: probabilidad condicional de que el consecuente ocurra dado el antecedente </a:t>
                </a:r>
                <a14:m>
                  <m:oMath xmlns:m="http://schemas.openxmlformats.org/officeDocument/2006/math">
                    <m:r>
                      <a:rPr lang="es-CO" b="0" i="1" smtClean="0">
                        <a:solidFill>
                          <a:srgbClr val="0D0D0D"/>
                        </a:solidFill>
                        <a:latin typeface="Cambria Math" panose="02040503050406030204" pitchFamily="18" charset="0"/>
                      </a:rPr>
                      <m:t>𝑃</m:t>
                    </m:r>
                    <m:d>
                      <m:dPr>
                        <m:ctrlPr>
                          <a:rPr lang="es-CO" b="0" i="1" smtClean="0">
                            <a:solidFill>
                              <a:srgbClr val="0D0D0D"/>
                            </a:solidFill>
                            <a:latin typeface="Cambria Math" panose="02040503050406030204" pitchFamily="18" charset="0"/>
                          </a:rPr>
                        </m:ctrlPr>
                      </m:dPr>
                      <m:e>
                        <m:r>
                          <a:rPr lang="es-CO" b="0" i="1" smtClean="0">
                            <a:solidFill>
                              <a:srgbClr val="0D0D0D"/>
                            </a:solidFill>
                            <a:latin typeface="Cambria Math" panose="02040503050406030204" pitchFamily="18" charset="0"/>
                          </a:rPr>
                          <m:t>𝐵</m:t>
                        </m:r>
                        <m:r>
                          <a:rPr lang="es-CO" b="0" i="1" smtClean="0">
                            <a:solidFill>
                              <a:srgbClr val="0D0D0D"/>
                            </a:solidFill>
                            <a:latin typeface="Cambria Math" panose="02040503050406030204" pitchFamily="18" charset="0"/>
                          </a:rPr>
                          <m:t>|</m:t>
                        </m:r>
                        <m:r>
                          <a:rPr lang="es-CO" b="0" i="1" smtClean="0">
                            <a:solidFill>
                              <a:srgbClr val="0D0D0D"/>
                            </a:solidFill>
                            <a:latin typeface="Cambria Math" panose="02040503050406030204" pitchFamily="18" charset="0"/>
                          </a:rPr>
                          <m:t>𝐴</m:t>
                        </m:r>
                      </m:e>
                    </m:d>
                  </m:oMath>
                </a14:m>
                <a:r>
                  <a:rPr lang="es-MX" dirty="0">
                    <a:solidFill>
                      <a:srgbClr val="0D0D0D"/>
                    </a:solidFill>
                    <a:latin typeface="ui-sans-serif"/>
                  </a:rPr>
                  <a:t>.</a:t>
                </a:r>
              </a:p>
              <a:p>
                <a:pPr marL="742950" lvl="1" indent="-285750">
                  <a:lnSpc>
                    <a:spcPct val="110000"/>
                  </a:lnSpc>
                  <a:spcAft>
                    <a:spcPts val="1200"/>
                  </a:spcAft>
                </a:pPr>
                <a:r>
                  <a:rPr lang="es-MX" b="1" dirty="0" err="1">
                    <a:solidFill>
                      <a:srgbClr val="0D0D0D"/>
                    </a:solidFill>
                    <a:latin typeface="ui-sans-serif"/>
                  </a:rPr>
                  <a:t>Lift</a:t>
                </a:r>
                <a:r>
                  <a:rPr lang="es-MX" dirty="0">
                    <a:solidFill>
                      <a:srgbClr val="0D0D0D"/>
                    </a:solidFill>
                    <a:latin typeface="ui-sans-serif"/>
                  </a:rPr>
                  <a:t>: proporción que mide cuán mayor es la confianza frente a la ocurrencia independiente (detecta asociaciones realmente interesantes).</a:t>
                </a:r>
              </a:p>
              <a:p>
                <a:pPr>
                  <a:lnSpc>
                    <a:spcPct val="110000"/>
                  </a:lnSpc>
                  <a:spcAft>
                    <a:spcPts val="1200"/>
                  </a:spcAft>
                </a:pPr>
                <a:r>
                  <a:rPr lang="es-MX" b="1" dirty="0">
                    <a:solidFill>
                      <a:srgbClr val="0D0D0D"/>
                    </a:solidFill>
                    <a:latin typeface="ui-sans-serif"/>
                  </a:rPr>
                  <a:t>Aplicaciones</a:t>
                </a:r>
                <a:r>
                  <a:rPr lang="es-MX" dirty="0">
                    <a:solidFill>
                      <a:srgbClr val="0D0D0D"/>
                    </a:solidFill>
                    <a:latin typeface="ui-sans-serif"/>
                  </a:rPr>
                  <a:t>: </a:t>
                </a:r>
                <a:r>
                  <a:rPr lang="es-MX" dirty="0" err="1">
                    <a:solidFill>
                      <a:srgbClr val="0D0D0D"/>
                    </a:solidFill>
                    <a:latin typeface="ui-sans-serif"/>
                  </a:rPr>
                  <a:t>recomendadores</a:t>
                </a:r>
                <a:r>
                  <a:rPr lang="es-MX" dirty="0">
                    <a:solidFill>
                      <a:srgbClr val="0D0D0D"/>
                    </a:solidFill>
                    <a:latin typeface="ui-sans-serif"/>
                  </a:rPr>
                  <a:t> de productos, análisis de cesta de compra, detección de patrones de uso en telecomunicaciones o web (Han &amp; </a:t>
                </a:r>
                <a:r>
                  <a:rPr lang="es-MX" dirty="0" err="1">
                    <a:solidFill>
                      <a:srgbClr val="0D0D0D"/>
                    </a:solidFill>
                    <a:latin typeface="ui-sans-serif"/>
                  </a:rPr>
                  <a:t>Kamber</a:t>
                </a:r>
                <a:r>
                  <a:rPr lang="es-MX" dirty="0">
                    <a:solidFill>
                      <a:srgbClr val="0D0D0D"/>
                    </a:solidFill>
                    <a:latin typeface="ui-sans-serif"/>
                  </a:rPr>
                  <a:t>, 2012).</a:t>
                </a:r>
              </a:p>
              <a:p>
                <a:pPr>
                  <a:lnSpc>
                    <a:spcPct val="110000"/>
                  </a:lnSpc>
                </a:pPr>
                <a:endParaRPr lang="es-CO" dirty="0"/>
              </a:p>
            </p:txBody>
          </p:sp>
        </mc:Choice>
        <mc:Fallback xmlns="">
          <p:sp>
            <p:nvSpPr>
              <p:cNvPr id="3" name="Marcador de contenido 2">
                <a:extLst>
                  <a:ext uri="{FF2B5EF4-FFF2-40B4-BE49-F238E27FC236}">
                    <a16:creationId xmlns:a16="http://schemas.microsoft.com/office/drawing/2014/main" id="{8DFF7D46-F5B8-B564-C695-DF9006D04BC8}"/>
                  </a:ext>
                </a:extLst>
              </p:cNvPr>
              <p:cNvSpPr>
                <a:spLocks noGrp="1" noRot="1" noChangeAspect="1" noMove="1" noResize="1" noEditPoints="1" noAdjustHandles="1" noChangeArrowheads="1" noChangeShapeType="1" noTextEdit="1"/>
              </p:cNvSpPr>
              <p:nvPr>
                <p:ph idx="1"/>
              </p:nvPr>
            </p:nvSpPr>
            <p:spPr>
              <a:blipFill>
                <a:blip r:embed="rId2"/>
                <a:stretch>
                  <a:fillRect l="-638" t="-1401" r="-522"/>
                </a:stretch>
              </a:blipFill>
            </p:spPr>
            <p:txBody>
              <a:bodyPr/>
              <a:lstStyle/>
              <a:p>
                <a:r>
                  <a:rPr lang="es-CO">
                    <a:noFill/>
                  </a:rPr>
                  <a:t> </a:t>
                </a:r>
              </a:p>
            </p:txBody>
          </p:sp>
        </mc:Fallback>
      </mc:AlternateContent>
    </p:spTree>
    <p:extLst>
      <p:ext uri="{BB962C8B-B14F-4D97-AF65-F5344CB8AC3E}">
        <p14:creationId xmlns:p14="http://schemas.microsoft.com/office/powerpoint/2010/main" val="4244819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0F2326-F79E-6448-E4A2-38B602CC273C}"/>
              </a:ext>
            </a:extLst>
          </p:cNvPr>
          <p:cNvSpPr>
            <a:spLocks noGrp="1"/>
          </p:cNvSpPr>
          <p:nvPr>
            <p:ph type="title"/>
          </p:nvPr>
        </p:nvSpPr>
        <p:spPr/>
        <p:txBody>
          <a:bodyPr/>
          <a:lstStyle/>
          <a:p>
            <a:r>
              <a:rPr lang="es-CO" b="1" dirty="0">
                <a:solidFill>
                  <a:srgbClr val="0D0D0D"/>
                </a:solidFill>
                <a:latin typeface="ui-sans-serif"/>
              </a:rPr>
              <a:t>¿Cómo funciona?</a:t>
            </a:r>
          </a:p>
        </p:txBody>
      </p:sp>
      <p:sp>
        <p:nvSpPr>
          <p:cNvPr id="3" name="Marcador de contenido 2">
            <a:extLst>
              <a:ext uri="{FF2B5EF4-FFF2-40B4-BE49-F238E27FC236}">
                <a16:creationId xmlns:a16="http://schemas.microsoft.com/office/drawing/2014/main" id="{9791E20B-C680-417C-E57B-797DE7ABC9B8}"/>
              </a:ext>
            </a:extLst>
          </p:cNvPr>
          <p:cNvSpPr>
            <a:spLocks noGrp="1"/>
          </p:cNvSpPr>
          <p:nvPr>
            <p:ph sz="half" idx="1"/>
          </p:nvPr>
        </p:nvSpPr>
        <p:spPr/>
        <p:txBody>
          <a:bodyPr/>
          <a:lstStyle/>
          <a:p>
            <a:pPr marL="0" indent="0">
              <a:buNone/>
            </a:pPr>
            <a:r>
              <a:rPr lang="es-MX" dirty="0">
                <a:solidFill>
                  <a:srgbClr val="0D0D0D"/>
                </a:solidFill>
                <a:latin typeface="ui-sans-serif"/>
              </a:rPr>
              <a:t>El algoritmo </a:t>
            </a:r>
            <a:r>
              <a:rPr lang="es-MX" dirty="0" err="1">
                <a:solidFill>
                  <a:srgbClr val="0D0D0D"/>
                </a:solidFill>
                <a:latin typeface="ui-sans-serif"/>
              </a:rPr>
              <a:t>Apriori</a:t>
            </a:r>
            <a:r>
              <a:rPr lang="es-MX" dirty="0">
                <a:solidFill>
                  <a:srgbClr val="0D0D0D"/>
                </a:solidFill>
                <a:latin typeface="ui-sans-serif"/>
              </a:rPr>
              <a:t> se basa en la propiedad de que si un conjunto de elementos no es frecuente, entonces ninguno de sus superconjuntos lo será. </a:t>
            </a:r>
          </a:p>
          <a:p>
            <a:pPr marL="0" indent="0">
              <a:buNone/>
            </a:pPr>
            <a:r>
              <a:rPr lang="es-MX" dirty="0">
                <a:solidFill>
                  <a:srgbClr val="0D0D0D"/>
                </a:solidFill>
                <a:latin typeface="ui-sans-serif"/>
              </a:rPr>
              <a:t>Propuesto por </a:t>
            </a:r>
            <a:r>
              <a:rPr lang="es-MX" dirty="0" err="1">
                <a:solidFill>
                  <a:srgbClr val="0D0D0D"/>
                </a:solidFill>
                <a:latin typeface="ui-sans-serif"/>
              </a:rPr>
              <a:t>Agrawal</a:t>
            </a:r>
            <a:r>
              <a:rPr lang="es-MX" dirty="0">
                <a:solidFill>
                  <a:srgbClr val="0D0D0D"/>
                </a:solidFill>
                <a:latin typeface="ui-sans-serif"/>
              </a:rPr>
              <a:t> &amp; </a:t>
            </a:r>
            <a:r>
              <a:rPr lang="es-MX" dirty="0" err="1">
                <a:solidFill>
                  <a:srgbClr val="0D0D0D"/>
                </a:solidFill>
                <a:latin typeface="ui-sans-serif"/>
              </a:rPr>
              <a:t>Srikant</a:t>
            </a:r>
            <a:r>
              <a:rPr lang="es-MX" dirty="0">
                <a:solidFill>
                  <a:srgbClr val="0D0D0D"/>
                </a:solidFill>
                <a:latin typeface="ui-sans-serif"/>
              </a:rPr>
              <a:t> (1994), es el método clásico para descubrir reglas de asociación de forma eficiente. Se basa en la </a:t>
            </a:r>
            <a:r>
              <a:rPr lang="es-MX" b="1" dirty="0">
                <a:solidFill>
                  <a:srgbClr val="0D0D0D"/>
                </a:solidFill>
                <a:latin typeface="ui-sans-serif"/>
              </a:rPr>
              <a:t>propiedad </a:t>
            </a:r>
            <a:r>
              <a:rPr lang="es-MX" b="1" dirty="0" err="1">
                <a:solidFill>
                  <a:srgbClr val="0D0D0D"/>
                </a:solidFill>
                <a:latin typeface="ui-sans-serif"/>
              </a:rPr>
              <a:t>Apriori</a:t>
            </a:r>
            <a:r>
              <a:rPr lang="es-MX" dirty="0">
                <a:solidFill>
                  <a:srgbClr val="0D0D0D"/>
                </a:solidFill>
                <a:latin typeface="ui-sans-serif"/>
              </a:rPr>
              <a:t>: </a:t>
            </a:r>
            <a:r>
              <a:rPr lang="es-MX" i="1" dirty="0">
                <a:solidFill>
                  <a:srgbClr val="0D0D0D"/>
                </a:solidFill>
                <a:latin typeface="ui-sans-serif"/>
              </a:rPr>
              <a:t>todo subconjunto de un conjunto frecuente también es frecuente</a:t>
            </a:r>
            <a:r>
              <a:rPr lang="es-MX" dirty="0">
                <a:solidFill>
                  <a:srgbClr val="0D0D0D"/>
                </a:solidFill>
                <a:latin typeface="ui-sans-serif"/>
              </a:rPr>
              <a:t>.</a:t>
            </a:r>
            <a:endParaRPr lang="es-MX" dirty="0"/>
          </a:p>
        </p:txBody>
      </p:sp>
      <p:sp>
        <p:nvSpPr>
          <p:cNvPr id="4" name="Marcador de contenido 3">
            <a:extLst>
              <a:ext uri="{FF2B5EF4-FFF2-40B4-BE49-F238E27FC236}">
                <a16:creationId xmlns:a16="http://schemas.microsoft.com/office/drawing/2014/main" id="{E15E7942-6C72-819A-F152-8E47007E4942}"/>
              </a:ext>
            </a:extLst>
          </p:cNvPr>
          <p:cNvSpPr>
            <a:spLocks noGrp="1"/>
          </p:cNvSpPr>
          <p:nvPr>
            <p:ph sz="half" idx="2"/>
          </p:nvPr>
        </p:nvSpPr>
        <p:spPr/>
        <p:txBody>
          <a:bodyPr/>
          <a:lstStyle/>
          <a:p>
            <a:endParaRPr lang="es-CO"/>
          </a:p>
        </p:txBody>
      </p:sp>
    </p:spTree>
    <p:extLst>
      <p:ext uri="{BB962C8B-B14F-4D97-AF65-F5344CB8AC3E}">
        <p14:creationId xmlns:p14="http://schemas.microsoft.com/office/powerpoint/2010/main" val="120882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57CF172-A98D-4485-CAA9-9E22D69DC724}"/>
              </a:ext>
            </a:extLst>
          </p:cNvPr>
          <p:cNvSpPr>
            <a:spLocks noGrp="1"/>
          </p:cNvSpPr>
          <p:nvPr>
            <p:ph type="title"/>
          </p:nvPr>
        </p:nvSpPr>
        <p:spPr/>
        <p:txBody>
          <a:bodyPr/>
          <a:lstStyle/>
          <a:p>
            <a:r>
              <a:rPr lang="es-MX" dirty="0"/>
              <a:t>Pasos del algoritmo:</a:t>
            </a:r>
            <a:endParaRPr lang="es-CO" dirty="0"/>
          </a:p>
        </p:txBody>
      </p:sp>
      <p:sp>
        <p:nvSpPr>
          <p:cNvPr id="5" name="Marcador de contenido 4">
            <a:extLst>
              <a:ext uri="{FF2B5EF4-FFF2-40B4-BE49-F238E27FC236}">
                <a16:creationId xmlns:a16="http://schemas.microsoft.com/office/drawing/2014/main" id="{A054A0B9-C920-7B97-7868-CDFB16CD456A}"/>
              </a:ext>
            </a:extLst>
          </p:cNvPr>
          <p:cNvSpPr>
            <a:spLocks noGrp="1"/>
          </p:cNvSpPr>
          <p:nvPr>
            <p:ph sz="half" idx="1"/>
          </p:nvPr>
        </p:nvSpPr>
        <p:spPr/>
        <p:txBody>
          <a:bodyPr>
            <a:normAutofit/>
          </a:bodyPr>
          <a:lstStyle/>
          <a:p>
            <a:pPr marL="457200" indent="-457200">
              <a:spcAft>
                <a:spcPts val="1200"/>
              </a:spcAft>
              <a:buFont typeface="+mj-lt"/>
              <a:buAutoNum type="arabicPeriod"/>
            </a:pPr>
            <a:r>
              <a:rPr lang="es-MX" sz="2800" b="1" dirty="0">
                <a:solidFill>
                  <a:srgbClr val="0D0D0D"/>
                </a:solidFill>
                <a:latin typeface="ui-sans-serif"/>
              </a:rPr>
              <a:t>Generación de candidatos</a:t>
            </a:r>
            <a:endParaRPr lang="es-MX" sz="2800" dirty="0">
              <a:solidFill>
                <a:srgbClr val="0D0D0D"/>
              </a:solidFill>
              <a:latin typeface="ui-sans-serif"/>
            </a:endParaRPr>
          </a:p>
          <a:p>
            <a:pPr lvl="1">
              <a:spcAft>
                <a:spcPts val="1200"/>
              </a:spcAft>
            </a:pPr>
            <a:r>
              <a:rPr lang="es-MX" sz="2400" dirty="0">
                <a:solidFill>
                  <a:srgbClr val="0D0D0D"/>
                </a:solidFill>
                <a:latin typeface="ui-sans-serif"/>
              </a:rPr>
              <a:t>Parte de ítems individuales y va aumentando la longitud del conjunto (k-ítems) de manera iterativa.</a:t>
            </a:r>
          </a:p>
          <a:p>
            <a:pPr marL="457200" indent="-457200">
              <a:spcAft>
                <a:spcPts val="1200"/>
              </a:spcAft>
              <a:buFont typeface="+mj-lt"/>
              <a:buAutoNum type="arabicPeriod"/>
            </a:pPr>
            <a:r>
              <a:rPr lang="es-MX" sz="2800" b="1" dirty="0">
                <a:solidFill>
                  <a:srgbClr val="0D0D0D"/>
                </a:solidFill>
                <a:latin typeface="ui-sans-serif"/>
              </a:rPr>
              <a:t>Filtrado por soporte mínimo</a:t>
            </a:r>
            <a:endParaRPr lang="es-MX" sz="2800" dirty="0">
              <a:solidFill>
                <a:srgbClr val="0D0D0D"/>
              </a:solidFill>
              <a:latin typeface="ui-sans-serif"/>
            </a:endParaRPr>
          </a:p>
          <a:p>
            <a:pPr lvl="1">
              <a:spcAft>
                <a:spcPts val="1200"/>
              </a:spcAft>
            </a:pPr>
            <a:r>
              <a:rPr lang="es-MX" sz="2400" dirty="0">
                <a:solidFill>
                  <a:srgbClr val="0D0D0D"/>
                </a:solidFill>
                <a:latin typeface="ui-sans-serif"/>
              </a:rPr>
              <a:t>Se descartan candidatos cuyos subconjuntos no alcanzan el umbral de soporte, reduciendo drásticamente la búsqueda.</a:t>
            </a:r>
            <a:endParaRPr lang="es-CO" sz="2000" dirty="0"/>
          </a:p>
        </p:txBody>
      </p:sp>
      <p:sp>
        <p:nvSpPr>
          <p:cNvPr id="6" name="Marcador de contenido 5">
            <a:extLst>
              <a:ext uri="{FF2B5EF4-FFF2-40B4-BE49-F238E27FC236}">
                <a16:creationId xmlns:a16="http://schemas.microsoft.com/office/drawing/2014/main" id="{1715195D-45C6-2443-EADF-650DDA933CC6}"/>
              </a:ext>
            </a:extLst>
          </p:cNvPr>
          <p:cNvSpPr>
            <a:spLocks noGrp="1"/>
          </p:cNvSpPr>
          <p:nvPr>
            <p:ph sz="half" idx="2"/>
          </p:nvPr>
        </p:nvSpPr>
        <p:spPr/>
        <p:txBody>
          <a:bodyPr>
            <a:normAutofit/>
          </a:bodyPr>
          <a:lstStyle/>
          <a:p>
            <a:pPr marL="457200" indent="-457200">
              <a:spcAft>
                <a:spcPts val="1200"/>
              </a:spcAft>
              <a:buFont typeface="+mj-lt"/>
              <a:buAutoNum type="arabicPeriod" startAt="3"/>
            </a:pPr>
            <a:r>
              <a:rPr lang="es-MX" sz="2800" b="1" dirty="0">
                <a:solidFill>
                  <a:srgbClr val="0D0D0D"/>
                </a:solidFill>
                <a:latin typeface="ui-sans-serif"/>
              </a:rPr>
              <a:t>Conteo</a:t>
            </a:r>
            <a:endParaRPr lang="es-MX" sz="2800" dirty="0">
              <a:solidFill>
                <a:srgbClr val="0D0D0D"/>
              </a:solidFill>
              <a:latin typeface="ui-sans-serif"/>
            </a:endParaRPr>
          </a:p>
          <a:p>
            <a:pPr lvl="1">
              <a:spcAft>
                <a:spcPts val="1200"/>
              </a:spcAft>
            </a:pPr>
            <a:r>
              <a:rPr lang="es-MX" sz="2400" dirty="0">
                <a:solidFill>
                  <a:srgbClr val="0D0D0D"/>
                </a:solidFill>
                <a:latin typeface="ui-sans-serif"/>
              </a:rPr>
              <a:t>Se recorre la base de transacciones para contar ocurrencias de cada candidato frecuente.</a:t>
            </a:r>
          </a:p>
          <a:p>
            <a:pPr marL="457200" indent="-457200">
              <a:spcAft>
                <a:spcPts val="1200"/>
              </a:spcAft>
              <a:buFont typeface="+mj-lt"/>
              <a:buAutoNum type="arabicPeriod" startAt="4"/>
            </a:pPr>
            <a:r>
              <a:rPr lang="es-MX" sz="2800" b="1" dirty="0">
                <a:solidFill>
                  <a:srgbClr val="0D0D0D"/>
                </a:solidFill>
                <a:latin typeface="ui-sans-serif"/>
              </a:rPr>
              <a:t>Producción de reglas</a:t>
            </a:r>
            <a:endParaRPr lang="es-MX" sz="2800" dirty="0">
              <a:solidFill>
                <a:srgbClr val="0D0D0D"/>
              </a:solidFill>
              <a:latin typeface="ui-sans-serif"/>
            </a:endParaRPr>
          </a:p>
          <a:p>
            <a:pPr lvl="1">
              <a:spcAft>
                <a:spcPts val="1200"/>
              </a:spcAft>
            </a:pPr>
            <a:r>
              <a:rPr lang="es-MX" sz="2400" dirty="0">
                <a:solidFill>
                  <a:srgbClr val="0D0D0D"/>
                </a:solidFill>
                <a:latin typeface="ui-sans-serif"/>
              </a:rPr>
              <a:t>Con los conjuntos frecuentes se generan reglas y se evalúan con confianza y </a:t>
            </a:r>
            <a:r>
              <a:rPr lang="es-MX" sz="2400" dirty="0" err="1">
                <a:solidFill>
                  <a:srgbClr val="0D0D0D"/>
                </a:solidFill>
                <a:latin typeface="ui-sans-serif"/>
              </a:rPr>
              <a:t>lift</a:t>
            </a:r>
            <a:r>
              <a:rPr lang="es-MX" sz="2400" dirty="0">
                <a:solidFill>
                  <a:srgbClr val="0D0D0D"/>
                </a:solidFill>
                <a:latin typeface="ui-sans-serif"/>
              </a:rPr>
              <a:t> mínimos fijados por el analista.</a:t>
            </a:r>
            <a:endParaRPr lang="es-CO" sz="2000" dirty="0"/>
          </a:p>
        </p:txBody>
      </p:sp>
    </p:spTree>
    <p:extLst>
      <p:ext uri="{BB962C8B-B14F-4D97-AF65-F5344CB8AC3E}">
        <p14:creationId xmlns:p14="http://schemas.microsoft.com/office/powerpoint/2010/main" val="2845340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C692BE-C967-DDDC-64BB-A17CD7005155}"/>
              </a:ext>
            </a:extLst>
          </p:cNvPr>
          <p:cNvSpPr>
            <a:spLocks noGrp="1"/>
          </p:cNvSpPr>
          <p:nvPr>
            <p:ph type="title"/>
          </p:nvPr>
        </p:nvSpPr>
        <p:spPr/>
        <p:txBody>
          <a:bodyPr/>
          <a:lstStyle/>
          <a:p>
            <a:r>
              <a:rPr lang="es-CO" b="1" dirty="0">
                <a:solidFill>
                  <a:srgbClr val="0D0D0D"/>
                </a:solidFill>
                <a:latin typeface="ui-sans-serif"/>
              </a:rPr>
              <a:t>Matemática formal del algoritmo </a:t>
            </a:r>
            <a:r>
              <a:rPr lang="es-CO" b="1" dirty="0" err="1">
                <a:solidFill>
                  <a:srgbClr val="0D0D0D"/>
                </a:solidFill>
                <a:latin typeface="ui-sans-serif"/>
              </a:rPr>
              <a:t>Apriori</a:t>
            </a:r>
            <a:endParaRPr lang="es-CO" dirty="0"/>
          </a:p>
        </p:txBody>
      </p:sp>
      <p:sp>
        <p:nvSpPr>
          <p:cNvPr id="3" name="Marcador de contenido 2">
            <a:extLst>
              <a:ext uri="{FF2B5EF4-FFF2-40B4-BE49-F238E27FC236}">
                <a16:creationId xmlns:a16="http://schemas.microsoft.com/office/drawing/2014/main" id="{BDF6DF38-D8C7-5769-1153-F388B72A4F77}"/>
              </a:ext>
            </a:extLst>
          </p:cNvPr>
          <p:cNvSpPr>
            <a:spLocks noGrp="1"/>
          </p:cNvSpPr>
          <p:nvPr>
            <p:ph sz="half" idx="1"/>
          </p:nvPr>
        </p:nvSpPr>
        <p:spPr/>
        <p:txBody>
          <a:bodyPr>
            <a:normAutofit/>
          </a:bodyPr>
          <a:lstStyle/>
          <a:p>
            <a:pPr>
              <a:buNone/>
            </a:pPr>
            <a:r>
              <a:rPr lang="es-MX" i="1" dirty="0">
                <a:solidFill>
                  <a:srgbClr val="0D0D0D"/>
                </a:solidFill>
                <a:latin typeface="ui-sans-serif"/>
              </a:rPr>
              <a:t>Notación básica</a:t>
            </a:r>
            <a:endParaRPr lang="es-MX" dirty="0">
              <a:solidFill>
                <a:srgbClr val="0D0D0D"/>
              </a:solidFill>
              <a:latin typeface="ui-sans-serif"/>
            </a:endParaRPr>
          </a:p>
          <a:p>
            <a:pPr>
              <a:spcAft>
                <a:spcPts val="1200"/>
              </a:spcAft>
            </a:pPr>
            <a:r>
              <a:rPr lang="es-MX" dirty="0">
                <a:solidFill>
                  <a:srgbClr val="0D0D0D"/>
                </a:solidFill>
                <a:latin typeface="ui-sans-serif"/>
              </a:rPr>
              <a:t>Sea 𝒟 un conjunto de </a:t>
            </a:r>
            <a:r>
              <a:rPr lang="es-MX" b="1" dirty="0">
                <a:solidFill>
                  <a:srgbClr val="0D0D0D"/>
                </a:solidFill>
                <a:latin typeface="ui-sans-serif"/>
              </a:rPr>
              <a:t>N</a:t>
            </a:r>
            <a:r>
              <a:rPr lang="es-MX" dirty="0">
                <a:solidFill>
                  <a:srgbClr val="0D0D0D"/>
                </a:solidFill>
                <a:latin typeface="ui-sans-serif"/>
              </a:rPr>
              <a:t> transacciones.</a:t>
            </a:r>
          </a:p>
          <a:p>
            <a:pPr>
              <a:spcAft>
                <a:spcPts val="1200"/>
              </a:spcAft>
            </a:pPr>
            <a:r>
              <a:rPr lang="es-MX" dirty="0">
                <a:solidFill>
                  <a:srgbClr val="0D0D0D"/>
                </a:solidFill>
                <a:latin typeface="ui-sans-serif"/>
              </a:rPr>
              <a:t>Sea 𝑰 el conjunto de todos los ítems.</a:t>
            </a:r>
          </a:p>
          <a:p>
            <a:pPr>
              <a:spcAft>
                <a:spcPts val="1200"/>
              </a:spcAft>
            </a:pPr>
            <a:r>
              <a:rPr lang="es-MX" dirty="0">
                <a:solidFill>
                  <a:srgbClr val="0D0D0D"/>
                </a:solidFill>
                <a:latin typeface="ui-sans-serif"/>
              </a:rPr>
              <a:t>Un </a:t>
            </a:r>
            <a:r>
              <a:rPr lang="es-MX" b="1" dirty="0">
                <a:solidFill>
                  <a:srgbClr val="0D0D0D"/>
                </a:solidFill>
                <a:latin typeface="ui-sans-serif"/>
              </a:rPr>
              <a:t>k-</a:t>
            </a:r>
            <a:r>
              <a:rPr lang="es-MX" b="1" dirty="0" err="1">
                <a:solidFill>
                  <a:srgbClr val="0D0D0D"/>
                </a:solidFill>
                <a:latin typeface="ui-sans-serif"/>
              </a:rPr>
              <a:t>ítemset</a:t>
            </a:r>
            <a:r>
              <a:rPr lang="es-MX" dirty="0">
                <a:solidFill>
                  <a:srgbClr val="0D0D0D"/>
                </a:solidFill>
                <a:latin typeface="ui-sans-serif"/>
              </a:rPr>
              <a:t> es X ⊆ 𝑰 con |X| = k.</a:t>
            </a:r>
          </a:p>
          <a:p>
            <a:endParaRPr lang="es-CO" dirty="0"/>
          </a:p>
        </p:txBody>
      </p:sp>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36C83122-6240-C89F-826E-CB2A133E3762}"/>
                  </a:ext>
                </a:extLst>
              </p:cNvPr>
              <p:cNvSpPr>
                <a:spLocks noGrp="1"/>
              </p:cNvSpPr>
              <p:nvPr>
                <p:ph sz="half" idx="2"/>
              </p:nvPr>
            </p:nvSpPr>
            <p:spPr/>
            <p:txBody>
              <a:bodyPr>
                <a:normAutofit/>
              </a:bodyPr>
              <a:lstStyle/>
              <a:p>
                <a:pPr>
                  <a:spcAft>
                    <a:spcPts val="1200"/>
                  </a:spcAft>
                </a:pPr>
                <a:r>
                  <a:rPr lang="es-CO" sz="2000" b="1" dirty="0">
                    <a:solidFill>
                      <a:srgbClr val="0D0D0D"/>
                    </a:solidFill>
                    <a:latin typeface="ui-sans-serif"/>
                  </a:rPr>
                  <a:t>Soporte</a:t>
                </a:r>
                <a:r>
                  <a:rPr lang="es-CO" sz="2000" dirty="0">
                    <a:solidFill>
                      <a:srgbClr val="0D0D0D"/>
                    </a:solidFill>
                    <a:latin typeface="ui-sans-serif"/>
                  </a:rPr>
                  <a:t>:</a:t>
                </a:r>
              </a:p>
              <a:p>
                <a:pPr marL="0" indent="0">
                  <a:spcAft>
                    <a:spcPts val="1200"/>
                  </a:spcAft>
                  <a:buNone/>
                </a:pPr>
                <a14:m>
                  <m:oMathPara xmlns:m="http://schemas.openxmlformats.org/officeDocument/2006/math">
                    <m:oMathParaPr>
                      <m:jc m:val="centerGroup"/>
                    </m:oMathParaPr>
                    <m:oMath xmlns:m="http://schemas.openxmlformats.org/officeDocument/2006/math">
                      <m:r>
                        <m:rPr>
                          <m:sty m:val="p"/>
                        </m:rPr>
                        <a:rPr lang="es-CO" sz="2000" i="1" dirty="0" smtClean="0">
                          <a:solidFill>
                            <a:srgbClr val="0D0D0D"/>
                          </a:solidFill>
                          <a:latin typeface="Cambria Math" panose="02040503050406030204" pitchFamily="18" charset="0"/>
                        </a:rPr>
                        <m:t>sup</m:t>
                      </m:r>
                      <m:r>
                        <a:rPr lang="es-CO" sz="2000" i="1" dirty="0">
                          <a:solidFill>
                            <a:srgbClr val="0D0D0D"/>
                          </a:solidFill>
                          <a:latin typeface="Cambria Math" panose="02040503050406030204" pitchFamily="18" charset="0"/>
                        </a:rPr>
                        <m:t>⁡(</m:t>
                      </m:r>
                      <m:r>
                        <a:rPr lang="es-CO" sz="2000" i="1" dirty="0">
                          <a:solidFill>
                            <a:srgbClr val="0D0D0D"/>
                          </a:solidFill>
                          <a:latin typeface="Cambria Math" panose="02040503050406030204" pitchFamily="18" charset="0"/>
                        </a:rPr>
                        <m:t>𝑋</m:t>
                      </m:r>
                      <m:r>
                        <a:rPr lang="es-CO" sz="2000" i="1" dirty="0">
                          <a:solidFill>
                            <a:srgbClr val="0D0D0D"/>
                          </a:solidFill>
                          <a:latin typeface="Cambria Math" panose="02040503050406030204" pitchFamily="18" charset="0"/>
                        </a:rPr>
                        <m:t>)=</m:t>
                      </m:r>
                      <m:f>
                        <m:fPr>
                          <m:ctrlPr>
                            <a:rPr lang="es-CO" sz="2000" b="0" i="1" dirty="0" smtClean="0">
                              <a:solidFill>
                                <a:srgbClr val="0D0D0D"/>
                              </a:solidFill>
                              <a:latin typeface="Cambria Math" panose="02040503050406030204" pitchFamily="18" charset="0"/>
                            </a:rPr>
                          </m:ctrlPr>
                        </m:fPr>
                        <m:num>
                          <m:r>
                            <a:rPr lang="es-CO" sz="2000" b="0" i="1" dirty="0" smtClean="0">
                              <a:solidFill>
                                <a:srgbClr val="0D0D0D"/>
                              </a:solidFill>
                              <a:latin typeface="Cambria Math" panose="02040503050406030204" pitchFamily="18" charset="0"/>
                            </a:rPr>
                            <m:t># </m:t>
                          </m:r>
                          <m:r>
                            <a:rPr lang="es-CO" sz="2000" b="0" i="1" dirty="0" smtClean="0">
                              <a:solidFill>
                                <a:srgbClr val="0D0D0D"/>
                              </a:solidFill>
                              <a:latin typeface="Cambria Math" panose="02040503050406030204" pitchFamily="18" charset="0"/>
                            </a:rPr>
                            <m:t>𝑡𝑟𝑎𝑛𝑠𝑎𝑐𝑐𝑖𝑜𝑛𝑒𝑠</m:t>
                          </m:r>
                          <m:r>
                            <a:rPr lang="es-CO" sz="2000" b="0" i="1" dirty="0" smtClean="0">
                              <a:solidFill>
                                <a:srgbClr val="0D0D0D"/>
                              </a:solidFill>
                              <a:latin typeface="Cambria Math" panose="02040503050406030204" pitchFamily="18" charset="0"/>
                            </a:rPr>
                            <m:t> </m:t>
                          </m:r>
                          <m:r>
                            <a:rPr lang="es-CO" sz="2000" b="0" i="1" dirty="0" smtClean="0">
                              <a:solidFill>
                                <a:srgbClr val="0D0D0D"/>
                              </a:solidFill>
                              <a:latin typeface="Cambria Math" panose="02040503050406030204" pitchFamily="18" charset="0"/>
                            </a:rPr>
                            <m:t>𝑐𝑜𝑛</m:t>
                          </m:r>
                          <m:r>
                            <a:rPr lang="es-CO" sz="2000" b="0" i="1" dirty="0" smtClean="0">
                              <a:solidFill>
                                <a:srgbClr val="0D0D0D"/>
                              </a:solidFill>
                              <a:latin typeface="Cambria Math" panose="02040503050406030204" pitchFamily="18" charset="0"/>
                            </a:rPr>
                            <m:t> </m:t>
                          </m:r>
                          <m:r>
                            <a:rPr lang="es-CO" sz="2000" b="0" i="1" dirty="0" smtClean="0">
                              <a:solidFill>
                                <a:srgbClr val="0D0D0D"/>
                              </a:solidFill>
                              <a:latin typeface="Cambria Math" panose="02040503050406030204" pitchFamily="18" charset="0"/>
                            </a:rPr>
                            <m:t>𝑋</m:t>
                          </m:r>
                        </m:num>
                        <m:den>
                          <m:r>
                            <a:rPr lang="es-CO" sz="2000" b="0" i="1" dirty="0" smtClean="0">
                              <a:solidFill>
                                <a:srgbClr val="0D0D0D"/>
                              </a:solidFill>
                              <a:latin typeface="Cambria Math" panose="02040503050406030204" pitchFamily="18" charset="0"/>
                            </a:rPr>
                            <m:t>𝑁</m:t>
                          </m:r>
                        </m:den>
                      </m:f>
                    </m:oMath>
                  </m:oMathPara>
                </a14:m>
                <a:endParaRPr lang="es-CO" sz="2000" dirty="0">
                  <a:solidFill>
                    <a:srgbClr val="0D0D0D"/>
                  </a:solidFill>
                  <a:latin typeface="ui-sans-serif"/>
                </a:endParaRPr>
              </a:p>
              <a:p>
                <a:r>
                  <a:rPr lang="es-MX" sz="2000" b="1" dirty="0">
                    <a:solidFill>
                      <a:srgbClr val="0D0D0D"/>
                    </a:solidFill>
                    <a:latin typeface="ui-sans-serif"/>
                  </a:rPr>
                  <a:t>Confianza</a:t>
                </a:r>
                <a:r>
                  <a:rPr lang="es-MX" sz="2000" dirty="0">
                    <a:solidFill>
                      <a:srgbClr val="0D0D0D"/>
                    </a:solidFill>
                    <a:latin typeface="ui-sans-serif"/>
                  </a:rPr>
                  <a:t> de la regla X ⇒ Y, probabilidad de ver Y cuando aparece X:</a:t>
                </a:r>
              </a:p>
              <a:p>
                <a:pPr marL="0" indent="0">
                  <a:buNone/>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𝑐𝑜𝑛𝑓</m:t>
                      </m:r>
                      <m:d>
                        <m:dPr>
                          <m:ctrlPr>
                            <a:rPr lang="es-CO" sz="2000" i="1">
                              <a:latin typeface="Cambria Math" panose="02040503050406030204" pitchFamily="18" charset="0"/>
                            </a:rPr>
                          </m:ctrlPr>
                        </m:dPr>
                        <m:e>
                          <m:r>
                            <a:rPr lang="es-CO" sz="2000" i="1">
                              <a:latin typeface="Cambria Math" panose="02040503050406030204" pitchFamily="18" charset="0"/>
                            </a:rPr>
                            <m:t>𝑋</m:t>
                          </m:r>
                          <m:r>
                            <a:rPr lang="es-CO" sz="2000" i="1">
                              <a:latin typeface="Cambria Math" panose="02040503050406030204" pitchFamily="18" charset="0"/>
                            </a:rPr>
                            <m:t>⇒</m:t>
                          </m:r>
                          <m:r>
                            <a:rPr lang="es-CO" sz="2000" i="1">
                              <a:latin typeface="Cambria Math" panose="02040503050406030204" pitchFamily="18" charset="0"/>
                            </a:rPr>
                            <m:t>𝑌</m:t>
                          </m:r>
                        </m:e>
                      </m:d>
                      <m:r>
                        <a:rPr lang="es-CO" sz="2000" i="1">
                          <a:latin typeface="Cambria Math" panose="02040503050406030204" pitchFamily="18" charset="0"/>
                        </a:rPr>
                        <m:t>=</m:t>
                      </m:r>
                      <m:f>
                        <m:fPr>
                          <m:ctrlPr>
                            <a:rPr lang="es-CO" sz="2000" b="0" i="1" smtClean="0">
                              <a:latin typeface="Cambria Math" panose="02040503050406030204" pitchFamily="18" charset="0"/>
                              <a:ea typeface="Cambria Math" panose="02040503050406030204" pitchFamily="18" charset="0"/>
                            </a:rPr>
                          </m:ctrlPr>
                        </m:fPr>
                        <m:num>
                          <m:func>
                            <m:funcPr>
                              <m:ctrlPr>
                                <a:rPr lang="es-CO" sz="2000" b="0" i="1" smtClean="0">
                                  <a:latin typeface="Cambria Math" panose="02040503050406030204" pitchFamily="18" charset="0"/>
                                </a:rPr>
                              </m:ctrlPr>
                            </m:funcPr>
                            <m:fName>
                              <m:r>
                                <m:rPr>
                                  <m:sty m:val="p"/>
                                </m:rPr>
                                <a:rPr lang="es-CO" sz="2000" b="0" i="0" smtClean="0">
                                  <a:latin typeface="Cambria Math" panose="02040503050406030204" pitchFamily="18" charset="0"/>
                                </a:rPr>
                                <m:t>sup</m:t>
                              </m:r>
                            </m:fName>
                            <m:e>
                              <m:d>
                                <m:dPr>
                                  <m:ctrlPr>
                                    <a:rPr lang="es-CO" sz="2000" b="0" i="1" smtClean="0">
                                      <a:latin typeface="Cambria Math" panose="02040503050406030204" pitchFamily="18" charset="0"/>
                                    </a:rPr>
                                  </m:ctrlPr>
                                </m:dPr>
                                <m:e>
                                  <m:r>
                                    <a:rPr lang="es-CO" sz="2000" b="0" i="1" smtClean="0">
                                      <a:latin typeface="Cambria Math" panose="02040503050406030204" pitchFamily="18" charset="0"/>
                                    </a:rPr>
                                    <m:t>𝑋</m:t>
                                  </m:r>
                                  <m:r>
                                    <a:rPr lang="es-CO" sz="2000" b="0" i="1" smtClean="0">
                                      <a:latin typeface="Cambria Math" panose="02040503050406030204" pitchFamily="18" charset="0"/>
                                      <a:ea typeface="Cambria Math" panose="02040503050406030204" pitchFamily="18" charset="0"/>
                                    </a:rPr>
                                    <m:t>∪</m:t>
                                  </m:r>
                                  <m:r>
                                    <a:rPr lang="es-CO" sz="2000" b="0" i="1" smtClean="0">
                                      <a:latin typeface="Cambria Math" panose="02040503050406030204" pitchFamily="18" charset="0"/>
                                      <a:ea typeface="Cambria Math" panose="02040503050406030204" pitchFamily="18" charset="0"/>
                                    </a:rPr>
                                    <m:t>𝑌</m:t>
                                  </m:r>
                                </m:e>
                              </m:d>
                            </m:e>
                          </m:func>
                        </m:num>
                        <m:den>
                          <m:func>
                            <m:funcPr>
                              <m:ctrlPr>
                                <a:rPr lang="es-CO" sz="2000" b="0" i="1" smtClean="0">
                                  <a:latin typeface="Cambria Math" panose="02040503050406030204" pitchFamily="18" charset="0"/>
                                  <a:ea typeface="Cambria Math" panose="02040503050406030204" pitchFamily="18" charset="0"/>
                                </a:rPr>
                              </m:ctrlPr>
                            </m:funcPr>
                            <m:fName>
                              <m:r>
                                <m:rPr>
                                  <m:sty m:val="p"/>
                                </m:rPr>
                                <a:rPr lang="es-CO" sz="2000" b="0" i="0" smtClean="0">
                                  <a:latin typeface="Cambria Math" panose="02040503050406030204" pitchFamily="18" charset="0"/>
                                  <a:ea typeface="Cambria Math" panose="02040503050406030204" pitchFamily="18" charset="0"/>
                                </a:rPr>
                                <m:t>sup</m:t>
                              </m:r>
                            </m:fName>
                            <m:e>
                              <m:d>
                                <m:dPr>
                                  <m:ctrlPr>
                                    <a:rPr lang="es-CO" sz="2000" b="0" i="1" smtClean="0">
                                      <a:latin typeface="Cambria Math" panose="02040503050406030204" pitchFamily="18" charset="0"/>
                                      <a:ea typeface="Cambria Math" panose="02040503050406030204" pitchFamily="18" charset="0"/>
                                    </a:rPr>
                                  </m:ctrlPr>
                                </m:dPr>
                                <m:e>
                                  <m:r>
                                    <a:rPr lang="es-CO" sz="2000" b="0" i="1" smtClean="0">
                                      <a:latin typeface="Cambria Math" panose="02040503050406030204" pitchFamily="18" charset="0"/>
                                      <a:ea typeface="Cambria Math" panose="02040503050406030204" pitchFamily="18" charset="0"/>
                                    </a:rPr>
                                    <m:t>𝑋</m:t>
                                  </m:r>
                                </m:e>
                              </m:d>
                            </m:e>
                          </m:func>
                        </m:den>
                      </m:f>
                    </m:oMath>
                  </m:oMathPara>
                </a14:m>
                <a:endParaRPr lang="es-CO" sz="2000" b="0" dirty="0">
                  <a:ea typeface="Cambria Math" panose="02040503050406030204" pitchFamily="18" charset="0"/>
                </a:endParaRPr>
              </a:p>
              <a:p>
                <a:r>
                  <a:rPr lang="es-CO" sz="2000" b="1" dirty="0" err="1">
                    <a:solidFill>
                      <a:srgbClr val="0D0D0D"/>
                    </a:solidFill>
                    <a:latin typeface="ui-sans-serif"/>
                  </a:rPr>
                  <a:t>Lift</a:t>
                </a:r>
                <a:r>
                  <a:rPr lang="es-CO" sz="2000" b="1" dirty="0">
                    <a:solidFill>
                      <a:srgbClr val="0D0D0D"/>
                    </a:solidFill>
                    <a:latin typeface="ui-sans-serif"/>
                  </a:rPr>
                  <a:t>:</a:t>
                </a:r>
                <a:r>
                  <a:rPr lang="es-CO" sz="2000" dirty="0">
                    <a:solidFill>
                      <a:srgbClr val="0D0D0D"/>
                    </a:solidFill>
                    <a:latin typeface="ui-sans-serif"/>
                  </a:rPr>
                  <a:t> </a:t>
                </a:r>
                <a:r>
                  <a:rPr lang="es-MX" sz="2000" dirty="0">
                    <a:solidFill>
                      <a:srgbClr val="0D0D0D"/>
                    </a:solidFill>
                    <a:latin typeface="ui-sans-serif"/>
                  </a:rPr>
                  <a:t>mide cuánto más probable es la </a:t>
                </a:r>
                <a:r>
                  <a:rPr lang="es-MX" sz="2000" dirty="0" err="1">
                    <a:solidFill>
                      <a:srgbClr val="0D0D0D"/>
                    </a:solidFill>
                    <a:latin typeface="ui-sans-serif"/>
                  </a:rPr>
                  <a:t>co-ocurrencia</a:t>
                </a:r>
                <a:r>
                  <a:rPr lang="es-MX" sz="2000" dirty="0">
                    <a:solidFill>
                      <a:srgbClr val="0D0D0D"/>
                    </a:solidFill>
                    <a:latin typeface="ui-sans-serif"/>
                  </a:rPr>
                  <a:t> que el azar.</a:t>
                </a:r>
                <a:endParaRPr lang="es-CO" sz="2000" dirty="0">
                  <a:solidFill>
                    <a:srgbClr val="0D0D0D"/>
                  </a:solidFill>
                  <a:latin typeface="ui-sans-serif"/>
                </a:endParaRPr>
              </a:p>
              <a:p>
                <a:pPr marL="0" indent="0">
                  <a:buNone/>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rPr>
                        <m:t>𝑙𝑖𝑓𝑡</m:t>
                      </m:r>
                      <m:r>
                        <a:rPr lang="es-MX" sz="2000" i="1">
                          <a:latin typeface="Cambria Math" panose="02040503050406030204" pitchFamily="18" charset="0"/>
                        </a:rPr>
                        <m:t>(</m:t>
                      </m:r>
                      <m:r>
                        <a:rPr lang="es-MX" sz="2000" i="1">
                          <a:latin typeface="Cambria Math" panose="02040503050406030204" pitchFamily="18" charset="0"/>
                        </a:rPr>
                        <m:t>𝑋</m:t>
                      </m:r>
                      <m:r>
                        <a:rPr lang="es-MX" sz="2000" i="1">
                          <a:latin typeface="Cambria Math" panose="02040503050406030204" pitchFamily="18" charset="0"/>
                        </a:rPr>
                        <m:t>⇒</m:t>
                      </m:r>
                      <m:r>
                        <a:rPr lang="es-MX" sz="2000" i="1">
                          <a:latin typeface="Cambria Math" panose="02040503050406030204" pitchFamily="18" charset="0"/>
                        </a:rPr>
                        <m:t>𝑌</m:t>
                      </m:r>
                      <m:r>
                        <a:rPr lang="es-MX" sz="2000" i="1">
                          <a:latin typeface="Cambria Math" panose="02040503050406030204" pitchFamily="18" charset="0"/>
                        </a:rPr>
                        <m:t>)=</m:t>
                      </m:r>
                      <m:f>
                        <m:fPr>
                          <m:ctrlPr>
                            <a:rPr lang="es-CO" sz="2000" b="0" i="1" smtClean="0">
                              <a:latin typeface="Cambria Math" panose="02040503050406030204" pitchFamily="18" charset="0"/>
                            </a:rPr>
                          </m:ctrlPr>
                        </m:fPr>
                        <m:num>
                          <m:r>
                            <a:rPr lang="es-MX" sz="2000" i="1">
                              <a:latin typeface="Cambria Math" panose="02040503050406030204" pitchFamily="18" charset="0"/>
                            </a:rPr>
                            <m:t>𝑐𝑜𝑛𝑓</m:t>
                          </m:r>
                          <m:d>
                            <m:dPr>
                              <m:ctrlPr>
                                <a:rPr lang="es-CO" sz="2000" i="1">
                                  <a:latin typeface="Cambria Math" panose="02040503050406030204" pitchFamily="18" charset="0"/>
                                </a:rPr>
                              </m:ctrlPr>
                            </m:dPr>
                            <m:e>
                              <m:r>
                                <a:rPr lang="es-MX" sz="2000" i="1">
                                  <a:latin typeface="Cambria Math" panose="02040503050406030204" pitchFamily="18" charset="0"/>
                                </a:rPr>
                                <m:t>𝑋</m:t>
                              </m:r>
                              <m:r>
                                <a:rPr lang="es-MX" sz="2000" i="1">
                                  <a:latin typeface="Cambria Math" panose="02040503050406030204" pitchFamily="18" charset="0"/>
                                </a:rPr>
                                <m:t>⇒</m:t>
                              </m:r>
                              <m:r>
                                <a:rPr lang="es-MX" sz="2000" i="1">
                                  <a:latin typeface="Cambria Math" panose="02040503050406030204" pitchFamily="18" charset="0"/>
                                </a:rPr>
                                <m:t>𝑌</m:t>
                              </m:r>
                            </m:e>
                          </m:d>
                        </m:num>
                        <m:den>
                          <m:func>
                            <m:funcPr>
                              <m:ctrlPr>
                                <a:rPr lang="es-CO" sz="2000" b="0" i="1" smtClean="0">
                                  <a:latin typeface="Cambria Math" panose="02040503050406030204" pitchFamily="18" charset="0"/>
                                </a:rPr>
                              </m:ctrlPr>
                            </m:funcPr>
                            <m:fName>
                              <m:r>
                                <m:rPr>
                                  <m:sty m:val="p"/>
                                </m:rPr>
                                <a:rPr lang="es-MX" sz="2000" i="0">
                                  <a:latin typeface="Cambria Math" panose="02040503050406030204" pitchFamily="18" charset="0"/>
                                </a:rPr>
                                <m:t>sup</m:t>
                              </m:r>
                            </m:fName>
                            <m:e>
                              <m:d>
                                <m:dPr>
                                  <m:ctrlPr>
                                    <a:rPr lang="es-CO" sz="2000" b="0" i="1" smtClean="0">
                                      <a:latin typeface="Cambria Math" panose="02040503050406030204" pitchFamily="18" charset="0"/>
                                    </a:rPr>
                                  </m:ctrlPr>
                                </m:dPr>
                                <m:e>
                                  <m:r>
                                    <a:rPr lang="es-CO" sz="2000" b="0" i="1" smtClean="0">
                                      <a:latin typeface="Cambria Math" panose="02040503050406030204" pitchFamily="18" charset="0"/>
                                    </a:rPr>
                                    <m:t>𝑌</m:t>
                                  </m:r>
                                </m:e>
                              </m:d>
                            </m:e>
                          </m:func>
                        </m:den>
                      </m:f>
                      <m:r>
                        <a:rPr lang="es-MX" sz="2000" i="1">
                          <a:latin typeface="Cambria Math" panose="02040503050406030204" pitchFamily="18" charset="0"/>
                        </a:rPr>
                        <m:t> ​</m:t>
                      </m:r>
                    </m:oMath>
                  </m:oMathPara>
                </a14:m>
                <a:endParaRPr lang="es-CO" sz="2000" dirty="0"/>
              </a:p>
            </p:txBody>
          </p:sp>
        </mc:Choice>
        <mc:Fallback xmlns="">
          <p:sp>
            <p:nvSpPr>
              <p:cNvPr id="4" name="Marcador de contenido 3">
                <a:extLst>
                  <a:ext uri="{FF2B5EF4-FFF2-40B4-BE49-F238E27FC236}">
                    <a16:creationId xmlns:a16="http://schemas.microsoft.com/office/drawing/2014/main" id="{36C83122-6240-C89F-826E-CB2A133E3762}"/>
                  </a:ext>
                </a:extLst>
              </p:cNvPr>
              <p:cNvSpPr>
                <a:spLocks noGrp="1" noRot="1" noChangeAspect="1" noMove="1" noResize="1" noEditPoints="1" noAdjustHandles="1" noChangeArrowheads="1" noChangeShapeType="1" noTextEdit="1"/>
              </p:cNvSpPr>
              <p:nvPr>
                <p:ph sz="half" idx="2"/>
              </p:nvPr>
            </p:nvSpPr>
            <p:spPr>
              <a:blipFill>
                <a:blip r:embed="rId2"/>
                <a:stretch>
                  <a:fillRect l="-1059" t="-1401"/>
                </a:stretch>
              </a:blipFill>
            </p:spPr>
            <p:txBody>
              <a:bodyPr/>
              <a:lstStyle/>
              <a:p>
                <a:r>
                  <a:rPr lang="es-CO">
                    <a:noFill/>
                  </a:rPr>
                  <a:t> </a:t>
                </a:r>
              </a:p>
            </p:txBody>
          </p:sp>
        </mc:Fallback>
      </mc:AlternateContent>
    </p:spTree>
    <p:extLst>
      <p:ext uri="{BB962C8B-B14F-4D97-AF65-F5344CB8AC3E}">
        <p14:creationId xmlns:p14="http://schemas.microsoft.com/office/powerpoint/2010/main" val="748281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3ECD4-39AC-0371-A212-FBCF04890A65}"/>
              </a:ext>
            </a:extLst>
          </p:cNvPr>
          <p:cNvSpPr>
            <a:spLocks noGrp="1"/>
          </p:cNvSpPr>
          <p:nvPr>
            <p:ph type="title"/>
          </p:nvPr>
        </p:nvSpPr>
        <p:spPr/>
        <p:txBody>
          <a:bodyPr/>
          <a:lstStyle/>
          <a:p>
            <a:r>
              <a:rPr lang="es-CO" dirty="0"/>
              <a:t>Algoritmo paso a paso</a:t>
            </a:r>
          </a:p>
        </p:txBody>
      </p:sp>
      <p:sp>
        <p:nvSpPr>
          <p:cNvPr id="3" name="Marcador de contenido 2">
            <a:extLst>
              <a:ext uri="{FF2B5EF4-FFF2-40B4-BE49-F238E27FC236}">
                <a16:creationId xmlns:a16="http://schemas.microsoft.com/office/drawing/2014/main" id="{1A201F7B-AE26-A065-90B8-F7FD5140603F}"/>
              </a:ext>
            </a:extLst>
          </p:cNvPr>
          <p:cNvSpPr>
            <a:spLocks noGrp="1"/>
          </p:cNvSpPr>
          <p:nvPr>
            <p:ph sz="half" idx="1"/>
          </p:nvPr>
        </p:nvSpPr>
        <p:spPr/>
        <p:txBody>
          <a:bodyPr>
            <a:normAutofit fontScale="92500" lnSpcReduction="10000"/>
          </a:bodyPr>
          <a:lstStyle/>
          <a:p>
            <a:pPr marL="457200" indent="-457200">
              <a:spcAft>
                <a:spcPts val="1200"/>
              </a:spcAft>
              <a:buFont typeface="+mj-lt"/>
              <a:buAutoNum type="arabicPeriod"/>
            </a:pPr>
            <a:r>
              <a:rPr lang="es-MX" b="1" dirty="0">
                <a:solidFill>
                  <a:srgbClr val="0D0D0D"/>
                </a:solidFill>
                <a:latin typeface="ui-sans-serif"/>
              </a:rPr>
              <a:t>Nivel 1 (k = 1)</a:t>
            </a:r>
            <a:endParaRPr lang="es-MX" dirty="0">
              <a:solidFill>
                <a:srgbClr val="0D0D0D"/>
              </a:solidFill>
              <a:latin typeface="ui-sans-serif"/>
            </a:endParaRPr>
          </a:p>
          <a:p>
            <a:pPr marL="742950" lvl="1" indent="-285750">
              <a:spcAft>
                <a:spcPts val="1200"/>
              </a:spcAft>
              <a:buFont typeface="+mj-lt"/>
              <a:buAutoNum type="arabicPeriod"/>
            </a:pPr>
            <a:r>
              <a:rPr lang="es-MX" dirty="0">
                <a:solidFill>
                  <a:srgbClr val="0D0D0D"/>
                </a:solidFill>
                <a:latin typeface="ui-sans-serif"/>
              </a:rPr>
              <a:t>Cuenta el soporte de cada ítem.</a:t>
            </a:r>
          </a:p>
          <a:p>
            <a:pPr marL="742950" lvl="1" indent="-285750">
              <a:spcAft>
                <a:spcPts val="1200"/>
              </a:spcAft>
              <a:buFont typeface="+mj-lt"/>
              <a:buAutoNum type="arabicPeriod"/>
            </a:pPr>
            <a:r>
              <a:rPr lang="es-MX" dirty="0">
                <a:solidFill>
                  <a:srgbClr val="0D0D0D"/>
                </a:solidFill>
                <a:latin typeface="ui-sans-serif"/>
              </a:rPr>
              <a:t>Conserva los que superan el umbral mínimo de soporte (σ).</a:t>
            </a:r>
          </a:p>
          <a:p>
            <a:pPr marL="457200" indent="-457200">
              <a:spcAft>
                <a:spcPts val="1200"/>
              </a:spcAft>
              <a:buFont typeface="+mj-lt"/>
              <a:buAutoNum type="arabicPeriod"/>
            </a:pPr>
            <a:r>
              <a:rPr lang="es-MX" b="1" dirty="0">
                <a:solidFill>
                  <a:srgbClr val="0D0D0D"/>
                </a:solidFill>
                <a:latin typeface="ui-sans-serif"/>
              </a:rPr>
              <a:t>Generar candidatos k-ítem</a:t>
            </a:r>
            <a:endParaRPr lang="es-MX" dirty="0">
              <a:solidFill>
                <a:srgbClr val="0D0D0D"/>
              </a:solidFill>
              <a:latin typeface="ui-sans-serif"/>
            </a:endParaRPr>
          </a:p>
          <a:p>
            <a:pPr marL="742950" lvl="1" indent="-285750">
              <a:spcAft>
                <a:spcPts val="1200"/>
              </a:spcAft>
              <a:buFont typeface="+mj-lt"/>
              <a:buAutoNum type="arabicPeriod"/>
            </a:pPr>
            <a:r>
              <a:rPr lang="es-MX" dirty="0">
                <a:solidFill>
                  <a:srgbClr val="0D0D0D"/>
                </a:solidFill>
                <a:latin typeface="ui-sans-serif"/>
              </a:rPr>
              <a:t>Combina pares de conjuntos frecuentes de tamaño k-1 que difieren en un ítem.</a:t>
            </a:r>
          </a:p>
          <a:p>
            <a:pPr marL="742950" lvl="1" indent="-285750">
              <a:spcAft>
                <a:spcPts val="1200"/>
              </a:spcAft>
              <a:buFont typeface="+mj-lt"/>
              <a:buAutoNum type="arabicPeriod"/>
            </a:pPr>
            <a:r>
              <a:rPr lang="es-MX" dirty="0">
                <a:solidFill>
                  <a:srgbClr val="0D0D0D"/>
                </a:solidFill>
                <a:latin typeface="ui-sans-serif"/>
              </a:rPr>
              <a:t>Descarta cualquier candidato cuyo subconjunto de tamaño k-1 no sea frecuente (gracias a la propiedad </a:t>
            </a:r>
            <a:r>
              <a:rPr lang="es-MX" dirty="0" err="1">
                <a:solidFill>
                  <a:srgbClr val="0D0D0D"/>
                </a:solidFill>
                <a:latin typeface="ui-sans-serif"/>
              </a:rPr>
              <a:t>Apriori</a:t>
            </a:r>
            <a:r>
              <a:rPr lang="es-MX" dirty="0">
                <a:solidFill>
                  <a:srgbClr val="0D0D0D"/>
                </a:solidFill>
                <a:latin typeface="ui-sans-serif"/>
              </a:rPr>
              <a:t>).</a:t>
            </a:r>
          </a:p>
          <a:p>
            <a:endParaRPr lang="es-CO" dirty="0"/>
          </a:p>
        </p:txBody>
      </p:sp>
      <p:sp>
        <p:nvSpPr>
          <p:cNvPr id="4" name="Marcador de contenido 3">
            <a:extLst>
              <a:ext uri="{FF2B5EF4-FFF2-40B4-BE49-F238E27FC236}">
                <a16:creationId xmlns:a16="http://schemas.microsoft.com/office/drawing/2014/main" id="{EB3623A4-306B-F1BE-92F4-A802656AC737}"/>
              </a:ext>
            </a:extLst>
          </p:cNvPr>
          <p:cNvSpPr>
            <a:spLocks noGrp="1"/>
          </p:cNvSpPr>
          <p:nvPr>
            <p:ph sz="half" idx="2"/>
          </p:nvPr>
        </p:nvSpPr>
        <p:spPr/>
        <p:txBody>
          <a:bodyPr>
            <a:normAutofit fontScale="92500" lnSpcReduction="10000"/>
          </a:bodyPr>
          <a:lstStyle/>
          <a:p>
            <a:pPr marL="457200" indent="-457200">
              <a:spcAft>
                <a:spcPts val="1200"/>
              </a:spcAft>
              <a:buFont typeface="+mj-lt"/>
              <a:buAutoNum type="arabicPeriod" startAt="3"/>
            </a:pPr>
            <a:r>
              <a:rPr lang="es-MX" b="1" dirty="0">
                <a:solidFill>
                  <a:srgbClr val="0D0D0D"/>
                </a:solidFill>
                <a:latin typeface="ui-sans-serif"/>
              </a:rPr>
              <a:t>Conteo de soporte</a:t>
            </a:r>
            <a:endParaRPr lang="es-MX" dirty="0">
              <a:solidFill>
                <a:srgbClr val="0D0D0D"/>
              </a:solidFill>
              <a:latin typeface="ui-sans-serif"/>
            </a:endParaRPr>
          </a:p>
          <a:p>
            <a:pPr marL="742950" lvl="1" indent="-285750">
              <a:spcAft>
                <a:spcPts val="1200"/>
              </a:spcAft>
              <a:buFont typeface="+mj-lt"/>
              <a:buAutoNum type="arabicPeriod"/>
            </a:pPr>
            <a:r>
              <a:rPr lang="es-MX" dirty="0">
                <a:solidFill>
                  <a:srgbClr val="0D0D0D"/>
                </a:solidFill>
                <a:latin typeface="ui-sans-serif"/>
              </a:rPr>
              <a:t>Recorre la base de datos </a:t>
            </a:r>
            <a:r>
              <a:rPr lang="es-MX" i="1" dirty="0">
                <a:solidFill>
                  <a:srgbClr val="0D0D0D"/>
                </a:solidFill>
                <a:latin typeface="ui-sans-serif"/>
              </a:rPr>
              <a:t>una sola vez</a:t>
            </a:r>
            <a:r>
              <a:rPr lang="es-MX" dirty="0">
                <a:solidFill>
                  <a:srgbClr val="0D0D0D"/>
                </a:solidFill>
                <a:latin typeface="ui-sans-serif"/>
              </a:rPr>
              <a:t> por nivel y actualiza contadores.</a:t>
            </a:r>
          </a:p>
          <a:p>
            <a:pPr marL="742950" lvl="1" indent="-285750">
              <a:spcAft>
                <a:spcPts val="1200"/>
              </a:spcAft>
              <a:buFont typeface="+mj-lt"/>
              <a:buAutoNum type="arabicPeriod"/>
            </a:pPr>
            <a:r>
              <a:rPr lang="es-MX" dirty="0">
                <a:solidFill>
                  <a:srgbClr val="0D0D0D"/>
                </a:solidFill>
                <a:latin typeface="ui-sans-serif"/>
              </a:rPr>
              <a:t>Retiene solo los candidatos que siguen cumpliendo σ.</a:t>
            </a:r>
          </a:p>
          <a:p>
            <a:pPr marL="457200" indent="-457200">
              <a:spcAft>
                <a:spcPts val="1200"/>
              </a:spcAft>
              <a:buFont typeface="+mj-lt"/>
              <a:buAutoNum type="arabicPeriod" startAt="3"/>
            </a:pPr>
            <a:r>
              <a:rPr lang="es-MX" b="1" dirty="0">
                <a:solidFill>
                  <a:srgbClr val="0D0D0D"/>
                </a:solidFill>
                <a:latin typeface="ui-sans-serif"/>
              </a:rPr>
              <a:t>Itera</a:t>
            </a:r>
            <a:r>
              <a:rPr lang="es-MX" dirty="0">
                <a:solidFill>
                  <a:srgbClr val="0D0D0D"/>
                </a:solidFill>
                <a:latin typeface="ui-sans-serif"/>
              </a:rPr>
              <a:t> k ← k + 1 hasta que no queden candidatos.</a:t>
            </a:r>
          </a:p>
          <a:p>
            <a:pPr marL="457200" indent="-457200">
              <a:spcAft>
                <a:spcPts val="1200"/>
              </a:spcAft>
              <a:buFont typeface="+mj-lt"/>
              <a:buAutoNum type="arabicPeriod" startAt="3"/>
            </a:pPr>
            <a:r>
              <a:rPr lang="es-MX" b="1" dirty="0">
                <a:solidFill>
                  <a:srgbClr val="0D0D0D"/>
                </a:solidFill>
                <a:latin typeface="ui-sans-serif"/>
              </a:rPr>
              <a:t>Genera reglas</a:t>
            </a:r>
            <a:r>
              <a:rPr lang="es-MX" dirty="0">
                <a:solidFill>
                  <a:srgbClr val="0D0D0D"/>
                </a:solidFill>
                <a:latin typeface="ui-sans-serif"/>
              </a:rPr>
              <a:t> a partir de cada conjunto frecuente: prueba todas las divisiones </a:t>
            </a:r>
            <a:r>
              <a:rPr lang="es-MX" i="1" dirty="0">
                <a:solidFill>
                  <a:srgbClr val="0D0D0D"/>
                </a:solidFill>
                <a:latin typeface="KaTeX_Math"/>
              </a:rPr>
              <a:t>X</a:t>
            </a:r>
            <a:r>
              <a:rPr lang="es-MX" dirty="0">
                <a:solidFill>
                  <a:srgbClr val="0D0D0D"/>
                </a:solidFill>
                <a:latin typeface="KaTeX_Main"/>
              </a:rPr>
              <a:t>→</a:t>
            </a:r>
            <a:r>
              <a:rPr lang="es-MX" i="1" dirty="0">
                <a:solidFill>
                  <a:srgbClr val="0D0D0D"/>
                </a:solidFill>
                <a:latin typeface="KaTeX_Math"/>
              </a:rPr>
              <a:t>Y</a:t>
            </a:r>
            <a:r>
              <a:rPr lang="es-MX" dirty="0">
                <a:solidFill>
                  <a:srgbClr val="0D0D0D"/>
                </a:solidFill>
                <a:latin typeface="ui-sans-serif"/>
              </a:rPr>
              <a:t> y acepta las que cumplan la confianza mínima (γ) y, opcionalmente, </a:t>
            </a:r>
            <a:r>
              <a:rPr lang="es-MX" dirty="0" err="1">
                <a:solidFill>
                  <a:srgbClr val="0D0D0D"/>
                </a:solidFill>
                <a:latin typeface="ui-sans-serif"/>
              </a:rPr>
              <a:t>lift</a:t>
            </a:r>
            <a:r>
              <a:rPr lang="es-MX" dirty="0">
                <a:solidFill>
                  <a:srgbClr val="0D0D0D"/>
                </a:solidFill>
                <a:latin typeface="ui-sans-serif"/>
              </a:rPr>
              <a:t> &gt; 1.</a:t>
            </a:r>
          </a:p>
          <a:p>
            <a:endParaRPr lang="es-CO" dirty="0"/>
          </a:p>
        </p:txBody>
      </p:sp>
    </p:spTree>
    <p:extLst>
      <p:ext uri="{BB962C8B-B14F-4D97-AF65-F5344CB8AC3E}">
        <p14:creationId xmlns:p14="http://schemas.microsoft.com/office/powerpoint/2010/main" val="3316499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8171D5-A7E8-17F1-0EFD-3EDA880FD3A2}"/>
              </a:ext>
            </a:extLst>
          </p:cNvPr>
          <p:cNvSpPr>
            <a:spLocks noGrp="1"/>
          </p:cNvSpPr>
          <p:nvPr>
            <p:ph type="title"/>
          </p:nvPr>
        </p:nvSpPr>
        <p:spPr/>
        <p:txBody>
          <a:bodyPr/>
          <a:lstStyle/>
          <a:p>
            <a:r>
              <a:rPr lang="es-CO" dirty="0"/>
              <a:t>Reglas de asociación</a:t>
            </a:r>
          </a:p>
        </p:txBody>
      </p:sp>
      <p:sp>
        <p:nvSpPr>
          <p:cNvPr id="3" name="Marcador de contenido 2">
            <a:extLst>
              <a:ext uri="{FF2B5EF4-FFF2-40B4-BE49-F238E27FC236}">
                <a16:creationId xmlns:a16="http://schemas.microsoft.com/office/drawing/2014/main" id="{C11925AD-10CB-C728-406F-37974D8B7496}"/>
              </a:ext>
            </a:extLst>
          </p:cNvPr>
          <p:cNvSpPr>
            <a:spLocks noGrp="1"/>
          </p:cNvSpPr>
          <p:nvPr>
            <p:ph idx="1"/>
          </p:nvPr>
        </p:nvSpPr>
        <p:spPr/>
        <p:txBody>
          <a:bodyPr>
            <a:normAutofit fontScale="77500" lnSpcReduction="20000"/>
          </a:bodyPr>
          <a:lstStyle/>
          <a:p>
            <a:pPr marL="0" indent="0">
              <a:lnSpc>
                <a:spcPct val="110000"/>
              </a:lnSpc>
              <a:buNone/>
            </a:pPr>
            <a:r>
              <a:rPr lang="es-MX" dirty="0"/>
              <a:t>Una vez que se han encontrado los conjuntos de elementos frecuentes, se utilizan para generar reglas de asociación. Estas reglas expresan la probabilidad de que, si se compra un conjunto de elementos (antecedente), también se compre otro conjunto de elementos (consecuente).</a:t>
            </a:r>
          </a:p>
          <a:p>
            <a:pPr marL="0" indent="0">
              <a:lnSpc>
                <a:spcPct val="110000"/>
              </a:lnSpc>
              <a:buNone/>
            </a:pPr>
            <a:endParaRPr lang="es-MX" dirty="0"/>
          </a:p>
          <a:p>
            <a:pPr marL="0" indent="0">
              <a:lnSpc>
                <a:spcPct val="110000"/>
              </a:lnSpc>
              <a:buNone/>
            </a:pPr>
            <a:r>
              <a:rPr lang="es-MX" dirty="0"/>
              <a:t>El algoritmo </a:t>
            </a:r>
            <a:r>
              <a:rPr lang="es-MX" dirty="0" err="1"/>
              <a:t>Apriori</a:t>
            </a:r>
            <a:r>
              <a:rPr lang="es-MX" dirty="0"/>
              <a:t> tiene diversas aplicaciones, incluyendo:</a:t>
            </a:r>
          </a:p>
          <a:p>
            <a:pPr>
              <a:lnSpc>
                <a:spcPct val="110000"/>
              </a:lnSpc>
            </a:pPr>
            <a:r>
              <a:rPr lang="es-MX" b="1" dirty="0"/>
              <a:t>Análisis de cesta de compra</a:t>
            </a:r>
            <a:r>
              <a:rPr lang="es-MX" dirty="0"/>
              <a:t>: Identificar patrones de compra en supermercados. </a:t>
            </a:r>
          </a:p>
          <a:p>
            <a:pPr>
              <a:lnSpc>
                <a:spcPct val="110000"/>
              </a:lnSpc>
            </a:pPr>
            <a:r>
              <a:rPr lang="es-MX" b="1" dirty="0"/>
              <a:t>Recomendación de productos</a:t>
            </a:r>
            <a:r>
              <a:rPr lang="es-MX" dirty="0"/>
              <a:t>: Sugerir productos relacionados a los usuarios en tiendas en línea. </a:t>
            </a:r>
          </a:p>
          <a:p>
            <a:pPr>
              <a:lnSpc>
                <a:spcPct val="110000"/>
              </a:lnSpc>
            </a:pPr>
            <a:r>
              <a:rPr lang="es-MX" b="1" dirty="0"/>
              <a:t>Análisis de redes</a:t>
            </a:r>
            <a:r>
              <a:rPr lang="es-MX" dirty="0"/>
              <a:t>: Identificar grupos de nodos con conexiones frecuentes en redes sociales o redes de comunicación. </a:t>
            </a:r>
          </a:p>
          <a:p>
            <a:pPr>
              <a:lnSpc>
                <a:spcPct val="110000"/>
              </a:lnSpc>
            </a:pPr>
            <a:r>
              <a:rPr lang="es-MX" b="1" dirty="0"/>
              <a:t>Diagnóstico médico</a:t>
            </a:r>
            <a:r>
              <a:rPr lang="es-MX" dirty="0"/>
              <a:t>: Identificar patrones de enfermedades y síntomas.</a:t>
            </a:r>
            <a:endParaRPr lang="es-CO" dirty="0"/>
          </a:p>
        </p:txBody>
      </p:sp>
    </p:spTree>
    <p:extLst>
      <p:ext uri="{BB962C8B-B14F-4D97-AF65-F5344CB8AC3E}">
        <p14:creationId xmlns:p14="http://schemas.microsoft.com/office/powerpoint/2010/main" val="4175333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15A447-8A28-2F4E-8333-19A262595F9C}"/>
              </a:ext>
            </a:extLst>
          </p:cNvPr>
          <p:cNvSpPr>
            <a:spLocks noGrp="1"/>
          </p:cNvSpPr>
          <p:nvPr>
            <p:ph type="title"/>
          </p:nvPr>
        </p:nvSpPr>
        <p:spPr/>
        <p:txBody>
          <a:bodyPr/>
          <a:lstStyle/>
          <a:p>
            <a:r>
              <a:rPr lang="es-MX" dirty="0"/>
              <a:t>Ejercicio en clase</a:t>
            </a:r>
            <a:endParaRPr lang="es-CO" dirty="0"/>
          </a:p>
        </p:txBody>
      </p:sp>
      <p:pic>
        <p:nvPicPr>
          <p:cNvPr id="5" name="Marcador de contenido 4" descr="Gráfico de dispersión, Código QR&#10;&#10;El contenido generado por IA puede ser incorrecto.">
            <a:extLst>
              <a:ext uri="{FF2B5EF4-FFF2-40B4-BE49-F238E27FC236}">
                <a16:creationId xmlns:a16="http://schemas.microsoft.com/office/drawing/2014/main" id="{5BE16FFD-1FBB-7982-C3C5-F063999A81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spTree>
    <p:extLst>
      <p:ext uri="{BB962C8B-B14F-4D97-AF65-F5344CB8AC3E}">
        <p14:creationId xmlns:p14="http://schemas.microsoft.com/office/powerpoint/2010/main" val="2694065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38FD27-175D-6DFE-AB78-664282278312}"/>
              </a:ext>
            </a:extLst>
          </p:cNvPr>
          <p:cNvSpPr>
            <a:spLocks noGrp="1"/>
          </p:cNvSpPr>
          <p:nvPr>
            <p:ph type="title"/>
          </p:nvPr>
        </p:nvSpPr>
        <p:spPr/>
        <p:txBody>
          <a:bodyPr/>
          <a:lstStyle/>
          <a:p>
            <a:r>
              <a:rPr lang="es-CO" dirty="0"/>
              <a:t>Detección de Anomalías</a:t>
            </a:r>
          </a:p>
        </p:txBody>
      </p:sp>
      <p:sp>
        <p:nvSpPr>
          <p:cNvPr id="3" name="Marcador de texto 2">
            <a:extLst>
              <a:ext uri="{FF2B5EF4-FFF2-40B4-BE49-F238E27FC236}">
                <a16:creationId xmlns:a16="http://schemas.microsoft.com/office/drawing/2014/main" id="{621A9CAB-44DB-A2AE-D4FC-FFF1C61BCCD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14830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949C0A-2879-8179-7D20-C6E70A641886}"/>
              </a:ext>
            </a:extLst>
          </p:cNvPr>
          <p:cNvSpPr>
            <a:spLocks noGrp="1"/>
          </p:cNvSpPr>
          <p:nvPr>
            <p:ph type="title"/>
          </p:nvPr>
        </p:nvSpPr>
        <p:spPr/>
        <p:txBody>
          <a:bodyPr/>
          <a:lstStyle/>
          <a:p>
            <a:r>
              <a:rPr lang="es-CO" b="1" dirty="0">
                <a:solidFill>
                  <a:srgbClr val="0D0D0D"/>
                </a:solidFill>
                <a:latin typeface="ui-sans-serif"/>
              </a:rPr>
              <a:t>¿Qué es una anomalía?</a:t>
            </a:r>
            <a:endParaRPr lang="es-CO" dirty="0"/>
          </a:p>
        </p:txBody>
      </p:sp>
      <p:sp>
        <p:nvSpPr>
          <p:cNvPr id="3" name="Marcador de contenido 2">
            <a:extLst>
              <a:ext uri="{FF2B5EF4-FFF2-40B4-BE49-F238E27FC236}">
                <a16:creationId xmlns:a16="http://schemas.microsoft.com/office/drawing/2014/main" id="{E14A760F-606E-3A54-975B-FA510178B82B}"/>
              </a:ext>
            </a:extLst>
          </p:cNvPr>
          <p:cNvSpPr>
            <a:spLocks noGrp="1"/>
          </p:cNvSpPr>
          <p:nvPr>
            <p:ph sz="half" idx="1"/>
          </p:nvPr>
        </p:nvSpPr>
        <p:spPr/>
        <p:txBody>
          <a:bodyPr anchor="ctr"/>
          <a:lstStyle/>
          <a:p>
            <a:r>
              <a:rPr lang="es-MX" dirty="0">
                <a:solidFill>
                  <a:srgbClr val="0D0D0D"/>
                </a:solidFill>
                <a:latin typeface="ui-sans-serif"/>
              </a:rPr>
              <a:t>Observación que </a:t>
            </a:r>
            <a:r>
              <a:rPr lang="es-MX" b="1" dirty="0">
                <a:solidFill>
                  <a:srgbClr val="0D0D0D"/>
                </a:solidFill>
                <a:latin typeface="ui-sans-serif"/>
              </a:rPr>
              <a:t>se desvía significativamente</a:t>
            </a:r>
            <a:r>
              <a:rPr lang="es-MX" dirty="0">
                <a:solidFill>
                  <a:srgbClr val="0D0D0D"/>
                </a:solidFill>
                <a:latin typeface="ui-sans-serif"/>
              </a:rPr>
              <a:t> del patrón general de los datos; también se llama </a:t>
            </a:r>
            <a:r>
              <a:rPr lang="es-MX" dirty="0" err="1">
                <a:solidFill>
                  <a:srgbClr val="0D0D0D"/>
                </a:solidFill>
                <a:latin typeface="ui-sans-serif"/>
              </a:rPr>
              <a:t>outlier</a:t>
            </a:r>
            <a:r>
              <a:rPr lang="es-MX" dirty="0">
                <a:solidFill>
                  <a:srgbClr val="0D0D0D"/>
                </a:solidFill>
                <a:latin typeface="ui-sans-serif"/>
              </a:rPr>
              <a:t>. Detectarlas ayuda a descubrir </a:t>
            </a:r>
            <a:r>
              <a:rPr lang="es-MX" i="1" dirty="0">
                <a:solidFill>
                  <a:srgbClr val="0D0D0D"/>
                </a:solidFill>
                <a:latin typeface="ui-sans-serif"/>
              </a:rPr>
              <a:t>fraude, fallas técnicas, errores de sensor</a:t>
            </a:r>
            <a:r>
              <a:rPr lang="es-MX" dirty="0">
                <a:solidFill>
                  <a:srgbClr val="0D0D0D"/>
                </a:solidFill>
                <a:latin typeface="ui-sans-serif"/>
              </a:rPr>
              <a:t> o </a:t>
            </a:r>
            <a:r>
              <a:rPr lang="es-MX" i="1" dirty="0">
                <a:solidFill>
                  <a:srgbClr val="0D0D0D"/>
                </a:solidFill>
                <a:latin typeface="ui-sans-serif"/>
              </a:rPr>
              <a:t>comportamientos inusuales</a:t>
            </a:r>
            <a:r>
              <a:rPr lang="es-MX" dirty="0">
                <a:solidFill>
                  <a:srgbClr val="0D0D0D"/>
                </a:solidFill>
                <a:latin typeface="ui-sans-serif"/>
              </a:rPr>
              <a:t> (</a:t>
            </a:r>
            <a:r>
              <a:rPr lang="es-MX" dirty="0" err="1">
                <a:solidFill>
                  <a:srgbClr val="0D0D0D"/>
                </a:solidFill>
                <a:latin typeface="ui-sans-serif"/>
              </a:rPr>
              <a:t>Chandola</a:t>
            </a:r>
            <a:r>
              <a:rPr lang="es-MX" dirty="0">
                <a:solidFill>
                  <a:srgbClr val="0D0D0D"/>
                </a:solidFill>
                <a:latin typeface="ui-sans-serif"/>
              </a:rPr>
              <a:t>, 2009).</a:t>
            </a:r>
            <a:endParaRPr lang="es-CO" dirty="0"/>
          </a:p>
        </p:txBody>
      </p:sp>
      <p:pic>
        <p:nvPicPr>
          <p:cNvPr id="8" name="Marcador de contenido 7">
            <a:extLst>
              <a:ext uri="{FF2B5EF4-FFF2-40B4-BE49-F238E27FC236}">
                <a16:creationId xmlns:a16="http://schemas.microsoft.com/office/drawing/2014/main" id="{ED490C09-0032-FEA2-F433-633AE89DC9B4}"/>
              </a:ext>
            </a:extLst>
          </p:cNvPr>
          <p:cNvPicPr>
            <a:picLocks noGrp="1" noChangeAspect="1"/>
          </p:cNvPicPr>
          <p:nvPr>
            <p:ph sz="half" idx="2"/>
          </p:nvPr>
        </p:nvPicPr>
        <p:blipFill>
          <a:blip r:embed="rId2"/>
          <a:srcRect b="12293"/>
          <a:stretch>
            <a:fillRect/>
          </a:stretch>
        </p:blipFill>
        <p:spPr>
          <a:xfrm>
            <a:off x="6172200" y="2723118"/>
            <a:ext cx="5181600" cy="2556351"/>
          </a:xfrm>
          <a:prstGeom prst="rect">
            <a:avLst/>
          </a:prstGeom>
        </p:spPr>
      </p:pic>
    </p:spTree>
    <p:extLst>
      <p:ext uri="{BB962C8B-B14F-4D97-AF65-F5344CB8AC3E}">
        <p14:creationId xmlns:p14="http://schemas.microsoft.com/office/powerpoint/2010/main" val="59621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209E-8ED4-305F-41AE-1CAD830E9AE9}"/>
              </a:ext>
            </a:extLst>
          </p:cNvPr>
          <p:cNvSpPr>
            <a:spLocks noGrp="1"/>
          </p:cNvSpPr>
          <p:nvPr>
            <p:ph type="title"/>
          </p:nvPr>
        </p:nvSpPr>
        <p:spPr/>
        <p:txBody>
          <a:bodyPr/>
          <a:lstStyle/>
          <a:p>
            <a:r>
              <a:rPr lang="es-CO" b="1" dirty="0">
                <a:solidFill>
                  <a:srgbClr val="0D0D0D"/>
                </a:solidFill>
                <a:latin typeface="ui-sans-serif"/>
              </a:rPr>
              <a:t>Tipos de anomalías</a:t>
            </a:r>
            <a:endParaRPr lang="es-CO" dirty="0"/>
          </a:p>
        </p:txBody>
      </p:sp>
      <p:sp>
        <p:nvSpPr>
          <p:cNvPr id="3" name="Marcador de contenido 2">
            <a:extLst>
              <a:ext uri="{FF2B5EF4-FFF2-40B4-BE49-F238E27FC236}">
                <a16:creationId xmlns:a16="http://schemas.microsoft.com/office/drawing/2014/main" id="{633F2DBF-7E0E-66AF-C3E0-EA71A9C089A1}"/>
              </a:ext>
            </a:extLst>
          </p:cNvPr>
          <p:cNvSpPr>
            <a:spLocks noGrp="1"/>
          </p:cNvSpPr>
          <p:nvPr>
            <p:ph idx="1"/>
          </p:nvPr>
        </p:nvSpPr>
        <p:spPr/>
        <p:txBody>
          <a:bodyPr anchor="ctr"/>
          <a:lstStyle/>
          <a:p>
            <a:pPr>
              <a:spcAft>
                <a:spcPts val="1200"/>
              </a:spcAft>
            </a:pPr>
            <a:r>
              <a:rPr lang="es-MX" b="1" dirty="0">
                <a:solidFill>
                  <a:srgbClr val="0D0D0D"/>
                </a:solidFill>
                <a:latin typeface="ui-sans-serif"/>
              </a:rPr>
              <a:t>Puntuales</a:t>
            </a:r>
            <a:r>
              <a:rPr lang="es-MX" dirty="0">
                <a:solidFill>
                  <a:srgbClr val="0D0D0D"/>
                </a:solidFill>
                <a:latin typeface="ui-sans-serif"/>
              </a:rPr>
              <a:t>: un único registro raro (p. ej., transacción bancaria atípica).</a:t>
            </a:r>
          </a:p>
          <a:p>
            <a:pPr>
              <a:spcAft>
                <a:spcPts val="1200"/>
              </a:spcAft>
            </a:pPr>
            <a:r>
              <a:rPr lang="es-MX" b="1" dirty="0">
                <a:solidFill>
                  <a:srgbClr val="0D0D0D"/>
                </a:solidFill>
                <a:latin typeface="ui-sans-serif"/>
              </a:rPr>
              <a:t>Contextuales</a:t>
            </a:r>
            <a:r>
              <a:rPr lang="es-MX" dirty="0">
                <a:solidFill>
                  <a:srgbClr val="0D0D0D"/>
                </a:solidFill>
                <a:latin typeface="ui-sans-serif"/>
              </a:rPr>
              <a:t>: depende del contexto (temperatura “alta” solo en invierno).</a:t>
            </a:r>
          </a:p>
          <a:p>
            <a:pPr>
              <a:spcAft>
                <a:spcPts val="1200"/>
              </a:spcAft>
            </a:pPr>
            <a:r>
              <a:rPr lang="es-MX" b="1" dirty="0">
                <a:solidFill>
                  <a:srgbClr val="0D0D0D"/>
                </a:solidFill>
                <a:latin typeface="ui-sans-serif"/>
              </a:rPr>
              <a:t>Colectivas</a:t>
            </a:r>
            <a:r>
              <a:rPr lang="es-MX" dirty="0">
                <a:solidFill>
                  <a:srgbClr val="0D0D0D"/>
                </a:solidFill>
                <a:latin typeface="ui-sans-serif"/>
              </a:rPr>
              <a:t>: un grupo inusual aunque cada punto sea normal individualmente (p. ej., ráfaga de paquetes en red).</a:t>
            </a:r>
          </a:p>
          <a:p>
            <a:endParaRPr lang="es-CO" dirty="0"/>
          </a:p>
        </p:txBody>
      </p:sp>
    </p:spTree>
    <p:extLst>
      <p:ext uri="{BB962C8B-B14F-4D97-AF65-F5344CB8AC3E}">
        <p14:creationId xmlns:p14="http://schemas.microsoft.com/office/powerpoint/2010/main" val="2354430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037FB1-47A5-9414-5FB6-0D561530AB85}"/>
              </a:ext>
            </a:extLst>
          </p:cNvPr>
          <p:cNvSpPr>
            <a:spLocks noGrp="1"/>
          </p:cNvSpPr>
          <p:nvPr>
            <p:ph type="title"/>
          </p:nvPr>
        </p:nvSpPr>
        <p:spPr/>
        <p:txBody>
          <a:bodyPr/>
          <a:lstStyle/>
          <a:p>
            <a:r>
              <a:rPr lang="es-CO" b="1" dirty="0">
                <a:solidFill>
                  <a:srgbClr val="0D0D0D"/>
                </a:solidFill>
                <a:latin typeface="ui-sans-serif"/>
              </a:rPr>
              <a:t>Principales enfoques</a:t>
            </a:r>
            <a:endParaRPr lang="es-CO" dirty="0"/>
          </a:p>
        </p:txBody>
      </p:sp>
      <p:graphicFrame>
        <p:nvGraphicFramePr>
          <p:cNvPr id="4" name="Marcador de contenido 3">
            <a:extLst>
              <a:ext uri="{FF2B5EF4-FFF2-40B4-BE49-F238E27FC236}">
                <a16:creationId xmlns:a16="http://schemas.microsoft.com/office/drawing/2014/main" id="{B311AB7E-6C8C-59D2-E9BB-B663489D9D85}"/>
              </a:ext>
            </a:extLst>
          </p:cNvPr>
          <p:cNvGraphicFramePr>
            <a:graphicFrameLocks noGrp="1"/>
          </p:cNvGraphicFramePr>
          <p:nvPr>
            <p:ph idx="1"/>
            <p:extLst>
              <p:ext uri="{D42A27DB-BD31-4B8C-83A1-F6EECF244321}">
                <p14:modId xmlns:p14="http://schemas.microsoft.com/office/powerpoint/2010/main" val="3437932071"/>
              </p:ext>
            </p:extLst>
          </p:nvPr>
        </p:nvGraphicFramePr>
        <p:xfrm>
          <a:off x="838200" y="2218214"/>
          <a:ext cx="10515600" cy="3566160"/>
        </p:xfrm>
        <a:graphic>
          <a:graphicData uri="http://schemas.openxmlformats.org/drawingml/2006/table">
            <a:tbl>
              <a:tblPr firstRow="1" bandRow="1">
                <a:tableStyleId>{9D7B26C5-4107-4FEC-AEDC-1716B250A1EF}</a:tableStyleId>
              </a:tblPr>
              <a:tblGrid>
                <a:gridCol w="3505200">
                  <a:extLst>
                    <a:ext uri="{9D8B030D-6E8A-4147-A177-3AD203B41FA5}">
                      <a16:colId xmlns:a16="http://schemas.microsoft.com/office/drawing/2014/main" val="2589864455"/>
                    </a:ext>
                  </a:extLst>
                </a:gridCol>
                <a:gridCol w="3505200">
                  <a:extLst>
                    <a:ext uri="{9D8B030D-6E8A-4147-A177-3AD203B41FA5}">
                      <a16:colId xmlns:a16="http://schemas.microsoft.com/office/drawing/2014/main" val="3961562623"/>
                    </a:ext>
                  </a:extLst>
                </a:gridCol>
                <a:gridCol w="3505200">
                  <a:extLst>
                    <a:ext uri="{9D8B030D-6E8A-4147-A177-3AD203B41FA5}">
                      <a16:colId xmlns:a16="http://schemas.microsoft.com/office/drawing/2014/main" val="1581082717"/>
                    </a:ext>
                  </a:extLst>
                </a:gridCol>
              </a:tblGrid>
              <a:tr h="0">
                <a:tc>
                  <a:txBody>
                    <a:bodyPr/>
                    <a:lstStyle/>
                    <a:p>
                      <a:pPr algn="ctr">
                        <a:buNone/>
                      </a:pPr>
                      <a:r>
                        <a:rPr lang="es-CO" dirty="0"/>
                        <a:t>Enfoque</a:t>
                      </a:r>
                    </a:p>
                  </a:txBody>
                  <a:tcPr anchor="ctr"/>
                </a:tc>
                <a:tc>
                  <a:txBody>
                    <a:bodyPr/>
                    <a:lstStyle/>
                    <a:p>
                      <a:pPr algn="ctr">
                        <a:buNone/>
                      </a:pPr>
                      <a:r>
                        <a:rPr lang="es-CO"/>
                        <a:t>Idea básica</a:t>
                      </a:r>
                    </a:p>
                  </a:txBody>
                  <a:tcPr anchor="ctr"/>
                </a:tc>
                <a:tc>
                  <a:txBody>
                    <a:bodyPr/>
                    <a:lstStyle/>
                    <a:p>
                      <a:pPr algn="ctr">
                        <a:buNone/>
                      </a:pPr>
                      <a:r>
                        <a:rPr lang="es-CO" dirty="0"/>
                        <a:t>Ejemplos</a:t>
                      </a:r>
                    </a:p>
                  </a:txBody>
                  <a:tcPr anchor="ctr"/>
                </a:tc>
                <a:extLst>
                  <a:ext uri="{0D108BD9-81ED-4DB2-BD59-A6C34878D82A}">
                    <a16:rowId xmlns:a16="http://schemas.microsoft.com/office/drawing/2014/main" val="292385934"/>
                  </a:ext>
                </a:extLst>
              </a:tr>
              <a:tr h="0">
                <a:tc>
                  <a:txBody>
                    <a:bodyPr/>
                    <a:lstStyle/>
                    <a:p>
                      <a:pPr algn="ctr">
                        <a:buNone/>
                      </a:pPr>
                      <a:r>
                        <a:rPr lang="es-CO" b="1" dirty="0"/>
                        <a:t>Estadísticos</a:t>
                      </a:r>
                      <a:endParaRPr lang="es-CO" dirty="0"/>
                    </a:p>
                  </a:txBody>
                  <a:tcPr anchor="ctr"/>
                </a:tc>
                <a:tc>
                  <a:txBody>
                    <a:bodyPr/>
                    <a:lstStyle/>
                    <a:p>
                      <a:pPr>
                        <a:buNone/>
                      </a:pPr>
                      <a:r>
                        <a:rPr lang="es-MX" dirty="0"/>
                        <a:t>Ajustar distribución ; marcar valores con baja probabilidad</a:t>
                      </a:r>
                    </a:p>
                  </a:txBody>
                  <a:tcPr anchor="ctr"/>
                </a:tc>
                <a:tc>
                  <a:txBody>
                    <a:bodyPr/>
                    <a:lstStyle/>
                    <a:p>
                      <a:pPr algn="ctr">
                        <a:buNone/>
                      </a:pPr>
                      <a:r>
                        <a:rPr lang="es-CO" dirty="0"/>
                        <a:t>Z-score, IQR</a:t>
                      </a:r>
                    </a:p>
                  </a:txBody>
                  <a:tcPr anchor="ctr"/>
                </a:tc>
                <a:extLst>
                  <a:ext uri="{0D108BD9-81ED-4DB2-BD59-A6C34878D82A}">
                    <a16:rowId xmlns:a16="http://schemas.microsoft.com/office/drawing/2014/main" val="349688391"/>
                  </a:ext>
                </a:extLst>
              </a:tr>
              <a:tr h="0">
                <a:tc>
                  <a:txBody>
                    <a:bodyPr/>
                    <a:lstStyle/>
                    <a:p>
                      <a:pPr algn="ctr">
                        <a:buNone/>
                      </a:pPr>
                      <a:r>
                        <a:rPr lang="es-CO" b="1" dirty="0"/>
                        <a:t>Distancia</a:t>
                      </a:r>
                      <a:endParaRPr lang="es-CO" dirty="0"/>
                    </a:p>
                  </a:txBody>
                  <a:tcPr anchor="ctr"/>
                </a:tc>
                <a:tc>
                  <a:txBody>
                    <a:bodyPr/>
                    <a:lstStyle/>
                    <a:p>
                      <a:pPr>
                        <a:buNone/>
                      </a:pPr>
                      <a:r>
                        <a:rPr lang="es-MX" dirty="0"/>
                        <a:t>Instancias muy lejanas a sus vecinas</a:t>
                      </a:r>
                    </a:p>
                  </a:txBody>
                  <a:tcPr anchor="ctr"/>
                </a:tc>
                <a:tc>
                  <a:txBody>
                    <a:bodyPr/>
                    <a:lstStyle/>
                    <a:p>
                      <a:pPr algn="ctr">
                        <a:buNone/>
                      </a:pPr>
                      <a:r>
                        <a:rPr lang="es-CO" dirty="0"/>
                        <a:t>k-NN </a:t>
                      </a:r>
                      <a:r>
                        <a:rPr lang="es-CO" dirty="0" err="1"/>
                        <a:t>outlier</a:t>
                      </a:r>
                      <a:endParaRPr lang="es-CO" dirty="0"/>
                    </a:p>
                  </a:txBody>
                  <a:tcPr anchor="ctr"/>
                </a:tc>
                <a:extLst>
                  <a:ext uri="{0D108BD9-81ED-4DB2-BD59-A6C34878D82A}">
                    <a16:rowId xmlns:a16="http://schemas.microsoft.com/office/drawing/2014/main" val="612848545"/>
                  </a:ext>
                </a:extLst>
              </a:tr>
              <a:tr h="0">
                <a:tc>
                  <a:txBody>
                    <a:bodyPr/>
                    <a:lstStyle/>
                    <a:p>
                      <a:pPr algn="ctr">
                        <a:buNone/>
                      </a:pPr>
                      <a:r>
                        <a:rPr lang="es-CO" b="1" dirty="0"/>
                        <a:t>Densidad</a:t>
                      </a:r>
                      <a:endParaRPr lang="es-CO" dirty="0"/>
                    </a:p>
                  </a:txBody>
                  <a:tcPr anchor="ctr"/>
                </a:tc>
                <a:tc>
                  <a:txBody>
                    <a:bodyPr/>
                    <a:lstStyle/>
                    <a:p>
                      <a:pPr>
                        <a:buNone/>
                      </a:pPr>
                      <a:r>
                        <a:rPr lang="es-MX" dirty="0"/>
                        <a:t>Regiones poco densas comparadas con el entorno</a:t>
                      </a:r>
                    </a:p>
                  </a:txBody>
                  <a:tcPr anchor="ctr"/>
                </a:tc>
                <a:tc>
                  <a:txBody>
                    <a:bodyPr/>
                    <a:lstStyle/>
                    <a:p>
                      <a:pPr algn="ctr">
                        <a:buNone/>
                      </a:pPr>
                      <a:r>
                        <a:rPr lang="es-CO" dirty="0"/>
                        <a:t>LOF, DBSCAN-</a:t>
                      </a:r>
                      <a:r>
                        <a:rPr lang="es-CO" dirty="0" err="1"/>
                        <a:t>based</a:t>
                      </a:r>
                      <a:endParaRPr lang="es-CO" dirty="0"/>
                    </a:p>
                  </a:txBody>
                  <a:tcPr anchor="ctr"/>
                </a:tc>
                <a:extLst>
                  <a:ext uri="{0D108BD9-81ED-4DB2-BD59-A6C34878D82A}">
                    <a16:rowId xmlns:a16="http://schemas.microsoft.com/office/drawing/2014/main" val="2085549716"/>
                  </a:ext>
                </a:extLst>
              </a:tr>
              <a:tr h="0">
                <a:tc>
                  <a:txBody>
                    <a:bodyPr/>
                    <a:lstStyle/>
                    <a:p>
                      <a:pPr algn="ctr">
                        <a:buNone/>
                      </a:pPr>
                      <a:r>
                        <a:rPr lang="es-CO" b="1" dirty="0"/>
                        <a:t>Modelos</a:t>
                      </a:r>
                      <a:endParaRPr lang="es-CO" dirty="0"/>
                    </a:p>
                  </a:txBody>
                  <a:tcPr anchor="ctr"/>
                </a:tc>
                <a:tc>
                  <a:txBody>
                    <a:bodyPr/>
                    <a:lstStyle/>
                    <a:p>
                      <a:pPr>
                        <a:buNone/>
                      </a:pPr>
                      <a:r>
                        <a:rPr lang="es-MX" dirty="0"/>
                        <a:t>Aprender frontera de la “normalidad”</a:t>
                      </a:r>
                    </a:p>
                  </a:txBody>
                  <a:tcPr anchor="ctr"/>
                </a:tc>
                <a:tc>
                  <a:txBody>
                    <a:bodyPr/>
                    <a:lstStyle/>
                    <a:p>
                      <a:pPr algn="ctr">
                        <a:buNone/>
                      </a:pPr>
                      <a:r>
                        <a:rPr lang="es-CO" dirty="0" err="1"/>
                        <a:t>One-Class</a:t>
                      </a:r>
                      <a:r>
                        <a:rPr lang="es-CO" dirty="0"/>
                        <a:t> SVM, </a:t>
                      </a:r>
                      <a:r>
                        <a:rPr lang="es-CO" dirty="0" err="1"/>
                        <a:t>Isolation</a:t>
                      </a:r>
                      <a:r>
                        <a:rPr lang="es-CO" dirty="0"/>
                        <a:t> Forest</a:t>
                      </a:r>
                    </a:p>
                  </a:txBody>
                  <a:tcPr anchor="ctr"/>
                </a:tc>
                <a:extLst>
                  <a:ext uri="{0D108BD9-81ED-4DB2-BD59-A6C34878D82A}">
                    <a16:rowId xmlns:a16="http://schemas.microsoft.com/office/drawing/2014/main" val="961900920"/>
                  </a:ext>
                </a:extLst>
              </a:tr>
              <a:tr h="0">
                <a:tc>
                  <a:txBody>
                    <a:bodyPr/>
                    <a:lstStyle/>
                    <a:p>
                      <a:pPr algn="ctr">
                        <a:buNone/>
                      </a:pPr>
                      <a:r>
                        <a:rPr lang="es-CO" b="1" dirty="0"/>
                        <a:t>Deep </a:t>
                      </a:r>
                      <a:r>
                        <a:rPr lang="es-CO" b="1" dirty="0" err="1"/>
                        <a:t>Learning</a:t>
                      </a:r>
                      <a:endParaRPr lang="es-CO" dirty="0"/>
                    </a:p>
                  </a:txBody>
                  <a:tcPr anchor="ctr"/>
                </a:tc>
                <a:tc>
                  <a:txBody>
                    <a:bodyPr/>
                    <a:lstStyle/>
                    <a:p>
                      <a:pPr>
                        <a:buNone/>
                      </a:pPr>
                      <a:r>
                        <a:rPr lang="es-CO" dirty="0"/>
                        <a:t>Reconstrucción deficiente indica rareza</a:t>
                      </a:r>
                    </a:p>
                  </a:txBody>
                  <a:tcPr anchor="ctr"/>
                </a:tc>
                <a:tc>
                  <a:txBody>
                    <a:bodyPr/>
                    <a:lstStyle/>
                    <a:p>
                      <a:pPr algn="ctr">
                        <a:buNone/>
                      </a:pPr>
                      <a:r>
                        <a:rPr lang="es-CO" dirty="0" err="1"/>
                        <a:t>Autoencoders</a:t>
                      </a:r>
                      <a:r>
                        <a:rPr lang="es-CO" dirty="0"/>
                        <a:t>, </a:t>
                      </a:r>
                      <a:r>
                        <a:rPr lang="es-CO" dirty="0" err="1"/>
                        <a:t>GANs</a:t>
                      </a:r>
                      <a:endParaRPr lang="es-CO" dirty="0"/>
                    </a:p>
                  </a:txBody>
                  <a:tcPr anchor="ctr"/>
                </a:tc>
                <a:extLst>
                  <a:ext uri="{0D108BD9-81ED-4DB2-BD59-A6C34878D82A}">
                    <a16:rowId xmlns:a16="http://schemas.microsoft.com/office/drawing/2014/main" val="4185782001"/>
                  </a:ext>
                </a:extLst>
              </a:tr>
            </a:tbl>
          </a:graphicData>
        </a:graphic>
      </p:graphicFrame>
      <p:sp>
        <p:nvSpPr>
          <p:cNvPr id="6" name="CuadroTexto 5">
            <a:extLst>
              <a:ext uri="{FF2B5EF4-FFF2-40B4-BE49-F238E27FC236}">
                <a16:creationId xmlns:a16="http://schemas.microsoft.com/office/drawing/2014/main" id="{7CC4AA18-0A5A-7297-585E-F01F6B4298B5}"/>
              </a:ext>
            </a:extLst>
          </p:cNvPr>
          <p:cNvSpPr txBox="1"/>
          <p:nvPr/>
        </p:nvSpPr>
        <p:spPr>
          <a:xfrm>
            <a:off x="-1604" y="6488668"/>
            <a:ext cx="6097604" cy="369332"/>
          </a:xfrm>
          <a:prstGeom prst="rect">
            <a:avLst/>
          </a:prstGeom>
          <a:noFill/>
        </p:spPr>
        <p:txBody>
          <a:bodyPr wrap="square">
            <a:spAutoFit/>
          </a:bodyPr>
          <a:lstStyle/>
          <a:p>
            <a:r>
              <a:rPr lang="sv-SE" dirty="0"/>
              <a:t>(Han &amp; Kamber, 2012; Aggarwal, 2017)</a:t>
            </a:r>
            <a:endParaRPr lang="es-CO" dirty="0"/>
          </a:p>
        </p:txBody>
      </p:sp>
    </p:spTree>
    <p:extLst>
      <p:ext uri="{BB962C8B-B14F-4D97-AF65-F5344CB8AC3E}">
        <p14:creationId xmlns:p14="http://schemas.microsoft.com/office/powerpoint/2010/main" val="889383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8E635B-18E0-0682-3323-4C8E1BC0431D}"/>
              </a:ext>
            </a:extLst>
          </p:cNvPr>
          <p:cNvSpPr>
            <a:spLocks noGrp="1"/>
          </p:cNvSpPr>
          <p:nvPr>
            <p:ph type="title"/>
          </p:nvPr>
        </p:nvSpPr>
        <p:spPr/>
        <p:txBody>
          <a:bodyPr/>
          <a:lstStyle/>
          <a:p>
            <a:r>
              <a:rPr lang="es-CO" dirty="0"/>
              <a:t>Análisis de grafos</a:t>
            </a:r>
          </a:p>
        </p:txBody>
      </p:sp>
      <p:sp>
        <p:nvSpPr>
          <p:cNvPr id="3" name="Marcador de texto 2">
            <a:extLst>
              <a:ext uri="{FF2B5EF4-FFF2-40B4-BE49-F238E27FC236}">
                <a16:creationId xmlns:a16="http://schemas.microsoft.com/office/drawing/2014/main" id="{D6637D91-405F-083B-F25C-6625B6696A7B}"/>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367496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715877-3B98-6527-C4C5-BC0F1F1746B3}"/>
              </a:ext>
            </a:extLst>
          </p:cNvPr>
          <p:cNvSpPr>
            <a:spLocks noGrp="1"/>
          </p:cNvSpPr>
          <p:nvPr>
            <p:ph type="title"/>
          </p:nvPr>
        </p:nvSpPr>
        <p:spPr/>
        <p:txBody>
          <a:bodyPr/>
          <a:lstStyle/>
          <a:p>
            <a:r>
              <a:rPr lang="es-CO" dirty="0"/>
              <a:t>Introducción</a:t>
            </a:r>
          </a:p>
        </p:txBody>
      </p:sp>
      <p:sp>
        <p:nvSpPr>
          <p:cNvPr id="3" name="Marcador de contenido 2">
            <a:extLst>
              <a:ext uri="{FF2B5EF4-FFF2-40B4-BE49-F238E27FC236}">
                <a16:creationId xmlns:a16="http://schemas.microsoft.com/office/drawing/2014/main" id="{71A78508-918D-7C91-4741-DF410C6F64C9}"/>
              </a:ext>
            </a:extLst>
          </p:cNvPr>
          <p:cNvSpPr>
            <a:spLocks noGrp="1"/>
          </p:cNvSpPr>
          <p:nvPr>
            <p:ph sz="half" idx="1"/>
          </p:nvPr>
        </p:nvSpPr>
        <p:spPr/>
        <p:txBody>
          <a:bodyPr anchor="ctr">
            <a:normAutofit/>
          </a:bodyPr>
          <a:lstStyle/>
          <a:p>
            <a:pPr marL="0" indent="0">
              <a:buNone/>
            </a:pPr>
            <a:r>
              <a:rPr lang="es-MX" sz="1800" dirty="0"/>
              <a:t>El análisis de grafos estudia estructuras formadas por </a:t>
            </a:r>
            <a:r>
              <a:rPr lang="es-MX" sz="1800" b="1" dirty="0"/>
              <a:t>nodos</a:t>
            </a:r>
            <a:r>
              <a:rPr lang="es-MX" sz="1800" dirty="0"/>
              <a:t> (entidades) y </a:t>
            </a:r>
            <a:r>
              <a:rPr lang="es-MX" sz="1800" b="1" dirty="0"/>
              <a:t>aristas</a:t>
            </a:r>
            <a:r>
              <a:rPr lang="es-MX" sz="1800" dirty="0"/>
              <a:t> (relaciones). En redes sociales, cada usuario es un nodo y sus interacciones (amistades, menciones, “me gusta”) son aristas. Este enfoque permite:</a:t>
            </a:r>
          </a:p>
          <a:p>
            <a:pPr marL="0" indent="0">
              <a:buNone/>
            </a:pPr>
            <a:endParaRPr lang="es-MX" sz="1800" dirty="0"/>
          </a:p>
          <a:p>
            <a:r>
              <a:rPr lang="es-MX" sz="1800" dirty="0"/>
              <a:t>Identificar </a:t>
            </a:r>
            <a:r>
              <a:rPr lang="es-MX" sz="1800" b="1" dirty="0"/>
              <a:t>influenciadores</a:t>
            </a:r>
            <a:r>
              <a:rPr lang="es-MX" sz="1800" dirty="0"/>
              <a:t> y </a:t>
            </a:r>
            <a:r>
              <a:rPr lang="es-MX" sz="1800" b="1" dirty="0"/>
              <a:t>puentes</a:t>
            </a:r>
            <a:r>
              <a:rPr lang="es-MX" sz="1800" dirty="0"/>
              <a:t> entre comunidades.</a:t>
            </a:r>
          </a:p>
          <a:p>
            <a:r>
              <a:rPr lang="es-MX" sz="1800" dirty="0"/>
              <a:t>Detectar </a:t>
            </a:r>
            <a:r>
              <a:rPr lang="es-MX" sz="1800" b="1" dirty="0"/>
              <a:t>comunidades</a:t>
            </a:r>
            <a:r>
              <a:rPr lang="es-MX" sz="1800" dirty="0"/>
              <a:t> (</a:t>
            </a:r>
            <a:r>
              <a:rPr lang="es-MX" sz="1800" dirty="0" err="1"/>
              <a:t>clusters</a:t>
            </a:r>
            <a:r>
              <a:rPr lang="es-MX" sz="1800" dirty="0"/>
              <a:t>) con intereses o comportamientos similares.</a:t>
            </a:r>
          </a:p>
          <a:p>
            <a:r>
              <a:rPr lang="es-MX" sz="1800" dirty="0"/>
              <a:t>Analizar la </a:t>
            </a:r>
            <a:r>
              <a:rPr lang="es-MX" sz="1800" b="1" dirty="0"/>
              <a:t>robustez</a:t>
            </a:r>
            <a:r>
              <a:rPr lang="es-MX" sz="1800" dirty="0"/>
              <a:t> y </a:t>
            </a:r>
            <a:r>
              <a:rPr lang="es-MX" sz="1800" b="1" dirty="0"/>
              <a:t>vulnerabilidades</a:t>
            </a:r>
            <a:r>
              <a:rPr lang="es-MX" sz="1800" dirty="0"/>
              <a:t> de la red ante fallos o ataques.</a:t>
            </a:r>
          </a:p>
        </p:txBody>
      </p:sp>
      <p:pic>
        <p:nvPicPr>
          <p:cNvPr id="7" name="Marcador de contenido 6">
            <a:extLst>
              <a:ext uri="{FF2B5EF4-FFF2-40B4-BE49-F238E27FC236}">
                <a16:creationId xmlns:a16="http://schemas.microsoft.com/office/drawing/2014/main" id="{505268ED-D381-C74E-BA89-5D867440811E}"/>
              </a:ext>
            </a:extLst>
          </p:cNvPr>
          <p:cNvPicPr>
            <a:picLocks noGrp="1" noChangeAspect="1"/>
          </p:cNvPicPr>
          <p:nvPr>
            <p:ph sz="half" idx="2"/>
          </p:nvPr>
        </p:nvPicPr>
        <p:blipFill>
          <a:blip r:embed="rId2"/>
          <a:stretch>
            <a:fillRect/>
          </a:stretch>
        </p:blipFill>
        <p:spPr>
          <a:xfrm>
            <a:off x="6172200" y="2467214"/>
            <a:ext cx="5181600" cy="3068160"/>
          </a:xfrm>
          <a:prstGeom prst="rect">
            <a:avLst/>
          </a:prstGeom>
        </p:spPr>
      </p:pic>
    </p:spTree>
    <p:extLst>
      <p:ext uri="{BB962C8B-B14F-4D97-AF65-F5344CB8AC3E}">
        <p14:creationId xmlns:p14="http://schemas.microsoft.com/office/powerpoint/2010/main" val="3649918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9FCCF8-AEF0-9893-298E-058697AE205C}"/>
              </a:ext>
            </a:extLst>
          </p:cNvPr>
          <p:cNvSpPr>
            <a:spLocks noGrp="1"/>
          </p:cNvSpPr>
          <p:nvPr>
            <p:ph type="title"/>
          </p:nvPr>
        </p:nvSpPr>
        <p:spPr/>
        <p:txBody>
          <a:bodyPr/>
          <a:lstStyle/>
          <a:p>
            <a:r>
              <a:rPr lang="es-CO" dirty="0"/>
              <a:t>Conceptos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BCD79AD-C6EC-9F36-6E4A-9337D735D168}"/>
                  </a:ext>
                </a:extLst>
              </p:cNvPr>
              <p:cNvSpPr>
                <a:spLocks noGrp="1"/>
              </p:cNvSpPr>
              <p:nvPr>
                <p:ph sz="half" idx="1"/>
              </p:nvPr>
            </p:nvSpPr>
            <p:spPr/>
            <p:txBody>
              <a:bodyPr anchor="ctr"/>
              <a:lstStyle/>
              <a:p>
                <a:pPr marL="0" indent="0">
                  <a:buNone/>
                </a:pPr>
                <a:r>
                  <a:rPr lang="es-MX" dirty="0">
                    <a:solidFill>
                      <a:srgbClr val="0D0D0D"/>
                    </a:solidFill>
                    <a:latin typeface="ui-sans-serif"/>
                  </a:rPr>
                  <a:t>Una red social es un </a:t>
                </a:r>
                <a:r>
                  <a:rPr lang="es-MX" i="1" dirty="0">
                    <a:solidFill>
                      <a:srgbClr val="0D0D0D"/>
                    </a:solidFill>
                    <a:latin typeface="ui-sans-serif"/>
                  </a:rPr>
                  <a:t>grafo</a:t>
                </a:r>
              </a:p>
              <a:p>
                <a:endParaRPr lang="es-MX" i="1" dirty="0">
                  <a:solidFill>
                    <a:srgbClr val="0D0D0D"/>
                  </a:solidFill>
                  <a:latin typeface="ui-sans-serif"/>
                </a:endParaRPr>
              </a:p>
              <a:p>
                <a:pPr marL="0" indent="0">
                  <a:buNone/>
                </a:pPr>
                <a14:m>
                  <m:oMathPara xmlns:m="http://schemas.openxmlformats.org/officeDocument/2006/math">
                    <m:oMathParaPr>
                      <m:jc m:val="centerGroup"/>
                    </m:oMathParaPr>
                    <m:oMath xmlns:m="http://schemas.openxmlformats.org/officeDocument/2006/math">
                      <m:r>
                        <a:rPr lang="es-CO" i="1">
                          <a:solidFill>
                            <a:srgbClr val="0D0D0D"/>
                          </a:solidFill>
                          <a:latin typeface="Cambria Math" panose="02040503050406030204" pitchFamily="18" charset="0"/>
                        </a:rPr>
                        <m:t>𝐺</m:t>
                      </m:r>
                      <m:r>
                        <a:rPr lang="es-CO" i="1">
                          <a:solidFill>
                            <a:srgbClr val="0D0D0D"/>
                          </a:solidFill>
                          <a:latin typeface="Cambria Math" panose="02040503050406030204" pitchFamily="18" charset="0"/>
                        </a:rPr>
                        <m:t>=</m:t>
                      </m:r>
                      <m:d>
                        <m:dPr>
                          <m:ctrlPr>
                            <a:rPr lang="es-CO" i="1">
                              <a:solidFill>
                                <a:srgbClr val="0D0D0D"/>
                              </a:solidFill>
                              <a:latin typeface="Cambria Math" panose="02040503050406030204" pitchFamily="18" charset="0"/>
                            </a:rPr>
                          </m:ctrlPr>
                        </m:dPr>
                        <m:e>
                          <m:r>
                            <a:rPr lang="es-CO" i="1">
                              <a:solidFill>
                                <a:srgbClr val="0D0D0D"/>
                              </a:solidFill>
                              <a:latin typeface="Cambria Math" panose="02040503050406030204" pitchFamily="18" charset="0"/>
                            </a:rPr>
                            <m:t>𝑉</m:t>
                          </m:r>
                          <m:r>
                            <a:rPr lang="es-CO" i="1">
                              <a:solidFill>
                                <a:srgbClr val="0D0D0D"/>
                              </a:solidFill>
                              <a:latin typeface="Cambria Math" panose="02040503050406030204" pitchFamily="18" charset="0"/>
                            </a:rPr>
                            <m:t>,</m:t>
                          </m:r>
                          <m:r>
                            <a:rPr lang="es-CO" i="1">
                              <a:solidFill>
                                <a:srgbClr val="0D0D0D"/>
                              </a:solidFill>
                              <a:latin typeface="Cambria Math" panose="02040503050406030204" pitchFamily="18" charset="0"/>
                            </a:rPr>
                            <m:t>𝐸</m:t>
                          </m:r>
                        </m:e>
                      </m:d>
                      <m:r>
                        <a:rPr lang="es-CO" i="1">
                          <a:solidFill>
                            <a:srgbClr val="0D0D0D"/>
                          </a:solidFill>
                          <a:latin typeface="Cambria Math" panose="02040503050406030204" pitchFamily="18" charset="0"/>
                        </a:rPr>
                        <m:t> </m:t>
                      </m:r>
                    </m:oMath>
                  </m:oMathPara>
                </a14:m>
                <a:endParaRPr lang="es-MX" dirty="0">
                  <a:solidFill>
                    <a:srgbClr val="0D0D0D"/>
                  </a:solidFill>
                  <a:latin typeface="ui-sans-serif"/>
                </a:endParaRPr>
              </a:p>
              <a:p>
                <a:pPr marL="0" indent="0">
                  <a:buNone/>
                </a:pPr>
                <a:endParaRPr lang="es-MX" dirty="0">
                  <a:solidFill>
                    <a:srgbClr val="0D0D0D"/>
                  </a:solidFill>
                  <a:latin typeface="ui-sans-serif"/>
                </a:endParaRPr>
              </a:p>
              <a:p>
                <a:pPr marL="0" indent="0">
                  <a:buNone/>
                </a:pPr>
                <a:r>
                  <a:rPr lang="es-MX" dirty="0">
                    <a:solidFill>
                      <a:srgbClr val="0D0D0D"/>
                    </a:solidFill>
                    <a:latin typeface="ui-sans-serif"/>
                  </a:rPr>
                  <a:t>Donde:</a:t>
                </a:r>
              </a:p>
              <a:p>
                <a:pPr marL="0" indent="0">
                  <a:buNone/>
                </a:pPr>
                <a:endParaRPr lang="es-MX" dirty="0">
                  <a:solidFill>
                    <a:srgbClr val="0D0D0D"/>
                  </a:solidFill>
                  <a:latin typeface="ui-sans-serif"/>
                </a:endParaRPr>
              </a:p>
              <a:p>
                <a14:m>
                  <m:oMath xmlns:m="http://schemas.openxmlformats.org/officeDocument/2006/math">
                    <m:r>
                      <a:rPr lang="es-CO" i="1">
                        <a:solidFill>
                          <a:srgbClr val="0D0D0D"/>
                        </a:solidFill>
                        <a:latin typeface="Cambria Math" panose="02040503050406030204" pitchFamily="18" charset="0"/>
                      </a:rPr>
                      <m:t>𝑉</m:t>
                    </m:r>
                  </m:oMath>
                </a14:m>
                <a:r>
                  <a:rPr lang="es-MX" dirty="0">
                    <a:solidFill>
                      <a:srgbClr val="0D0D0D"/>
                    </a:solidFill>
                    <a:latin typeface="ui-sans-serif"/>
                  </a:rPr>
                  <a:t> son actores y </a:t>
                </a:r>
              </a:p>
              <a:p>
                <a14:m>
                  <m:oMath xmlns:m="http://schemas.openxmlformats.org/officeDocument/2006/math">
                    <m:r>
                      <a:rPr lang="es-CO" i="1">
                        <a:solidFill>
                          <a:srgbClr val="0D0D0D"/>
                        </a:solidFill>
                        <a:latin typeface="Cambria Math" panose="02040503050406030204" pitchFamily="18" charset="0"/>
                      </a:rPr>
                      <m:t>𝐸</m:t>
                    </m:r>
                  </m:oMath>
                </a14:m>
                <a:r>
                  <a:rPr lang="es-CO" dirty="0">
                    <a:solidFill>
                      <a:srgbClr val="0D0D0D"/>
                    </a:solidFill>
                  </a:rPr>
                  <a:t> </a:t>
                </a:r>
                <a:r>
                  <a:rPr lang="es-MX" dirty="0">
                    <a:solidFill>
                      <a:srgbClr val="0D0D0D"/>
                    </a:solidFill>
                    <a:latin typeface="ui-sans-serif"/>
                  </a:rPr>
                  <a:t> sus relaciones.</a:t>
                </a:r>
              </a:p>
              <a:p>
                <a:endParaRPr lang="es-CO" dirty="0"/>
              </a:p>
            </p:txBody>
          </p:sp>
        </mc:Choice>
        <mc:Fallback xmlns="">
          <p:sp>
            <p:nvSpPr>
              <p:cNvPr id="3" name="Marcador de contenido 2">
                <a:extLst>
                  <a:ext uri="{FF2B5EF4-FFF2-40B4-BE49-F238E27FC236}">
                    <a16:creationId xmlns:a16="http://schemas.microsoft.com/office/drawing/2014/main" id="{6BCD79AD-C6EC-9F36-6E4A-9337D735D168}"/>
                  </a:ext>
                </a:extLst>
              </p:cNvPr>
              <p:cNvSpPr>
                <a:spLocks noGrp="1" noRot="1" noChangeAspect="1" noMove="1" noResize="1" noEditPoints="1" noAdjustHandles="1" noChangeArrowheads="1" noChangeShapeType="1" noTextEdit="1"/>
              </p:cNvSpPr>
              <p:nvPr>
                <p:ph sz="half" idx="1"/>
              </p:nvPr>
            </p:nvSpPr>
            <p:spPr>
              <a:blipFill>
                <a:blip r:embed="rId2"/>
                <a:stretch>
                  <a:fillRect l="-1882"/>
                </a:stretch>
              </a:blipFill>
            </p:spPr>
            <p:txBody>
              <a:bodyPr/>
              <a:lstStyle/>
              <a:p>
                <a:r>
                  <a:rPr lang="es-CO">
                    <a:noFill/>
                  </a:rPr>
                  <a:t> </a:t>
                </a:r>
              </a:p>
            </p:txBody>
          </p:sp>
        </mc:Fallback>
      </mc:AlternateContent>
      <p:pic>
        <p:nvPicPr>
          <p:cNvPr id="5" name="Marcador de contenido 4">
            <a:extLst>
              <a:ext uri="{FF2B5EF4-FFF2-40B4-BE49-F238E27FC236}">
                <a16:creationId xmlns:a16="http://schemas.microsoft.com/office/drawing/2014/main" id="{7F4C688A-EAC1-2B27-5D37-8B2936B916BC}"/>
              </a:ext>
            </a:extLst>
          </p:cNvPr>
          <p:cNvPicPr>
            <a:picLocks noGrp="1" noChangeAspect="1"/>
          </p:cNvPicPr>
          <p:nvPr>
            <p:ph sz="half" idx="2"/>
          </p:nvPr>
        </p:nvPicPr>
        <p:blipFill>
          <a:blip r:embed="rId3"/>
          <a:stretch>
            <a:fillRect/>
          </a:stretch>
        </p:blipFill>
        <p:spPr>
          <a:xfrm>
            <a:off x="6172200" y="1690688"/>
            <a:ext cx="5181600" cy="2854198"/>
          </a:xfrm>
          <a:prstGeom prst="rect">
            <a:avLst/>
          </a:prstGeom>
        </p:spPr>
      </p:pic>
      <p:sp>
        <p:nvSpPr>
          <p:cNvPr id="6" name="CuadroTexto 5">
            <a:extLst>
              <a:ext uri="{FF2B5EF4-FFF2-40B4-BE49-F238E27FC236}">
                <a16:creationId xmlns:a16="http://schemas.microsoft.com/office/drawing/2014/main" id="{4E51F18F-144D-53DE-6BDA-20C07E756733}"/>
              </a:ext>
            </a:extLst>
          </p:cNvPr>
          <p:cNvSpPr txBox="1"/>
          <p:nvPr/>
        </p:nvSpPr>
        <p:spPr>
          <a:xfrm>
            <a:off x="838199" y="5834846"/>
            <a:ext cx="10515600" cy="954107"/>
          </a:xfrm>
          <a:prstGeom prst="rect">
            <a:avLst/>
          </a:prstGeom>
          <a:noFill/>
        </p:spPr>
        <p:txBody>
          <a:bodyPr wrap="square" rtlCol="0">
            <a:spAutoFit/>
          </a:bodyPr>
          <a:lstStyle/>
          <a:p>
            <a:r>
              <a:rPr lang="es-CO" sz="1400" dirty="0" err="1">
                <a:solidFill>
                  <a:srgbClr val="7030A0"/>
                </a:solidFill>
                <a:latin typeface="Consolas" panose="020B0609020204030204" pitchFamily="49" charset="0"/>
              </a:rPr>
              <a:t>import</a:t>
            </a:r>
            <a:r>
              <a:rPr lang="es-CO" sz="1400" dirty="0">
                <a:latin typeface="Consolas" panose="020B0609020204030204" pitchFamily="49" charset="0"/>
              </a:rPr>
              <a:t> </a:t>
            </a:r>
            <a:r>
              <a:rPr lang="es-CO" sz="1400" dirty="0" err="1">
                <a:latin typeface="Consolas" panose="020B0609020204030204" pitchFamily="49" charset="0"/>
              </a:rPr>
              <a:t>networkx</a:t>
            </a:r>
            <a:r>
              <a:rPr lang="es-CO" sz="1400" dirty="0">
                <a:latin typeface="Consolas" panose="020B0609020204030204" pitchFamily="49" charset="0"/>
              </a:rPr>
              <a:t> </a:t>
            </a:r>
            <a:r>
              <a:rPr lang="es-CO" sz="1400" dirty="0">
                <a:solidFill>
                  <a:srgbClr val="7030A0"/>
                </a:solidFill>
                <a:latin typeface="Consolas" panose="020B0609020204030204" pitchFamily="49" charset="0"/>
              </a:rPr>
              <a:t>as</a:t>
            </a:r>
            <a:r>
              <a:rPr lang="es-CO" sz="1400" dirty="0">
                <a:latin typeface="Consolas" panose="020B0609020204030204" pitchFamily="49" charset="0"/>
              </a:rPr>
              <a:t> </a:t>
            </a:r>
            <a:r>
              <a:rPr lang="es-CO" sz="1400" dirty="0" err="1">
                <a:latin typeface="Consolas" panose="020B0609020204030204" pitchFamily="49" charset="0"/>
              </a:rPr>
              <a:t>nx</a:t>
            </a:r>
            <a:endParaRPr lang="es-CO" sz="1400" dirty="0">
              <a:latin typeface="Consolas" panose="020B0609020204030204" pitchFamily="49" charset="0"/>
            </a:endParaRPr>
          </a:p>
          <a:p>
            <a:r>
              <a:rPr lang="es-CO" sz="1400" dirty="0">
                <a:latin typeface="Consolas" panose="020B0609020204030204" pitchFamily="49" charset="0"/>
              </a:rPr>
              <a:t>G = </a:t>
            </a:r>
            <a:r>
              <a:rPr lang="es-CO" sz="1400" dirty="0" err="1">
                <a:latin typeface="Consolas" panose="020B0609020204030204" pitchFamily="49" charset="0"/>
              </a:rPr>
              <a:t>nx.karate_club_graph</a:t>
            </a:r>
            <a:r>
              <a:rPr lang="es-CO" sz="1400" dirty="0">
                <a:latin typeface="Consolas" panose="020B0609020204030204" pitchFamily="49" charset="0"/>
              </a:rPr>
              <a:t>()</a:t>
            </a:r>
          </a:p>
          <a:p>
            <a:r>
              <a:rPr lang="es-CO" sz="1400" dirty="0" err="1">
                <a:solidFill>
                  <a:schemeClr val="accent2">
                    <a:lumMod val="75000"/>
                  </a:schemeClr>
                </a:solidFill>
                <a:latin typeface="Consolas" panose="020B0609020204030204" pitchFamily="49" charset="0"/>
              </a:rPr>
              <a:t>print</a:t>
            </a:r>
            <a:r>
              <a:rPr lang="es-CO" sz="1400" dirty="0">
                <a:latin typeface="Consolas" panose="020B0609020204030204" pitchFamily="49" charset="0"/>
              </a:rPr>
              <a:t>(nx.info(G))</a:t>
            </a:r>
          </a:p>
          <a:p>
            <a:endParaRPr lang="es-CO" sz="1400" dirty="0">
              <a:latin typeface="Consolas" panose="020B0609020204030204" pitchFamily="49" charset="0"/>
            </a:endParaRPr>
          </a:p>
        </p:txBody>
      </p:sp>
    </p:spTree>
    <p:extLst>
      <p:ext uri="{BB962C8B-B14F-4D97-AF65-F5344CB8AC3E}">
        <p14:creationId xmlns:p14="http://schemas.microsoft.com/office/powerpoint/2010/main" val="506363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9EA6EC-4B3C-1155-0CCB-13BAC3F59A3B}"/>
              </a:ext>
            </a:extLst>
          </p:cNvPr>
          <p:cNvSpPr>
            <a:spLocks noGrp="1"/>
          </p:cNvSpPr>
          <p:nvPr>
            <p:ph type="title"/>
          </p:nvPr>
        </p:nvSpPr>
        <p:spPr/>
        <p:txBody>
          <a:bodyPr/>
          <a:lstStyle/>
          <a:p>
            <a:r>
              <a:rPr lang="es-CO" dirty="0"/>
              <a:t>Partes de un grafo</a:t>
            </a:r>
          </a:p>
        </p:txBody>
      </p:sp>
      <p:pic>
        <p:nvPicPr>
          <p:cNvPr id="2050" name="Picture 2" descr="Teoría de grafos - EcuRed">
            <a:extLst>
              <a:ext uri="{FF2B5EF4-FFF2-40B4-BE49-F238E27FC236}">
                <a16:creationId xmlns:a16="http://schemas.microsoft.com/office/drawing/2014/main" id="{923E3888-AC29-92FA-94CB-000727E11D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00400" y="1916462"/>
            <a:ext cx="5791200" cy="4169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780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AD93E-E5B4-E42E-5EEF-51287C305F58}"/>
              </a:ext>
            </a:extLst>
          </p:cNvPr>
          <p:cNvSpPr>
            <a:spLocks noGrp="1"/>
          </p:cNvSpPr>
          <p:nvPr>
            <p:ph type="title"/>
          </p:nvPr>
        </p:nvSpPr>
        <p:spPr/>
        <p:txBody>
          <a:bodyPr/>
          <a:lstStyle/>
          <a:p>
            <a:r>
              <a:rPr lang="es-MX" b="1" dirty="0">
                <a:solidFill>
                  <a:srgbClr val="0D0D0D"/>
                </a:solidFill>
                <a:latin typeface="ui-sans-serif"/>
              </a:rPr>
              <a:t>Teoría de grafos: conceptos básicos</a:t>
            </a:r>
            <a:endParaRPr lang="es-CO" dirty="0"/>
          </a:p>
        </p:txBody>
      </p:sp>
      <mc:AlternateContent xmlns:mc="http://schemas.openxmlformats.org/markup-compatibility/2006" xmlns:a14="http://schemas.microsoft.com/office/drawing/2010/main">
        <mc:Choice Requires="a14">
          <p:graphicFrame>
            <p:nvGraphicFramePr>
              <p:cNvPr id="6" name="Marcador de contenido 5">
                <a:extLst>
                  <a:ext uri="{FF2B5EF4-FFF2-40B4-BE49-F238E27FC236}">
                    <a16:creationId xmlns:a16="http://schemas.microsoft.com/office/drawing/2014/main" id="{353CF87C-9C07-01EF-CD04-6F6D0F51A91A}"/>
                  </a:ext>
                </a:extLst>
              </p:cNvPr>
              <p:cNvGraphicFramePr>
                <a:graphicFrameLocks noGrp="1"/>
              </p:cNvGraphicFramePr>
              <p:nvPr>
                <p:ph idx="1"/>
                <p:extLst>
                  <p:ext uri="{D42A27DB-BD31-4B8C-83A1-F6EECF244321}">
                    <p14:modId xmlns:p14="http://schemas.microsoft.com/office/powerpoint/2010/main" val="468476227"/>
                  </p:ext>
                </p:extLst>
              </p:nvPr>
            </p:nvGraphicFramePr>
            <p:xfrm>
              <a:off x="838200" y="1795610"/>
              <a:ext cx="10515600" cy="3390162"/>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val="468114175"/>
                        </a:ext>
                      </a:extLst>
                    </a:gridCol>
                    <a:gridCol w="2628900">
                      <a:extLst>
                        <a:ext uri="{9D8B030D-6E8A-4147-A177-3AD203B41FA5}">
                          <a16:colId xmlns:a16="http://schemas.microsoft.com/office/drawing/2014/main" val="4145704608"/>
                        </a:ext>
                      </a:extLst>
                    </a:gridCol>
                    <a:gridCol w="2628900">
                      <a:extLst>
                        <a:ext uri="{9D8B030D-6E8A-4147-A177-3AD203B41FA5}">
                          <a16:colId xmlns:a16="http://schemas.microsoft.com/office/drawing/2014/main" val="1862521704"/>
                        </a:ext>
                      </a:extLst>
                    </a:gridCol>
                    <a:gridCol w="2628900">
                      <a:extLst>
                        <a:ext uri="{9D8B030D-6E8A-4147-A177-3AD203B41FA5}">
                          <a16:colId xmlns:a16="http://schemas.microsoft.com/office/drawing/2014/main" val="3239266304"/>
                        </a:ext>
                      </a:extLst>
                    </a:gridCol>
                  </a:tblGrid>
                  <a:tr h="300092">
                    <a:tc>
                      <a:txBody>
                        <a:bodyPr/>
                        <a:lstStyle/>
                        <a:p>
                          <a:pPr algn="ctr">
                            <a:buNone/>
                          </a:pPr>
                          <a:r>
                            <a:rPr lang="es-CO" sz="1500" dirty="0"/>
                            <a:t>Tipo</a:t>
                          </a:r>
                        </a:p>
                      </a:txBody>
                      <a:tcPr marL="75023" marR="75023" marT="37512" marB="37512" anchor="ctr"/>
                    </a:tc>
                    <a:tc>
                      <a:txBody>
                        <a:bodyPr/>
                        <a:lstStyle/>
                        <a:p>
                          <a:pPr algn="ctr">
                            <a:buNone/>
                          </a:pPr>
                          <a:r>
                            <a:rPr lang="es-CO" sz="1500" dirty="0"/>
                            <a:t>Definición</a:t>
                          </a:r>
                        </a:p>
                      </a:txBody>
                      <a:tcPr marL="75023" marR="75023" marT="37512" marB="37512" anchor="ctr"/>
                    </a:tc>
                    <a:tc>
                      <a:txBody>
                        <a:bodyPr/>
                        <a:lstStyle/>
                        <a:p>
                          <a:pPr algn="ctr">
                            <a:buNone/>
                          </a:pPr>
                          <a:r>
                            <a:rPr lang="es-CO" sz="1500" dirty="0"/>
                            <a:t>Ejemplo social</a:t>
                          </a:r>
                        </a:p>
                      </a:txBody>
                      <a:tcPr marL="75023" marR="75023" marT="37512" marB="37512" anchor="ctr"/>
                    </a:tc>
                    <a:tc>
                      <a:txBody>
                        <a:bodyPr/>
                        <a:lstStyle/>
                        <a:p>
                          <a:pPr algn="ctr">
                            <a:buNone/>
                          </a:pPr>
                          <a:r>
                            <a:rPr lang="es-CO" sz="1500" dirty="0"/>
                            <a:t>Código mínimo</a:t>
                          </a:r>
                        </a:p>
                      </a:txBody>
                      <a:tcPr marL="75023" marR="75023" marT="37512" marB="37512" anchor="ctr"/>
                    </a:tc>
                    <a:extLst>
                      <a:ext uri="{0D108BD9-81ED-4DB2-BD59-A6C34878D82A}">
                        <a16:rowId xmlns:a16="http://schemas.microsoft.com/office/drawing/2014/main" val="1223968177"/>
                      </a:ext>
                    </a:extLst>
                  </a:tr>
                  <a:tr h="525161">
                    <a:tc>
                      <a:txBody>
                        <a:bodyPr/>
                        <a:lstStyle/>
                        <a:p>
                          <a:pPr>
                            <a:buNone/>
                          </a:pPr>
                          <a:r>
                            <a:rPr lang="es-CO" sz="1500" b="1"/>
                            <a:t>No dirigido</a:t>
                          </a:r>
                          <a:endParaRPr lang="es-CO" sz="1500"/>
                        </a:p>
                      </a:txBody>
                      <a:tcPr marL="75023" marR="75023" marT="37512" marB="37512" anchor="ctr"/>
                    </a:tc>
                    <a:tc>
                      <a:txBody>
                        <a:bodyPr/>
                        <a:lstStyle/>
                        <a:p>
                          <a:pPr>
                            <a:buNone/>
                          </a:pPr>
                          <a:r>
                            <a:rPr lang="es-MX" sz="1500" dirty="0"/>
                            <a:t>aristas sin orientación </a:t>
                          </a:r>
                          <a14:m>
                            <m:oMath xmlns:m="http://schemas.openxmlformats.org/officeDocument/2006/math">
                              <m:r>
                                <a:rPr lang="es-MX" sz="1500" i="1" dirty="0" smtClean="0">
                                  <a:latin typeface="Cambria Math" panose="02040503050406030204" pitchFamily="18" charset="0"/>
                                </a:rPr>
                                <m:t>𝑢</m:t>
                              </m:r>
                              <m:r>
                                <a:rPr lang="es-MX" sz="1500" i="1" dirty="0" smtClean="0">
                                  <a:latin typeface="Cambria Math" panose="02040503050406030204" pitchFamily="18" charset="0"/>
                                </a:rPr>
                                <m:t> ⁣− ⁣</m:t>
                              </m:r>
                              <m:r>
                                <a:rPr lang="es-MX" sz="1500" i="1" dirty="0" err="1">
                                  <a:latin typeface="Cambria Math" panose="02040503050406030204" pitchFamily="18" charset="0"/>
                                </a:rPr>
                                <m:t>𝑣</m:t>
                              </m:r>
                            </m:oMath>
                          </a14:m>
                          <a:endParaRPr lang="es-MX" sz="1500" dirty="0"/>
                        </a:p>
                      </a:txBody>
                      <a:tcPr marL="75023" marR="75023" marT="37512" marB="37512" anchor="ctr"/>
                    </a:tc>
                    <a:tc>
                      <a:txBody>
                        <a:bodyPr/>
                        <a:lstStyle/>
                        <a:p>
                          <a:pPr>
                            <a:buNone/>
                          </a:pPr>
                          <a:r>
                            <a:rPr lang="es-CO" sz="1500"/>
                            <a:t>amistad</a:t>
                          </a:r>
                        </a:p>
                      </a:txBody>
                      <a:tcPr marL="75023" marR="75023" marT="37512" marB="37512" anchor="ctr"/>
                    </a:tc>
                    <a:tc>
                      <a:txBody>
                        <a:bodyPr/>
                        <a:lstStyle/>
                        <a:p>
                          <a:pPr>
                            <a:buNone/>
                          </a:pPr>
                          <a:r>
                            <a:rPr lang="es-CO" sz="1500"/>
                            <a:t>nx.Graph()</a:t>
                          </a:r>
                        </a:p>
                      </a:txBody>
                      <a:tcPr marL="75023" marR="75023" marT="37512" marB="37512" anchor="ctr"/>
                    </a:tc>
                    <a:extLst>
                      <a:ext uri="{0D108BD9-81ED-4DB2-BD59-A6C34878D82A}">
                        <a16:rowId xmlns:a16="http://schemas.microsoft.com/office/drawing/2014/main" val="3450694321"/>
                      </a:ext>
                    </a:extLst>
                  </a:tr>
                  <a:tr h="525161">
                    <a:tc>
                      <a:txBody>
                        <a:bodyPr/>
                        <a:lstStyle/>
                        <a:p>
                          <a:pPr>
                            <a:buNone/>
                          </a:pPr>
                          <a:r>
                            <a:rPr lang="es-CO" sz="1500" b="1" dirty="0"/>
                            <a:t>Dirigido</a:t>
                          </a:r>
                          <a:endParaRPr lang="es-CO" sz="1500" dirty="0"/>
                        </a:p>
                      </a:txBody>
                      <a:tcPr marL="75023" marR="75023" marT="37512" marB="37512" anchor="ctr"/>
                    </a:tc>
                    <a:tc>
                      <a:txBody>
                        <a:bodyPr/>
                        <a:lstStyle/>
                        <a:p>
                          <a:pPr>
                            <a:buNone/>
                          </a:pPr>
                          <a:r>
                            <a:rPr lang="es-MX" sz="1500" dirty="0"/>
                            <a:t>aristas con orientación </a:t>
                          </a:r>
                          <a14:m>
                            <m:oMath xmlns:m="http://schemas.openxmlformats.org/officeDocument/2006/math">
                              <m:r>
                                <a:rPr lang="es-MX" sz="1500" i="1" dirty="0" smtClean="0">
                                  <a:latin typeface="Cambria Math" panose="02040503050406030204" pitchFamily="18" charset="0"/>
                                </a:rPr>
                                <m:t>𝑢</m:t>
                              </m:r>
                              <m:r>
                                <a:rPr lang="es-MX" sz="1500" i="1" dirty="0" smtClean="0">
                                  <a:latin typeface="Cambria Math" panose="02040503050406030204" pitchFamily="18" charset="0"/>
                                </a:rPr>
                                <m:t>→</m:t>
                              </m:r>
                              <m:r>
                                <a:rPr lang="es-MX" sz="1500" i="1" dirty="0" smtClean="0">
                                  <a:latin typeface="Cambria Math" panose="02040503050406030204" pitchFamily="18" charset="0"/>
                                </a:rPr>
                                <m:t>𝑣</m:t>
                              </m:r>
                            </m:oMath>
                          </a14:m>
                          <a:endParaRPr lang="es-MX" sz="1500" dirty="0"/>
                        </a:p>
                      </a:txBody>
                      <a:tcPr marL="75023" marR="75023" marT="37512" marB="37512" anchor="ctr"/>
                    </a:tc>
                    <a:tc>
                      <a:txBody>
                        <a:bodyPr/>
                        <a:lstStyle/>
                        <a:p>
                          <a:pPr>
                            <a:buNone/>
                          </a:pPr>
                          <a:r>
                            <a:rPr lang="es-CO" sz="1500"/>
                            <a:t>retuit</a:t>
                          </a:r>
                        </a:p>
                      </a:txBody>
                      <a:tcPr marL="75023" marR="75023" marT="37512" marB="37512" anchor="ctr"/>
                    </a:tc>
                    <a:tc>
                      <a:txBody>
                        <a:bodyPr/>
                        <a:lstStyle/>
                        <a:p>
                          <a:pPr>
                            <a:buNone/>
                          </a:pPr>
                          <a:r>
                            <a:rPr lang="es-CO" sz="1500"/>
                            <a:t>nx.DiGraph()</a:t>
                          </a:r>
                        </a:p>
                      </a:txBody>
                      <a:tcPr marL="75023" marR="75023" marT="37512" marB="37512" anchor="ctr"/>
                    </a:tc>
                    <a:extLst>
                      <a:ext uri="{0D108BD9-81ED-4DB2-BD59-A6C34878D82A}">
                        <a16:rowId xmlns:a16="http://schemas.microsoft.com/office/drawing/2014/main" val="2145462676"/>
                      </a:ext>
                    </a:extLst>
                  </a:tr>
                  <a:tr h="525161">
                    <a:tc>
                      <a:txBody>
                        <a:bodyPr/>
                        <a:lstStyle/>
                        <a:p>
                          <a:pPr>
                            <a:buNone/>
                          </a:pPr>
                          <a:r>
                            <a:rPr lang="es-CO" sz="1500" b="1"/>
                            <a:t>Ponderado</a:t>
                          </a:r>
                          <a:endParaRPr lang="es-CO" sz="1500"/>
                        </a:p>
                      </a:txBody>
                      <a:tcPr marL="75023" marR="75023" marT="37512" marB="37512" anchor="ctr"/>
                    </a:tc>
                    <a:tc>
                      <a:txBody>
                        <a:bodyPr/>
                        <a:lstStyle/>
                        <a:p>
                          <a:pPr>
                            <a:buNone/>
                          </a:pPr>
                          <a:r>
                            <a:rPr lang="es-MX" sz="1500" dirty="0"/>
                            <a:t>peso </a:t>
                          </a:r>
                          <a14:m>
                            <m:oMath xmlns:m="http://schemas.openxmlformats.org/officeDocument/2006/math">
                              <m:sSub>
                                <m:sSubPr>
                                  <m:ctrlPr>
                                    <a:rPr lang="es-CO" sz="1500" b="0" i="1" dirty="0" smtClean="0">
                                      <a:latin typeface="Cambria Math" panose="02040503050406030204" pitchFamily="18" charset="0"/>
                                    </a:rPr>
                                  </m:ctrlPr>
                                </m:sSubPr>
                                <m:e>
                                  <m:r>
                                    <a:rPr lang="es-CO" sz="1500" b="0" i="1" dirty="0" smtClean="0">
                                      <a:latin typeface="Cambria Math" panose="02040503050406030204" pitchFamily="18" charset="0"/>
                                    </a:rPr>
                                    <m:t>𝑤</m:t>
                                  </m:r>
                                </m:e>
                                <m:sub>
                                  <m:r>
                                    <a:rPr lang="es-CO" sz="1500" b="0" i="1" dirty="0" smtClean="0">
                                      <a:latin typeface="Cambria Math" panose="02040503050406030204" pitchFamily="18" charset="0"/>
                                    </a:rPr>
                                    <m:t>𝑢𝑣</m:t>
                                  </m:r>
                                </m:sub>
                              </m:sSub>
                            </m:oMath>
                          </a14:m>
                          <a:r>
                            <a:rPr lang="es-MX" sz="1500" dirty="0"/>
                            <a:t> cuantifica fuerza</a:t>
                          </a:r>
                        </a:p>
                      </a:txBody>
                      <a:tcPr marL="75023" marR="75023" marT="37512" marB="37512" anchor="ctr"/>
                    </a:tc>
                    <a:tc>
                      <a:txBody>
                        <a:bodyPr/>
                        <a:lstStyle/>
                        <a:p>
                          <a:pPr>
                            <a:buNone/>
                          </a:pPr>
                          <a:r>
                            <a:rPr lang="es-CO" sz="1500" dirty="0"/>
                            <a:t>frecuencia de emails</a:t>
                          </a:r>
                        </a:p>
                      </a:txBody>
                      <a:tcPr marL="75023" marR="75023" marT="37512" marB="37512" anchor="ctr"/>
                    </a:tc>
                    <a:tc>
                      <a:txBody>
                        <a:bodyPr/>
                        <a:lstStyle/>
                        <a:p>
                          <a:pPr>
                            <a:buNone/>
                          </a:pPr>
                          <a:r>
                            <a:rPr lang="en-US" sz="1500"/>
                            <a:t>G.add_edge('A','B',weight=5)</a:t>
                          </a:r>
                        </a:p>
                      </a:txBody>
                      <a:tcPr marL="75023" marR="75023" marT="37512" marB="37512" anchor="ctr"/>
                    </a:tc>
                    <a:extLst>
                      <a:ext uri="{0D108BD9-81ED-4DB2-BD59-A6C34878D82A}">
                        <a16:rowId xmlns:a16="http://schemas.microsoft.com/office/drawing/2014/main" val="3663380276"/>
                      </a:ext>
                    </a:extLst>
                  </a:tr>
                  <a:tr h="750231">
                    <a:tc>
                      <a:txBody>
                        <a:bodyPr/>
                        <a:lstStyle/>
                        <a:p>
                          <a:pPr>
                            <a:buNone/>
                          </a:pPr>
                          <a:r>
                            <a:rPr lang="es-CO" sz="1500" b="1"/>
                            <a:t>Bipartito</a:t>
                          </a:r>
                          <a:endParaRPr lang="es-CO" sz="1500"/>
                        </a:p>
                      </a:txBody>
                      <a:tcPr marL="75023" marR="75023" marT="37512" marB="37512" anchor="ctr"/>
                    </a:tc>
                    <a:tc>
                      <a:txBody>
                        <a:bodyPr/>
                        <a:lstStyle/>
                        <a:p>
                          <a:pPr>
                            <a:buNone/>
                          </a:pPr>
                          <a:r>
                            <a:rPr lang="pt-BR" sz="1500" dirty="0"/>
                            <a:t>dos conjuntos disjuntos de nodos</a:t>
                          </a:r>
                        </a:p>
                      </a:txBody>
                      <a:tcPr marL="75023" marR="75023" marT="37512" marB="37512" anchor="ctr"/>
                    </a:tc>
                    <a:tc>
                      <a:txBody>
                        <a:bodyPr/>
                        <a:lstStyle/>
                        <a:p>
                          <a:pPr>
                            <a:buNone/>
                          </a:pPr>
                          <a:r>
                            <a:rPr lang="es-CO" sz="1500" dirty="0"/>
                            <a:t>usuarios–hashtags</a:t>
                          </a:r>
                        </a:p>
                      </a:txBody>
                      <a:tcPr marL="75023" marR="75023" marT="37512" marB="37512" anchor="ctr"/>
                    </a:tc>
                    <a:tc>
                      <a:txBody>
                        <a:bodyPr/>
                        <a:lstStyle/>
                        <a:p>
                          <a:pPr>
                            <a:buNone/>
                          </a:pPr>
                          <a:r>
                            <a:rPr lang="es-CO" sz="1500"/>
                            <a:t>nx.Graph(), G.add_nodes_from(U,bipartite=0)</a:t>
                          </a:r>
                        </a:p>
                      </a:txBody>
                      <a:tcPr marL="75023" marR="75023" marT="37512" marB="37512" anchor="ctr"/>
                    </a:tc>
                    <a:extLst>
                      <a:ext uri="{0D108BD9-81ED-4DB2-BD59-A6C34878D82A}">
                        <a16:rowId xmlns:a16="http://schemas.microsoft.com/office/drawing/2014/main" val="2914332174"/>
                      </a:ext>
                    </a:extLst>
                  </a:tr>
                  <a:tr h="750231">
                    <a:tc gridSpan="4">
                      <a:txBody>
                        <a:bodyPr/>
                        <a:lstStyle/>
                        <a:p>
                          <a:pPr>
                            <a:buNone/>
                          </a:pPr>
                          <a:r>
                            <a:rPr lang="es-MX" sz="1500" b="1" dirty="0"/>
                            <a:t>Nota:</a:t>
                          </a:r>
                          <a:r>
                            <a:rPr lang="es-MX" sz="1500" dirty="0"/>
                            <a:t> el </a:t>
                          </a:r>
                          <a:r>
                            <a:rPr lang="es-MX" sz="1500" b="1" dirty="0"/>
                            <a:t>grado</a:t>
                          </a:r>
                          <a:r>
                            <a:rPr lang="es-MX" sz="1500" dirty="0"/>
                            <a:t> en grafos dirigidos se separa en </a:t>
                          </a:r>
                          <a:r>
                            <a:rPr lang="es-MX" sz="1500" dirty="0" err="1"/>
                            <a:t>in-degree</a:t>
                          </a:r>
                          <a:r>
                            <a:rPr lang="es-MX" sz="1500" dirty="0"/>
                            <a:t> y </a:t>
                          </a:r>
                          <a:r>
                            <a:rPr lang="es-MX" sz="1500" dirty="0" err="1"/>
                            <a:t>out-degree</a:t>
                          </a:r>
                          <a:r>
                            <a:rPr lang="es-MX" sz="1500" dirty="0"/>
                            <a:t>.</a:t>
                          </a:r>
                        </a:p>
                      </a:txBody>
                      <a:tcPr marL="75023" marR="75023" marT="37512" marB="37512" anchor="ctr"/>
                    </a:tc>
                    <a:tc hMerge="1">
                      <a:txBody>
                        <a:bodyPr/>
                        <a:lstStyle/>
                        <a:p>
                          <a:pPr>
                            <a:buNone/>
                          </a:pPr>
                          <a:endParaRPr lang="es-CO" sz="1500" dirty="0"/>
                        </a:p>
                      </a:txBody>
                      <a:tcPr marL="75023" marR="75023" marT="37512" marB="37512" anchor="ctr"/>
                    </a:tc>
                    <a:tc hMerge="1">
                      <a:txBody>
                        <a:bodyPr/>
                        <a:lstStyle/>
                        <a:p>
                          <a:pPr>
                            <a:buNone/>
                          </a:pPr>
                          <a:endParaRPr lang="es-CO" sz="1500" dirty="0"/>
                        </a:p>
                      </a:txBody>
                      <a:tcPr marL="75023" marR="75023" marT="37512" marB="37512" anchor="ctr"/>
                    </a:tc>
                    <a:tc hMerge="1">
                      <a:txBody>
                        <a:bodyPr/>
                        <a:lstStyle/>
                        <a:p>
                          <a:pPr>
                            <a:buNone/>
                          </a:pPr>
                          <a:endParaRPr lang="es-CO" sz="1500" dirty="0"/>
                        </a:p>
                      </a:txBody>
                      <a:tcPr marL="75023" marR="75023" marT="37512" marB="37512" anchor="ctr"/>
                    </a:tc>
                    <a:extLst>
                      <a:ext uri="{0D108BD9-81ED-4DB2-BD59-A6C34878D82A}">
                        <a16:rowId xmlns:a16="http://schemas.microsoft.com/office/drawing/2014/main" val="3757768133"/>
                      </a:ext>
                    </a:extLst>
                  </a:tr>
                </a:tbl>
              </a:graphicData>
            </a:graphic>
          </p:graphicFrame>
        </mc:Choice>
        <mc:Fallback xmlns="">
          <p:graphicFrame>
            <p:nvGraphicFramePr>
              <p:cNvPr id="6" name="Marcador de contenido 5">
                <a:extLst>
                  <a:ext uri="{FF2B5EF4-FFF2-40B4-BE49-F238E27FC236}">
                    <a16:creationId xmlns:a16="http://schemas.microsoft.com/office/drawing/2014/main" id="{353CF87C-9C07-01EF-CD04-6F6D0F51A91A}"/>
                  </a:ext>
                </a:extLst>
              </p:cNvPr>
              <p:cNvGraphicFramePr>
                <a:graphicFrameLocks noGrp="1"/>
              </p:cNvGraphicFramePr>
              <p:nvPr>
                <p:ph idx="1"/>
                <p:extLst>
                  <p:ext uri="{D42A27DB-BD31-4B8C-83A1-F6EECF244321}">
                    <p14:modId xmlns:p14="http://schemas.microsoft.com/office/powerpoint/2010/main" val="468476227"/>
                  </p:ext>
                </p:extLst>
              </p:nvPr>
            </p:nvGraphicFramePr>
            <p:xfrm>
              <a:off x="838200" y="1795610"/>
              <a:ext cx="10515600" cy="3390162"/>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val="468114175"/>
                        </a:ext>
                      </a:extLst>
                    </a:gridCol>
                    <a:gridCol w="2628900">
                      <a:extLst>
                        <a:ext uri="{9D8B030D-6E8A-4147-A177-3AD203B41FA5}">
                          <a16:colId xmlns:a16="http://schemas.microsoft.com/office/drawing/2014/main" val="4145704608"/>
                        </a:ext>
                      </a:extLst>
                    </a:gridCol>
                    <a:gridCol w="2628900">
                      <a:extLst>
                        <a:ext uri="{9D8B030D-6E8A-4147-A177-3AD203B41FA5}">
                          <a16:colId xmlns:a16="http://schemas.microsoft.com/office/drawing/2014/main" val="1862521704"/>
                        </a:ext>
                      </a:extLst>
                    </a:gridCol>
                    <a:gridCol w="2628900">
                      <a:extLst>
                        <a:ext uri="{9D8B030D-6E8A-4147-A177-3AD203B41FA5}">
                          <a16:colId xmlns:a16="http://schemas.microsoft.com/office/drawing/2014/main" val="3239266304"/>
                        </a:ext>
                      </a:extLst>
                    </a:gridCol>
                  </a:tblGrid>
                  <a:tr h="303624">
                    <a:tc>
                      <a:txBody>
                        <a:bodyPr/>
                        <a:lstStyle/>
                        <a:p>
                          <a:pPr algn="ctr">
                            <a:buNone/>
                          </a:pPr>
                          <a:r>
                            <a:rPr lang="es-CO" sz="1500" dirty="0"/>
                            <a:t>Tipo</a:t>
                          </a:r>
                        </a:p>
                      </a:txBody>
                      <a:tcPr marL="75023" marR="75023" marT="37512" marB="37512" anchor="ctr"/>
                    </a:tc>
                    <a:tc>
                      <a:txBody>
                        <a:bodyPr/>
                        <a:lstStyle/>
                        <a:p>
                          <a:pPr algn="ctr">
                            <a:buNone/>
                          </a:pPr>
                          <a:r>
                            <a:rPr lang="es-CO" sz="1500" dirty="0"/>
                            <a:t>Definición</a:t>
                          </a:r>
                        </a:p>
                      </a:txBody>
                      <a:tcPr marL="75023" marR="75023" marT="37512" marB="37512" anchor="ctr"/>
                    </a:tc>
                    <a:tc>
                      <a:txBody>
                        <a:bodyPr/>
                        <a:lstStyle/>
                        <a:p>
                          <a:pPr algn="ctr">
                            <a:buNone/>
                          </a:pPr>
                          <a:r>
                            <a:rPr lang="es-CO" sz="1500" dirty="0"/>
                            <a:t>Ejemplo social</a:t>
                          </a:r>
                        </a:p>
                      </a:txBody>
                      <a:tcPr marL="75023" marR="75023" marT="37512" marB="37512" anchor="ctr"/>
                    </a:tc>
                    <a:tc>
                      <a:txBody>
                        <a:bodyPr/>
                        <a:lstStyle/>
                        <a:p>
                          <a:pPr algn="ctr">
                            <a:buNone/>
                          </a:pPr>
                          <a:r>
                            <a:rPr lang="es-CO" sz="1500" dirty="0"/>
                            <a:t>Código mínimo</a:t>
                          </a:r>
                        </a:p>
                      </a:txBody>
                      <a:tcPr marL="75023" marR="75023" marT="37512" marB="37512" anchor="ctr"/>
                    </a:tc>
                    <a:extLst>
                      <a:ext uri="{0D108BD9-81ED-4DB2-BD59-A6C34878D82A}">
                        <a16:rowId xmlns:a16="http://schemas.microsoft.com/office/drawing/2014/main" val="1223968177"/>
                      </a:ext>
                    </a:extLst>
                  </a:tr>
                  <a:tr h="525161">
                    <a:tc>
                      <a:txBody>
                        <a:bodyPr/>
                        <a:lstStyle/>
                        <a:p>
                          <a:pPr>
                            <a:buNone/>
                          </a:pPr>
                          <a:r>
                            <a:rPr lang="es-CO" sz="1500" b="1"/>
                            <a:t>No dirigido</a:t>
                          </a:r>
                          <a:endParaRPr lang="es-CO" sz="1500"/>
                        </a:p>
                      </a:txBody>
                      <a:tcPr marL="75023" marR="75023" marT="37512" marB="37512" anchor="ctr"/>
                    </a:tc>
                    <a:tc>
                      <a:txBody>
                        <a:bodyPr/>
                        <a:lstStyle/>
                        <a:p>
                          <a:endParaRPr lang="es-CO"/>
                        </a:p>
                      </a:txBody>
                      <a:tcPr marL="75023" marR="75023" marT="37512" marB="37512" anchor="ctr">
                        <a:blipFill>
                          <a:blip r:embed="rId2"/>
                          <a:stretch>
                            <a:fillRect l="-100232" t="-60465" r="-200464" b="-490698"/>
                          </a:stretch>
                        </a:blipFill>
                      </a:tcPr>
                    </a:tc>
                    <a:tc>
                      <a:txBody>
                        <a:bodyPr/>
                        <a:lstStyle/>
                        <a:p>
                          <a:pPr>
                            <a:buNone/>
                          </a:pPr>
                          <a:r>
                            <a:rPr lang="es-CO" sz="1500"/>
                            <a:t>amistad</a:t>
                          </a:r>
                        </a:p>
                      </a:txBody>
                      <a:tcPr marL="75023" marR="75023" marT="37512" marB="37512" anchor="ctr"/>
                    </a:tc>
                    <a:tc>
                      <a:txBody>
                        <a:bodyPr/>
                        <a:lstStyle/>
                        <a:p>
                          <a:pPr>
                            <a:buNone/>
                          </a:pPr>
                          <a:r>
                            <a:rPr lang="es-CO" sz="1500"/>
                            <a:t>nx.Graph()</a:t>
                          </a:r>
                        </a:p>
                      </a:txBody>
                      <a:tcPr marL="75023" marR="75023" marT="37512" marB="37512" anchor="ctr"/>
                    </a:tc>
                    <a:extLst>
                      <a:ext uri="{0D108BD9-81ED-4DB2-BD59-A6C34878D82A}">
                        <a16:rowId xmlns:a16="http://schemas.microsoft.com/office/drawing/2014/main" val="3450694321"/>
                      </a:ext>
                    </a:extLst>
                  </a:tr>
                  <a:tr h="525161">
                    <a:tc>
                      <a:txBody>
                        <a:bodyPr/>
                        <a:lstStyle/>
                        <a:p>
                          <a:pPr>
                            <a:buNone/>
                          </a:pPr>
                          <a:r>
                            <a:rPr lang="es-CO" sz="1500" b="1" dirty="0"/>
                            <a:t>Dirigido</a:t>
                          </a:r>
                          <a:endParaRPr lang="es-CO" sz="1500" dirty="0"/>
                        </a:p>
                      </a:txBody>
                      <a:tcPr marL="75023" marR="75023" marT="37512" marB="37512" anchor="ctr"/>
                    </a:tc>
                    <a:tc>
                      <a:txBody>
                        <a:bodyPr/>
                        <a:lstStyle/>
                        <a:p>
                          <a:endParaRPr lang="es-CO"/>
                        </a:p>
                      </a:txBody>
                      <a:tcPr marL="75023" marR="75023" marT="37512" marB="37512" anchor="ctr">
                        <a:blipFill>
                          <a:blip r:embed="rId2"/>
                          <a:stretch>
                            <a:fillRect l="-100232" t="-160465" r="-200464" b="-390698"/>
                          </a:stretch>
                        </a:blipFill>
                      </a:tcPr>
                    </a:tc>
                    <a:tc>
                      <a:txBody>
                        <a:bodyPr/>
                        <a:lstStyle/>
                        <a:p>
                          <a:pPr>
                            <a:buNone/>
                          </a:pPr>
                          <a:r>
                            <a:rPr lang="es-CO" sz="1500"/>
                            <a:t>retuit</a:t>
                          </a:r>
                        </a:p>
                      </a:txBody>
                      <a:tcPr marL="75023" marR="75023" marT="37512" marB="37512" anchor="ctr"/>
                    </a:tc>
                    <a:tc>
                      <a:txBody>
                        <a:bodyPr/>
                        <a:lstStyle/>
                        <a:p>
                          <a:pPr>
                            <a:buNone/>
                          </a:pPr>
                          <a:r>
                            <a:rPr lang="es-CO" sz="1500"/>
                            <a:t>nx.DiGraph()</a:t>
                          </a:r>
                        </a:p>
                      </a:txBody>
                      <a:tcPr marL="75023" marR="75023" marT="37512" marB="37512" anchor="ctr"/>
                    </a:tc>
                    <a:extLst>
                      <a:ext uri="{0D108BD9-81ED-4DB2-BD59-A6C34878D82A}">
                        <a16:rowId xmlns:a16="http://schemas.microsoft.com/office/drawing/2014/main" val="2145462676"/>
                      </a:ext>
                    </a:extLst>
                  </a:tr>
                  <a:tr h="525161">
                    <a:tc>
                      <a:txBody>
                        <a:bodyPr/>
                        <a:lstStyle/>
                        <a:p>
                          <a:pPr>
                            <a:buNone/>
                          </a:pPr>
                          <a:r>
                            <a:rPr lang="es-CO" sz="1500" b="1"/>
                            <a:t>Ponderado</a:t>
                          </a:r>
                          <a:endParaRPr lang="es-CO" sz="1500"/>
                        </a:p>
                      </a:txBody>
                      <a:tcPr marL="75023" marR="75023" marT="37512" marB="37512" anchor="ctr"/>
                    </a:tc>
                    <a:tc>
                      <a:txBody>
                        <a:bodyPr/>
                        <a:lstStyle/>
                        <a:p>
                          <a:endParaRPr lang="es-CO"/>
                        </a:p>
                      </a:txBody>
                      <a:tcPr marL="75023" marR="75023" marT="37512" marB="37512" anchor="ctr">
                        <a:blipFill>
                          <a:blip r:embed="rId2"/>
                          <a:stretch>
                            <a:fillRect l="-100232" t="-257471" r="-200464" b="-286207"/>
                          </a:stretch>
                        </a:blipFill>
                      </a:tcPr>
                    </a:tc>
                    <a:tc>
                      <a:txBody>
                        <a:bodyPr/>
                        <a:lstStyle/>
                        <a:p>
                          <a:pPr>
                            <a:buNone/>
                          </a:pPr>
                          <a:r>
                            <a:rPr lang="es-CO" sz="1500" dirty="0"/>
                            <a:t>frecuencia de emails</a:t>
                          </a:r>
                        </a:p>
                      </a:txBody>
                      <a:tcPr marL="75023" marR="75023" marT="37512" marB="37512" anchor="ctr"/>
                    </a:tc>
                    <a:tc>
                      <a:txBody>
                        <a:bodyPr/>
                        <a:lstStyle/>
                        <a:p>
                          <a:pPr>
                            <a:buNone/>
                          </a:pPr>
                          <a:r>
                            <a:rPr lang="en-US" sz="1500"/>
                            <a:t>G.add_edge('A','B',weight=5)</a:t>
                          </a:r>
                        </a:p>
                      </a:txBody>
                      <a:tcPr marL="75023" marR="75023" marT="37512" marB="37512" anchor="ctr"/>
                    </a:tc>
                    <a:extLst>
                      <a:ext uri="{0D108BD9-81ED-4DB2-BD59-A6C34878D82A}">
                        <a16:rowId xmlns:a16="http://schemas.microsoft.com/office/drawing/2014/main" val="3663380276"/>
                      </a:ext>
                    </a:extLst>
                  </a:tr>
                  <a:tr h="760824">
                    <a:tc>
                      <a:txBody>
                        <a:bodyPr/>
                        <a:lstStyle/>
                        <a:p>
                          <a:pPr>
                            <a:buNone/>
                          </a:pPr>
                          <a:r>
                            <a:rPr lang="es-CO" sz="1500" b="1"/>
                            <a:t>Bipartito</a:t>
                          </a:r>
                          <a:endParaRPr lang="es-CO" sz="1500"/>
                        </a:p>
                      </a:txBody>
                      <a:tcPr marL="75023" marR="75023" marT="37512" marB="37512" anchor="ctr"/>
                    </a:tc>
                    <a:tc>
                      <a:txBody>
                        <a:bodyPr/>
                        <a:lstStyle/>
                        <a:p>
                          <a:pPr>
                            <a:buNone/>
                          </a:pPr>
                          <a:r>
                            <a:rPr lang="pt-BR" sz="1500" dirty="0"/>
                            <a:t>dos conjuntos disjuntos de nodos</a:t>
                          </a:r>
                        </a:p>
                      </a:txBody>
                      <a:tcPr marL="75023" marR="75023" marT="37512" marB="37512" anchor="ctr"/>
                    </a:tc>
                    <a:tc>
                      <a:txBody>
                        <a:bodyPr/>
                        <a:lstStyle/>
                        <a:p>
                          <a:pPr>
                            <a:buNone/>
                          </a:pPr>
                          <a:r>
                            <a:rPr lang="es-CO" sz="1500" dirty="0"/>
                            <a:t>usuarios–hashtags</a:t>
                          </a:r>
                        </a:p>
                      </a:txBody>
                      <a:tcPr marL="75023" marR="75023" marT="37512" marB="37512" anchor="ctr"/>
                    </a:tc>
                    <a:tc>
                      <a:txBody>
                        <a:bodyPr/>
                        <a:lstStyle/>
                        <a:p>
                          <a:pPr>
                            <a:buNone/>
                          </a:pPr>
                          <a:r>
                            <a:rPr lang="es-CO" sz="1500"/>
                            <a:t>nx.Graph(), G.add_nodes_from(U,bipartite=0)</a:t>
                          </a:r>
                        </a:p>
                      </a:txBody>
                      <a:tcPr marL="75023" marR="75023" marT="37512" marB="37512" anchor="ctr"/>
                    </a:tc>
                    <a:extLst>
                      <a:ext uri="{0D108BD9-81ED-4DB2-BD59-A6C34878D82A}">
                        <a16:rowId xmlns:a16="http://schemas.microsoft.com/office/drawing/2014/main" val="2914332174"/>
                      </a:ext>
                    </a:extLst>
                  </a:tr>
                  <a:tr h="750231">
                    <a:tc gridSpan="4">
                      <a:txBody>
                        <a:bodyPr/>
                        <a:lstStyle/>
                        <a:p>
                          <a:pPr>
                            <a:buNone/>
                          </a:pPr>
                          <a:r>
                            <a:rPr lang="es-MX" sz="1500" b="1" dirty="0"/>
                            <a:t>Nota:</a:t>
                          </a:r>
                          <a:r>
                            <a:rPr lang="es-MX" sz="1500" dirty="0"/>
                            <a:t> el </a:t>
                          </a:r>
                          <a:r>
                            <a:rPr lang="es-MX" sz="1500" b="1" dirty="0"/>
                            <a:t>grado</a:t>
                          </a:r>
                          <a:r>
                            <a:rPr lang="es-MX" sz="1500" dirty="0"/>
                            <a:t> en grafos dirigidos se separa en </a:t>
                          </a:r>
                          <a:r>
                            <a:rPr lang="es-MX" sz="1500" dirty="0" err="1"/>
                            <a:t>in-degree</a:t>
                          </a:r>
                          <a:r>
                            <a:rPr lang="es-MX" sz="1500" dirty="0"/>
                            <a:t> y </a:t>
                          </a:r>
                          <a:r>
                            <a:rPr lang="es-MX" sz="1500" dirty="0" err="1"/>
                            <a:t>out-degree</a:t>
                          </a:r>
                          <a:r>
                            <a:rPr lang="es-MX" sz="1500" dirty="0"/>
                            <a:t>.</a:t>
                          </a:r>
                        </a:p>
                      </a:txBody>
                      <a:tcPr marL="75023" marR="75023" marT="37512" marB="37512" anchor="ctr"/>
                    </a:tc>
                    <a:tc hMerge="1">
                      <a:txBody>
                        <a:bodyPr/>
                        <a:lstStyle/>
                        <a:p>
                          <a:pPr>
                            <a:buNone/>
                          </a:pPr>
                          <a:endParaRPr lang="es-CO" sz="1500" dirty="0"/>
                        </a:p>
                      </a:txBody>
                      <a:tcPr marL="75023" marR="75023" marT="37512" marB="37512" anchor="ctr"/>
                    </a:tc>
                    <a:tc hMerge="1">
                      <a:txBody>
                        <a:bodyPr/>
                        <a:lstStyle/>
                        <a:p>
                          <a:pPr>
                            <a:buNone/>
                          </a:pPr>
                          <a:endParaRPr lang="es-CO" sz="1500" dirty="0"/>
                        </a:p>
                      </a:txBody>
                      <a:tcPr marL="75023" marR="75023" marT="37512" marB="37512" anchor="ctr"/>
                    </a:tc>
                    <a:tc hMerge="1">
                      <a:txBody>
                        <a:bodyPr/>
                        <a:lstStyle/>
                        <a:p>
                          <a:pPr>
                            <a:buNone/>
                          </a:pPr>
                          <a:endParaRPr lang="es-CO" sz="1500" dirty="0"/>
                        </a:p>
                      </a:txBody>
                      <a:tcPr marL="75023" marR="75023" marT="37512" marB="37512" anchor="ctr"/>
                    </a:tc>
                    <a:extLst>
                      <a:ext uri="{0D108BD9-81ED-4DB2-BD59-A6C34878D82A}">
                        <a16:rowId xmlns:a16="http://schemas.microsoft.com/office/drawing/2014/main" val="3757768133"/>
                      </a:ext>
                    </a:extLst>
                  </a:tr>
                </a:tbl>
              </a:graphicData>
            </a:graphic>
          </p:graphicFrame>
        </mc:Fallback>
      </mc:AlternateContent>
    </p:spTree>
    <p:extLst>
      <p:ext uri="{BB962C8B-B14F-4D97-AF65-F5344CB8AC3E}">
        <p14:creationId xmlns:p14="http://schemas.microsoft.com/office/powerpoint/2010/main" val="676888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DB9D06-FBF9-E65C-C401-211E8B57EFC2}"/>
              </a:ext>
            </a:extLst>
          </p:cNvPr>
          <p:cNvSpPr>
            <a:spLocks noGrp="1"/>
          </p:cNvSpPr>
          <p:nvPr>
            <p:ph type="title"/>
          </p:nvPr>
        </p:nvSpPr>
        <p:spPr/>
        <p:txBody>
          <a:bodyPr>
            <a:normAutofit/>
          </a:bodyPr>
          <a:lstStyle/>
          <a:p>
            <a:pPr>
              <a:spcBef>
                <a:spcPts val="1800"/>
              </a:spcBef>
              <a:spcAft>
                <a:spcPts val="600"/>
              </a:spcAft>
            </a:pPr>
            <a:r>
              <a:rPr lang="es-MX" b="1" dirty="0">
                <a:solidFill>
                  <a:srgbClr val="0D0D0D"/>
                </a:solidFill>
                <a:latin typeface="ui-sans-serif"/>
              </a:rPr>
              <a:t>Representaciones y carga de datos</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AFDB1FE-786D-A104-D082-4DDAB4E67035}"/>
                  </a:ext>
                </a:extLst>
              </p:cNvPr>
              <p:cNvSpPr>
                <a:spLocks noGrp="1"/>
              </p:cNvSpPr>
              <p:nvPr>
                <p:ph sz="half" idx="1"/>
              </p:nvPr>
            </p:nvSpPr>
            <p:spPr/>
            <p:txBody>
              <a:bodyPr anchor="ctr"/>
              <a:lstStyle/>
              <a:p>
                <a:pPr>
                  <a:spcAft>
                    <a:spcPts val="1200"/>
                  </a:spcAft>
                </a:pPr>
                <a:r>
                  <a:rPr lang="es-CO" b="1" dirty="0">
                    <a:solidFill>
                      <a:srgbClr val="0D0D0D"/>
                    </a:solidFill>
                    <a:latin typeface="ui-sans-serif"/>
                  </a:rPr>
                  <a:t>Matriz de adyacencia</a:t>
                </a:r>
                <a:r>
                  <a:rPr lang="es-CO" dirty="0">
                    <a:solidFill>
                      <a:srgbClr val="0D0D0D"/>
                    </a:solidFill>
                    <a:latin typeface="ui-sans-serif"/>
                  </a:rPr>
                  <a:t> </a:t>
                </a:r>
                <a14:m>
                  <m:oMath xmlns:m="http://schemas.openxmlformats.org/officeDocument/2006/math">
                    <m:sSub>
                      <m:sSubPr>
                        <m:ctrlPr>
                          <a:rPr lang="es-CO" b="0" i="1" dirty="0" smtClean="0">
                            <a:solidFill>
                              <a:srgbClr val="0D0D0D"/>
                            </a:solidFill>
                            <a:latin typeface="Cambria Math" panose="02040503050406030204" pitchFamily="18" charset="0"/>
                          </a:rPr>
                        </m:ctrlPr>
                      </m:sSubPr>
                      <m:e>
                        <m:r>
                          <a:rPr lang="es-CO" i="1" dirty="0" smtClean="0">
                            <a:solidFill>
                              <a:srgbClr val="0D0D0D"/>
                            </a:solidFill>
                            <a:latin typeface="Cambria Math" panose="02040503050406030204" pitchFamily="18" charset="0"/>
                          </a:rPr>
                          <m:t>𝐴</m:t>
                        </m:r>
                      </m:e>
                      <m:sub>
                        <m:r>
                          <a:rPr lang="es-CO" b="0" i="1" dirty="0" smtClean="0">
                            <a:solidFill>
                              <a:srgbClr val="0D0D0D"/>
                            </a:solidFill>
                            <a:latin typeface="Cambria Math" panose="02040503050406030204" pitchFamily="18" charset="0"/>
                          </a:rPr>
                          <m:t>𝑖𝑗</m:t>
                        </m:r>
                      </m:sub>
                    </m:sSub>
                    <m:r>
                      <a:rPr lang="es-CO" i="1" dirty="0">
                        <a:solidFill>
                          <a:srgbClr val="0D0D0D"/>
                        </a:solidFill>
                        <a:latin typeface="Cambria Math" panose="02040503050406030204" pitchFamily="18" charset="0"/>
                      </a:rPr>
                      <m:t>=1</m:t>
                    </m:r>
                  </m:oMath>
                </a14:m>
                <a:r>
                  <a:rPr lang="es-CO" dirty="0">
                    <a:solidFill>
                      <a:srgbClr val="0D0D0D"/>
                    </a:solidFill>
                    <a:latin typeface="ui-sans-serif"/>
                  </a:rPr>
                  <a:t> si existe arista.</a:t>
                </a:r>
              </a:p>
              <a:p>
                <a:pPr marL="742950" lvl="1" indent="-285750">
                  <a:spcAft>
                    <a:spcPts val="1200"/>
                  </a:spcAft>
                </a:pPr>
                <a:r>
                  <a:rPr lang="es-CO" dirty="0">
                    <a:solidFill>
                      <a:srgbClr val="0D0D0D"/>
                    </a:solidFill>
                    <a:latin typeface="ui-sans-serif"/>
                  </a:rPr>
                  <a:t>Eficiente para álgebra lineal; costosa en redes dispersas.</a:t>
                </a:r>
              </a:p>
              <a:p>
                <a:pPr>
                  <a:spcAft>
                    <a:spcPts val="1200"/>
                  </a:spcAft>
                </a:pPr>
                <a:r>
                  <a:rPr lang="es-CO" b="1" dirty="0">
                    <a:solidFill>
                      <a:srgbClr val="0D0D0D"/>
                    </a:solidFill>
                    <a:latin typeface="ui-sans-serif"/>
                  </a:rPr>
                  <a:t>Lista de aristas / nodos</a:t>
                </a:r>
                <a:r>
                  <a:rPr lang="es-CO" dirty="0">
                    <a:solidFill>
                      <a:srgbClr val="0D0D0D"/>
                    </a:solidFill>
                    <a:latin typeface="ui-sans-serif"/>
                  </a:rPr>
                  <a:t>: flexible y ligera.</a:t>
                </a:r>
                <a:endParaRPr lang="es-CO" dirty="0"/>
              </a:p>
            </p:txBody>
          </p:sp>
        </mc:Choice>
        <mc:Fallback xmlns="">
          <p:sp>
            <p:nvSpPr>
              <p:cNvPr id="3" name="Marcador de contenido 2">
                <a:extLst>
                  <a:ext uri="{FF2B5EF4-FFF2-40B4-BE49-F238E27FC236}">
                    <a16:creationId xmlns:a16="http://schemas.microsoft.com/office/drawing/2014/main" id="{9AFDB1FE-786D-A104-D082-4DDAB4E67035}"/>
                  </a:ext>
                </a:extLst>
              </p:cNvPr>
              <p:cNvSpPr>
                <a:spLocks noGrp="1" noRot="1" noChangeAspect="1" noMove="1" noResize="1" noEditPoints="1" noAdjustHandles="1" noChangeArrowheads="1" noChangeShapeType="1" noTextEdit="1"/>
              </p:cNvSpPr>
              <p:nvPr>
                <p:ph sz="half" idx="1"/>
              </p:nvPr>
            </p:nvSpPr>
            <p:spPr>
              <a:blipFill>
                <a:blip r:embed="rId2"/>
                <a:stretch>
                  <a:fillRect l="-1647" r="-2824"/>
                </a:stretch>
              </a:blipFill>
            </p:spPr>
            <p:txBody>
              <a:bodyPr/>
              <a:lstStyle/>
              <a:p>
                <a:r>
                  <a:rPr lang="es-CO">
                    <a:noFill/>
                  </a:rPr>
                  <a:t> </a:t>
                </a:r>
              </a:p>
            </p:txBody>
          </p:sp>
        </mc:Fallback>
      </mc:AlternateContent>
      <p:pic>
        <p:nvPicPr>
          <p:cNvPr id="6" name="Marcador de contenido 5">
            <a:extLst>
              <a:ext uri="{FF2B5EF4-FFF2-40B4-BE49-F238E27FC236}">
                <a16:creationId xmlns:a16="http://schemas.microsoft.com/office/drawing/2014/main" id="{0BE6DDF5-2BC1-A08D-46EC-A36E272FF336}"/>
              </a:ext>
            </a:extLst>
          </p:cNvPr>
          <p:cNvPicPr>
            <a:picLocks noGrp="1" noChangeAspect="1"/>
          </p:cNvPicPr>
          <p:nvPr>
            <p:ph sz="half" idx="2"/>
          </p:nvPr>
        </p:nvPicPr>
        <p:blipFill>
          <a:blip r:embed="rId3"/>
          <a:stretch>
            <a:fillRect/>
          </a:stretch>
        </p:blipFill>
        <p:spPr>
          <a:xfrm>
            <a:off x="6172200" y="1690688"/>
            <a:ext cx="5181600" cy="2201705"/>
          </a:xfrm>
          <a:prstGeom prst="rect">
            <a:avLst/>
          </a:prstGeom>
        </p:spPr>
      </p:pic>
      <p:graphicFrame>
        <p:nvGraphicFramePr>
          <p:cNvPr id="7" name="Tabla 6">
            <a:extLst>
              <a:ext uri="{FF2B5EF4-FFF2-40B4-BE49-F238E27FC236}">
                <a16:creationId xmlns:a16="http://schemas.microsoft.com/office/drawing/2014/main" id="{2C9CCBDB-7C84-2B80-8F19-6EFC7A502747}"/>
              </a:ext>
            </a:extLst>
          </p:cNvPr>
          <p:cNvGraphicFramePr>
            <a:graphicFrameLocks noGrp="1"/>
          </p:cNvGraphicFramePr>
          <p:nvPr>
            <p:extLst>
              <p:ext uri="{D42A27DB-BD31-4B8C-83A1-F6EECF244321}">
                <p14:modId xmlns:p14="http://schemas.microsoft.com/office/powerpoint/2010/main" val="280571215"/>
              </p:ext>
            </p:extLst>
          </p:nvPr>
        </p:nvGraphicFramePr>
        <p:xfrm>
          <a:off x="7631522" y="4001294"/>
          <a:ext cx="2757434" cy="2595880"/>
        </p:xfrm>
        <a:graphic>
          <a:graphicData uri="http://schemas.openxmlformats.org/drawingml/2006/table">
            <a:tbl>
              <a:tblPr firstRow="1" bandRow="1">
                <a:tableStyleId>{5C22544A-7EE6-4342-B048-85BDC9FD1C3A}</a:tableStyleId>
              </a:tblPr>
              <a:tblGrid>
                <a:gridCol w="964565">
                  <a:extLst>
                    <a:ext uri="{9D8B030D-6E8A-4147-A177-3AD203B41FA5}">
                      <a16:colId xmlns:a16="http://schemas.microsoft.com/office/drawing/2014/main" val="699226630"/>
                    </a:ext>
                  </a:extLst>
                </a:gridCol>
                <a:gridCol w="856869">
                  <a:extLst>
                    <a:ext uri="{9D8B030D-6E8A-4147-A177-3AD203B41FA5}">
                      <a16:colId xmlns:a16="http://schemas.microsoft.com/office/drawing/2014/main" val="2240521870"/>
                    </a:ext>
                  </a:extLst>
                </a:gridCol>
                <a:gridCol w="936000">
                  <a:extLst>
                    <a:ext uri="{9D8B030D-6E8A-4147-A177-3AD203B41FA5}">
                      <a16:colId xmlns:a16="http://schemas.microsoft.com/office/drawing/2014/main" val="2099314297"/>
                    </a:ext>
                  </a:extLst>
                </a:gridCol>
              </a:tblGrid>
              <a:tr h="370840">
                <a:tc>
                  <a:txBody>
                    <a:bodyPr/>
                    <a:lstStyle/>
                    <a:p>
                      <a:pPr algn="ctr"/>
                      <a:r>
                        <a:rPr lang="es-CO" dirty="0" err="1"/>
                        <a:t>Source</a:t>
                      </a:r>
                      <a:endParaRPr lang="es-CO" dirty="0"/>
                    </a:p>
                  </a:txBody>
                  <a:tcPr/>
                </a:tc>
                <a:tc>
                  <a:txBody>
                    <a:bodyPr/>
                    <a:lstStyle/>
                    <a:p>
                      <a:pPr algn="ctr"/>
                      <a:r>
                        <a:rPr lang="es-CO" dirty="0"/>
                        <a:t>Target</a:t>
                      </a:r>
                    </a:p>
                  </a:txBody>
                  <a:tcPr/>
                </a:tc>
                <a:tc>
                  <a:txBody>
                    <a:bodyPr/>
                    <a:lstStyle/>
                    <a:p>
                      <a:pPr algn="ctr"/>
                      <a:r>
                        <a:rPr lang="es-CO" dirty="0" err="1"/>
                        <a:t>Weight</a:t>
                      </a:r>
                      <a:endParaRPr lang="es-CO" dirty="0"/>
                    </a:p>
                  </a:txBody>
                  <a:tcPr/>
                </a:tc>
                <a:extLst>
                  <a:ext uri="{0D108BD9-81ED-4DB2-BD59-A6C34878D82A}">
                    <a16:rowId xmlns:a16="http://schemas.microsoft.com/office/drawing/2014/main" val="1955695319"/>
                  </a:ext>
                </a:extLst>
              </a:tr>
              <a:tr h="370840">
                <a:tc>
                  <a:txBody>
                    <a:bodyPr/>
                    <a:lstStyle/>
                    <a:p>
                      <a:pPr algn="ctr"/>
                      <a:r>
                        <a:rPr lang="es-CO" dirty="0"/>
                        <a:t>1</a:t>
                      </a:r>
                    </a:p>
                  </a:txBody>
                  <a:tcPr/>
                </a:tc>
                <a:tc>
                  <a:txBody>
                    <a:bodyPr/>
                    <a:lstStyle/>
                    <a:p>
                      <a:pPr algn="ctr"/>
                      <a:r>
                        <a:rPr lang="es-CO" dirty="0"/>
                        <a:t>2</a:t>
                      </a:r>
                    </a:p>
                  </a:txBody>
                  <a:tcPr/>
                </a:tc>
                <a:tc>
                  <a:txBody>
                    <a:bodyPr/>
                    <a:lstStyle/>
                    <a:p>
                      <a:pPr algn="ctr"/>
                      <a:r>
                        <a:rPr lang="es-CO" dirty="0"/>
                        <a:t>1</a:t>
                      </a:r>
                    </a:p>
                  </a:txBody>
                  <a:tcPr/>
                </a:tc>
                <a:extLst>
                  <a:ext uri="{0D108BD9-81ED-4DB2-BD59-A6C34878D82A}">
                    <a16:rowId xmlns:a16="http://schemas.microsoft.com/office/drawing/2014/main" val="1240592554"/>
                  </a:ext>
                </a:extLst>
              </a:tr>
              <a:tr h="370840">
                <a:tc>
                  <a:txBody>
                    <a:bodyPr/>
                    <a:lstStyle/>
                    <a:p>
                      <a:pPr algn="ctr"/>
                      <a:r>
                        <a:rPr lang="es-CO" dirty="0"/>
                        <a:t>1</a:t>
                      </a:r>
                    </a:p>
                  </a:txBody>
                  <a:tcPr/>
                </a:tc>
                <a:tc>
                  <a:txBody>
                    <a:bodyPr/>
                    <a:lstStyle/>
                    <a:p>
                      <a:pPr algn="ctr"/>
                      <a:r>
                        <a:rPr lang="es-CO" dirty="0"/>
                        <a:t>4</a:t>
                      </a:r>
                    </a:p>
                  </a:txBody>
                  <a:tcPr/>
                </a:tc>
                <a:tc>
                  <a:txBody>
                    <a:bodyPr/>
                    <a:lstStyle/>
                    <a:p>
                      <a:pPr algn="ctr"/>
                      <a:r>
                        <a:rPr lang="es-CO" dirty="0"/>
                        <a:t>1</a:t>
                      </a:r>
                    </a:p>
                  </a:txBody>
                  <a:tcPr/>
                </a:tc>
                <a:extLst>
                  <a:ext uri="{0D108BD9-81ED-4DB2-BD59-A6C34878D82A}">
                    <a16:rowId xmlns:a16="http://schemas.microsoft.com/office/drawing/2014/main" val="3774342043"/>
                  </a:ext>
                </a:extLst>
              </a:tr>
              <a:tr h="370840">
                <a:tc>
                  <a:txBody>
                    <a:bodyPr/>
                    <a:lstStyle/>
                    <a:p>
                      <a:pPr algn="ctr"/>
                      <a:r>
                        <a:rPr lang="es-CO" dirty="0"/>
                        <a:t>2</a:t>
                      </a:r>
                    </a:p>
                  </a:txBody>
                  <a:tcPr/>
                </a:tc>
                <a:tc>
                  <a:txBody>
                    <a:bodyPr/>
                    <a:lstStyle/>
                    <a:p>
                      <a:pPr algn="ctr"/>
                      <a:r>
                        <a:rPr lang="es-CO" dirty="0"/>
                        <a:t>3</a:t>
                      </a:r>
                    </a:p>
                  </a:txBody>
                  <a:tcPr/>
                </a:tc>
                <a:tc>
                  <a:txBody>
                    <a:bodyPr/>
                    <a:lstStyle/>
                    <a:p>
                      <a:pPr algn="ctr"/>
                      <a:r>
                        <a:rPr lang="es-CO" dirty="0"/>
                        <a:t>1</a:t>
                      </a:r>
                    </a:p>
                  </a:txBody>
                  <a:tcPr/>
                </a:tc>
                <a:extLst>
                  <a:ext uri="{0D108BD9-81ED-4DB2-BD59-A6C34878D82A}">
                    <a16:rowId xmlns:a16="http://schemas.microsoft.com/office/drawing/2014/main" val="1910308131"/>
                  </a:ext>
                </a:extLst>
              </a:tr>
              <a:tr h="370840">
                <a:tc>
                  <a:txBody>
                    <a:bodyPr/>
                    <a:lstStyle/>
                    <a:p>
                      <a:pPr algn="ctr"/>
                      <a:r>
                        <a:rPr lang="es-CO" dirty="0"/>
                        <a:t>2</a:t>
                      </a:r>
                    </a:p>
                  </a:txBody>
                  <a:tcPr/>
                </a:tc>
                <a:tc>
                  <a:txBody>
                    <a:bodyPr/>
                    <a:lstStyle/>
                    <a:p>
                      <a:pPr algn="ctr"/>
                      <a:r>
                        <a:rPr lang="es-CO" dirty="0"/>
                        <a:t>5</a:t>
                      </a:r>
                    </a:p>
                  </a:txBody>
                  <a:tcPr/>
                </a:tc>
                <a:tc>
                  <a:txBody>
                    <a:bodyPr/>
                    <a:lstStyle/>
                    <a:p>
                      <a:pPr algn="ctr"/>
                      <a:r>
                        <a:rPr lang="es-CO" dirty="0"/>
                        <a:t>1</a:t>
                      </a:r>
                    </a:p>
                  </a:txBody>
                  <a:tcPr/>
                </a:tc>
                <a:extLst>
                  <a:ext uri="{0D108BD9-81ED-4DB2-BD59-A6C34878D82A}">
                    <a16:rowId xmlns:a16="http://schemas.microsoft.com/office/drawing/2014/main" val="3557699997"/>
                  </a:ext>
                </a:extLst>
              </a:tr>
              <a:tr h="370840">
                <a:tc>
                  <a:txBody>
                    <a:bodyPr/>
                    <a:lstStyle/>
                    <a:p>
                      <a:pPr algn="ctr"/>
                      <a:r>
                        <a:rPr lang="es-CO" dirty="0"/>
                        <a:t>3</a:t>
                      </a:r>
                    </a:p>
                  </a:txBody>
                  <a:tcPr/>
                </a:tc>
                <a:tc>
                  <a:txBody>
                    <a:bodyPr/>
                    <a:lstStyle/>
                    <a:p>
                      <a:pPr algn="ctr"/>
                      <a:r>
                        <a:rPr lang="es-CO" dirty="0"/>
                        <a:t>4</a:t>
                      </a:r>
                    </a:p>
                  </a:txBody>
                  <a:tcPr/>
                </a:tc>
                <a:tc>
                  <a:txBody>
                    <a:bodyPr/>
                    <a:lstStyle/>
                    <a:p>
                      <a:pPr algn="ctr"/>
                      <a:r>
                        <a:rPr lang="es-CO" dirty="0"/>
                        <a:t>1</a:t>
                      </a:r>
                    </a:p>
                  </a:txBody>
                  <a:tcPr/>
                </a:tc>
                <a:extLst>
                  <a:ext uri="{0D108BD9-81ED-4DB2-BD59-A6C34878D82A}">
                    <a16:rowId xmlns:a16="http://schemas.microsoft.com/office/drawing/2014/main" val="3509481628"/>
                  </a:ext>
                </a:extLst>
              </a:tr>
              <a:tr h="370840">
                <a:tc>
                  <a:txBody>
                    <a:bodyPr/>
                    <a:lstStyle/>
                    <a:p>
                      <a:pPr algn="ctr"/>
                      <a:r>
                        <a:rPr lang="es-CO" dirty="0"/>
                        <a:t>4</a:t>
                      </a:r>
                    </a:p>
                  </a:txBody>
                  <a:tcPr/>
                </a:tc>
                <a:tc>
                  <a:txBody>
                    <a:bodyPr/>
                    <a:lstStyle/>
                    <a:p>
                      <a:pPr algn="ctr"/>
                      <a:r>
                        <a:rPr lang="es-CO" dirty="0"/>
                        <a:t>5</a:t>
                      </a:r>
                    </a:p>
                  </a:txBody>
                  <a:tcPr/>
                </a:tc>
                <a:tc>
                  <a:txBody>
                    <a:bodyPr/>
                    <a:lstStyle/>
                    <a:p>
                      <a:pPr algn="ctr"/>
                      <a:r>
                        <a:rPr lang="es-CO" dirty="0"/>
                        <a:t>1</a:t>
                      </a:r>
                    </a:p>
                  </a:txBody>
                  <a:tcPr/>
                </a:tc>
                <a:extLst>
                  <a:ext uri="{0D108BD9-81ED-4DB2-BD59-A6C34878D82A}">
                    <a16:rowId xmlns:a16="http://schemas.microsoft.com/office/drawing/2014/main" val="3302361862"/>
                  </a:ext>
                </a:extLst>
              </a:tr>
            </a:tbl>
          </a:graphicData>
        </a:graphic>
      </p:graphicFrame>
    </p:spTree>
    <p:extLst>
      <p:ext uri="{BB962C8B-B14F-4D97-AF65-F5344CB8AC3E}">
        <p14:creationId xmlns:p14="http://schemas.microsoft.com/office/powerpoint/2010/main" val="64799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A50D21-D875-CA90-B504-5CED5CE76C0B}"/>
              </a:ext>
            </a:extLst>
          </p:cNvPr>
          <p:cNvSpPr>
            <a:spLocks noGrp="1"/>
          </p:cNvSpPr>
          <p:nvPr>
            <p:ph type="title"/>
          </p:nvPr>
        </p:nvSpPr>
        <p:spPr/>
        <p:txBody>
          <a:bodyPr/>
          <a:lstStyle/>
          <a:p>
            <a:r>
              <a:rPr lang="es-CO" b="1" dirty="0"/>
              <a:t>Ejercicio práctico: Karate Club</a:t>
            </a:r>
          </a:p>
        </p:txBody>
      </p:sp>
      <p:sp>
        <p:nvSpPr>
          <p:cNvPr id="3" name="Marcador de contenido 2">
            <a:extLst>
              <a:ext uri="{FF2B5EF4-FFF2-40B4-BE49-F238E27FC236}">
                <a16:creationId xmlns:a16="http://schemas.microsoft.com/office/drawing/2014/main" id="{1898614F-7FC1-E527-3E29-0CCAE82CFE78}"/>
              </a:ext>
            </a:extLst>
          </p:cNvPr>
          <p:cNvSpPr>
            <a:spLocks noGrp="1"/>
          </p:cNvSpPr>
          <p:nvPr>
            <p:ph idx="1"/>
          </p:nvPr>
        </p:nvSpPr>
        <p:spPr/>
        <p:txBody>
          <a:bodyPr>
            <a:normAutofit fontScale="70000" lnSpcReduction="20000"/>
          </a:bodyPr>
          <a:lstStyle/>
          <a:p>
            <a:pPr>
              <a:spcAft>
                <a:spcPts val="1200"/>
              </a:spcAft>
            </a:pPr>
            <a:r>
              <a:rPr lang="es-MX" b="1" dirty="0">
                <a:solidFill>
                  <a:srgbClr val="0D0D0D"/>
                </a:solidFill>
                <a:latin typeface="ui-sans-serif"/>
              </a:rPr>
              <a:t>Origen:</a:t>
            </a:r>
            <a:r>
              <a:rPr lang="es-MX" dirty="0">
                <a:solidFill>
                  <a:srgbClr val="0D0D0D"/>
                </a:solidFill>
                <a:latin typeface="ui-sans-serif"/>
              </a:rPr>
              <a:t> Estudio etnográfico de Wayne W. Zachary (1977) sobre 34 miembros de un club de karate en EE. UU.</a:t>
            </a:r>
          </a:p>
          <a:p>
            <a:pPr>
              <a:spcAft>
                <a:spcPts val="1200"/>
              </a:spcAft>
            </a:pPr>
            <a:r>
              <a:rPr lang="es-MX" b="1" dirty="0">
                <a:solidFill>
                  <a:srgbClr val="0D0D0D"/>
                </a:solidFill>
                <a:latin typeface="ui-sans-serif"/>
              </a:rPr>
              <a:t>Nodos:</a:t>
            </a:r>
            <a:r>
              <a:rPr lang="es-MX" dirty="0">
                <a:solidFill>
                  <a:srgbClr val="0D0D0D"/>
                </a:solidFill>
                <a:latin typeface="ui-sans-serif"/>
              </a:rPr>
              <a:t> Socios del club.</a:t>
            </a:r>
          </a:p>
          <a:p>
            <a:pPr>
              <a:spcAft>
                <a:spcPts val="1200"/>
              </a:spcAft>
            </a:pPr>
            <a:r>
              <a:rPr lang="es-MX" b="1" dirty="0">
                <a:solidFill>
                  <a:srgbClr val="0D0D0D"/>
                </a:solidFill>
                <a:latin typeface="ui-sans-serif"/>
              </a:rPr>
              <a:t>Aristas:</a:t>
            </a:r>
            <a:r>
              <a:rPr lang="es-MX" dirty="0">
                <a:solidFill>
                  <a:srgbClr val="0D0D0D"/>
                </a:solidFill>
                <a:latin typeface="ui-sans-serif"/>
              </a:rPr>
              <a:t> Relaciones de amistad observadas fuera del entrenamiento.</a:t>
            </a:r>
          </a:p>
          <a:p>
            <a:pPr>
              <a:spcAft>
                <a:spcPts val="1200"/>
              </a:spcAft>
            </a:pPr>
            <a:r>
              <a:rPr lang="es-MX" b="1" dirty="0">
                <a:solidFill>
                  <a:srgbClr val="0D0D0D"/>
                </a:solidFill>
                <a:latin typeface="ui-sans-serif"/>
              </a:rPr>
              <a:t>Contexto interesante:</a:t>
            </a:r>
            <a:r>
              <a:rPr lang="es-MX" dirty="0">
                <a:solidFill>
                  <a:srgbClr val="0D0D0D"/>
                </a:solidFill>
                <a:latin typeface="ui-sans-serif"/>
              </a:rPr>
              <a:t> Durante la investigación el club se dividió en dos facciones por un conflicto entre instructor y administrador; la partición real se usa como “verdad-terreno” para validar algoritmos de detección de comunidades.</a:t>
            </a:r>
          </a:p>
          <a:p>
            <a:pPr>
              <a:spcAft>
                <a:spcPts val="1200"/>
              </a:spcAft>
            </a:pPr>
            <a:r>
              <a:rPr lang="es-MX" b="1" dirty="0">
                <a:solidFill>
                  <a:srgbClr val="0D0D0D"/>
                </a:solidFill>
                <a:latin typeface="ui-sans-serif"/>
              </a:rPr>
              <a:t>Valor didáctico:</a:t>
            </a:r>
            <a:endParaRPr lang="es-MX" dirty="0">
              <a:solidFill>
                <a:srgbClr val="0D0D0D"/>
              </a:solidFill>
              <a:latin typeface="ui-sans-serif"/>
            </a:endParaRPr>
          </a:p>
          <a:p>
            <a:pPr marL="742950" lvl="1" indent="-285750">
              <a:spcAft>
                <a:spcPts val="1200"/>
              </a:spcAft>
            </a:pPr>
            <a:r>
              <a:rPr lang="es-MX" dirty="0">
                <a:solidFill>
                  <a:srgbClr val="0D0D0D"/>
                </a:solidFill>
                <a:latin typeface="ui-sans-serif"/>
              </a:rPr>
              <a:t>Grafo pequeño (34 × 78) que permite cálculo manual y visualización clara.</a:t>
            </a:r>
          </a:p>
          <a:p>
            <a:pPr marL="742950" lvl="1" indent="-285750">
              <a:spcAft>
                <a:spcPts val="1200"/>
              </a:spcAft>
            </a:pPr>
            <a:r>
              <a:rPr lang="es-MX" dirty="0">
                <a:solidFill>
                  <a:srgbClr val="0D0D0D"/>
                </a:solidFill>
                <a:latin typeface="ui-sans-serif"/>
              </a:rPr>
              <a:t>Presenta </a:t>
            </a:r>
            <a:r>
              <a:rPr lang="es-MX" dirty="0" err="1">
                <a:solidFill>
                  <a:srgbClr val="0D0D0D"/>
                </a:solidFill>
                <a:latin typeface="ui-sans-serif"/>
              </a:rPr>
              <a:t>hubs</a:t>
            </a:r>
            <a:r>
              <a:rPr lang="es-MX" dirty="0">
                <a:solidFill>
                  <a:srgbClr val="0D0D0D"/>
                </a:solidFill>
                <a:latin typeface="ui-sans-serif"/>
              </a:rPr>
              <a:t> y una división natural, ideal para ilustrar centralidad y modularidad.</a:t>
            </a:r>
          </a:p>
          <a:p>
            <a:pPr marL="742950" lvl="1" indent="-285750">
              <a:spcAft>
                <a:spcPts val="1200"/>
              </a:spcAft>
            </a:pPr>
            <a:r>
              <a:rPr lang="es-MX" dirty="0">
                <a:solidFill>
                  <a:srgbClr val="0D0D0D"/>
                </a:solidFill>
                <a:latin typeface="ui-sans-serif"/>
              </a:rPr>
              <a:t>Es el ejemplo clásico para contrastar resultados de </a:t>
            </a:r>
            <a:r>
              <a:rPr lang="es-MX" dirty="0" err="1">
                <a:solidFill>
                  <a:srgbClr val="0D0D0D"/>
                </a:solidFill>
                <a:latin typeface="ui-sans-serif"/>
              </a:rPr>
              <a:t>Girvan</a:t>
            </a:r>
            <a:r>
              <a:rPr lang="es-MX" dirty="0">
                <a:solidFill>
                  <a:srgbClr val="0D0D0D"/>
                </a:solidFill>
                <a:latin typeface="ui-sans-serif"/>
              </a:rPr>
              <a:t>–Newman, </a:t>
            </a:r>
            <a:r>
              <a:rPr lang="es-MX" dirty="0" err="1">
                <a:solidFill>
                  <a:srgbClr val="0D0D0D"/>
                </a:solidFill>
                <a:latin typeface="ui-sans-serif"/>
              </a:rPr>
              <a:t>Louvain</a:t>
            </a:r>
            <a:r>
              <a:rPr lang="es-MX" dirty="0">
                <a:solidFill>
                  <a:srgbClr val="0D0D0D"/>
                </a:solidFill>
                <a:latin typeface="ui-sans-serif"/>
              </a:rPr>
              <a:t> o k-</a:t>
            </a:r>
            <a:r>
              <a:rPr lang="es-MX" dirty="0" err="1">
                <a:solidFill>
                  <a:srgbClr val="0D0D0D"/>
                </a:solidFill>
                <a:latin typeface="ui-sans-serif"/>
              </a:rPr>
              <a:t>means</a:t>
            </a:r>
            <a:r>
              <a:rPr lang="es-MX" dirty="0">
                <a:solidFill>
                  <a:srgbClr val="0D0D0D"/>
                </a:solidFill>
                <a:latin typeface="ui-sans-serif"/>
              </a:rPr>
              <a:t> sobre grafos.</a:t>
            </a:r>
          </a:p>
          <a:p>
            <a:pPr>
              <a:spcAft>
                <a:spcPts val="1200"/>
              </a:spcAft>
            </a:pPr>
            <a:r>
              <a:rPr lang="es-MX" b="1" dirty="0">
                <a:solidFill>
                  <a:srgbClr val="0D0D0D"/>
                </a:solidFill>
                <a:latin typeface="ui-sans-serif"/>
              </a:rPr>
              <a:t>Referencia:</a:t>
            </a:r>
            <a:r>
              <a:rPr lang="es-MX" dirty="0">
                <a:solidFill>
                  <a:srgbClr val="0D0D0D"/>
                </a:solidFill>
                <a:latin typeface="ui-sans-serif"/>
              </a:rPr>
              <a:t> (Zachary, 1977).</a:t>
            </a:r>
          </a:p>
          <a:p>
            <a:endParaRPr lang="es-CO" dirty="0"/>
          </a:p>
        </p:txBody>
      </p:sp>
    </p:spTree>
    <p:extLst>
      <p:ext uri="{BB962C8B-B14F-4D97-AF65-F5344CB8AC3E}">
        <p14:creationId xmlns:p14="http://schemas.microsoft.com/office/powerpoint/2010/main" val="1990752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3A5984-EB61-1B65-4AA9-EE109487631B}"/>
              </a:ext>
            </a:extLst>
          </p:cNvPr>
          <p:cNvSpPr>
            <a:spLocks noGrp="1"/>
          </p:cNvSpPr>
          <p:nvPr>
            <p:ph type="title"/>
          </p:nvPr>
        </p:nvSpPr>
        <p:spPr/>
        <p:txBody>
          <a:bodyPr/>
          <a:lstStyle/>
          <a:p>
            <a:r>
              <a:rPr lang="es-MX" b="1" dirty="0">
                <a:solidFill>
                  <a:srgbClr val="0D0D0D"/>
                </a:solidFill>
                <a:latin typeface="ui-sans-serif"/>
              </a:rPr>
              <a:t>Métricas globales de la red</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CE29047-98F2-B2CC-5F39-856940D02BDC}"/>
                  </a:ext>
                </a:extLst>
              </p:cNvPr>
              <p:cNvSpPr>
                <a:spLocks noGrp="1"/>
              </p:cNvSpPr>
              <p:nvPr>
                <p:ph idx="1"/>
              </p:nvPr>
            </p:nvSpPr>
            <p:spPr>
              <a:xfrm>
                <a:off x="838200" y="1806772"/>
                <a:ext cx="10515600" cy="4351338"/>
              </a:xfrm>
            </p:spPr>
            <p:txBody>
              <a:bodyPr anchor="ctr">
                <a:normAutofit fontScale="92500" lnSpcReduction="10000"/>
              </a:bodyPr>
              <a:lstStyle/>
              <a:p>
                <a:pPr marL="0" indent="0">
                  <a:spcAft>
                    <a:spcPts val="1200"/>
                  </a:spcAft>
                  <a:buNone/>
                </a:pPr>
                <a:r>
                  <a:rPr lang="es-MX" b="1" dirty="0">
                    <a:solidFill>
                      <a:srgbClr val="0D0D0D"/>
                    </a:solidFill>
                    <a:latin typeface="ui-sans-serif"/>
                  </a:rPr>
                  <a:t>Distribución de grados</a:t>
                </a:r>
              </a:p>
              <a:p>
                <a:pPr marL="0" indent="0">
                  <a:buNone/>
                </a:pPr>
                <a:r>
                  <a:rPr lang="es-MX" dirty="0">
                    <a:latin typeface="ui-sans-serif"/>
                  </a:rPr>
                  <a:t>La distribución de grados de un grafo es la función que asigna a cada valor </a:t>
                </a:r>
                <a:r>
                  <a:rPr lang="es-MX" dirty="0" err="1">
                    <a:latin typeface="KaTeX_Main"/>
                  </a:rPr>
                  <a:t>k</a:t>
                </a:r>
                <a:r>
                  <a:rPr lang="es-MX" i="1" dirty="0" err="1">
                    <a:latin typeface="KaTeX_Math"/>
                  </a:rPr>
                  <a:t>k</a:t>
                </a:r>
                <a:r>
                  <a:rPr lang="es-MX" dirty="0">
                    <a:latin typeface="ui-sans-serif"/>
                  </a:rPr>
                  <a:t> la proporción de nodos que tienen grado </a:t>
                </a:r>
                <a:r>
                  <a:rPr lang="es-MX" i="1" dirty="0">
                    <a:latin typeface="KaTeX_Math"/>
                  </a:rPr>
                  <a:t>k</a:t>
                </a:r>
                <a:r>
                  <a:rPr lang="es-MX" dirty="0">
                    <a:latin typeface="ui-sans-serif"/>
                  </a:rPr>
                  <a:t>. En grafos dirigidos, puede estudiarse por separado para </a:t>
                </a:r>
                <a:r>
                  <a:rPr lang="es-MX" dirty="0" err="1">
                    <a:latin typeface="ui-sans-serif"/>
                  </a:rPr>
                  <a:t>in-degree</a:t>
                </a:r>
                <a:r>
                  <a:rPr lang="es-MX" dirty="0">
                    <a:latin typeface="ui-sans-serif"/>
                  </a:rPr>
                  <a:t> y </a:t>
                </a:r>
                <a:r>
                  <a:rPr lang="es-MX" dirty="0" err="1">
                    <a:latin typeface="ui-sans-serif"/>
                  </a:rPr>
                  <a:t>out-degree</a:t>
                </a:r>
                <a:r>
                  <a:rPr lang="es-MX" dirty="0">
                    <a:latin typeface="ui-sans-serif"/>
                  </a:rPr>
                  <a:t>.</a:t>
                </a:r>
              </a:p>
              <a:p>
                <a:pPr>
                  <a:buNone/>
                </a:pPr>
                <a:r>
                  <a:rPr lang="es-MX" b="1" dirty="0">
                    <a:latin typeface="ui-sans-serif"/>
                  </a:rPr>
                  <a:t>2. Formalización</a:t>
                </a:r>
                <a:endParaRPr lang="es-MX" dirty="0">
                  <a:latin typeface="ui-sans-serif"/>
                </a:endParaRPr>
              </a:p>
              <a:p>
                <a:pPr>
                  <a:spcAft>
                    <a:spcPts val="1200"/>
                  </a:spcAft>
                </a:pPr>
                <a:r>
                  <a:rPr lang="es-MX" dirty="0">
                    <a:latin typeface="ui-sans-serif"/>
                  </a:rPr>
                  <a:t>Sea </a:t>
                </a:r>
                <a14:m>
                  <m:oMath xmlns:m="http://schemas.openxmlformats.org/officeDocument/2006/math">
                    <m:r>
                      <a:rPr lang="es-MX" i="1" dirty="0" smtClean="0">
                        <a:latin typeface="Cambria Math" panose="02040503050406030204" pitchFamily="18" charset="0"/>
                      </a:rPr>
                      <m:t>𝑁</m:t>
                    </m:r>
                    <m:d>
                      <m:dPr>
                        <m:ctrlPr>
                          <a:rPr lang="es-MX" b="0" i="1" dirty="0" smtClean="0">
                            <a:latin typeface="Cambria Math" panose="02040503050406030204" pitchFamily="18" charset="0"/>
                          </a:rPr>
                        </m:ctrlPr>
                      </m:dPr>
                      <m:e>
                        <m:r>
                          <a:rPr lang="es-MX" b="0" i="1" dirty="0" smtClean="0">
                            <a:latin typeface="Cambria Math" panose="02040503050406030204" pitchFamily="18" charset="0"/>
                          </a:rPr>
                          <m:t>𝑘</m:t>
                        </m:r>
                      </m:e>
                    </m:d>
                  </m:oMath>
                </a14:m>
                <a:r>
                  <a:rPr lang="es-MX" dirty="0">
                    <a:latin typeface="ui-sans-serif"/>
                  </a:rPr>
                  <a:t> el número de nodos con grado</a:t>
                </a:r>
                <a:r>
                  <a:rPr lang="es-MX" dirty="0"/>
                  <a:t> </a:t>
                </a:r>
                <a14:m>
                  <m:oMath xmlns:m="http://schemas.openxmlformats.org/officeDocument/2006/math">
                    <m:r>
                      <a:rPr lang="es-MX" i="1" dirty="0">
                        <a:latin typeface="Cambria Math" panose="02040503050406030204" pitchFamily="18" charset="0"/>
                      </a:rPr>
                      <m:t>𝑘</m:t>
                    </m:r>
                  </m:oMath>
                </a14:m>
                <a:r>
                  <a:rPr lang="es-MX" dirty="0">
                    <a:latin typeface="ui-sans-serif"/>
                  </a:rPr>
                  <a:t>.</a:t>
                </a:r>
              </a:p>
              <a:p>
                <a:pPr>
                  <a:spcAft>
                    <a:spcPts val="1200"/>
                  </a:spcAft>
                </a:pPr>
                <a:r>
                  <a:rPr lang="es-MX" dirty="0">
                    <a:latin typeface="ui-sans-serif"/>
                  </a:rPr>
                  <a:t>La frecuencia relativa viene dada por</a:t>
                </a:r>
              </a:p>
              <a:p>
                <a:pPr marL="0" indent="0" algn="ctr">
                  <a:spcAft>
                    <a:spcPts val="1200"/>
                  </a:spcAft>
                  <a:buNone/>
                </a:pPr>
                <a14:m>
                  <m:oMath xmlns:m="http://schemas.openxmlformats.org/officeDocument/2006/math">
                    <m:r>
                      <a:rPr lang="es-MX" b="0" i="1" smtClean="0">
                        <a:latin typeface="Cambria Math" panose="02040503050406030204" pitchFamily="18" charset="0"/>
                      </a:rPr>
                      <m:t>𝑃</m:t>
                    </m:r>
                    <m:d>
                      <m:dPr>
                        <m:ctrlPr>
                          <a:rPr lang="es-MX" b="0" i="1" smtClean="0">
                            <a:latin typeface="Cambria Math" panose="02040503050406030204" pitchFamily="18" charset="0"/>
                          </a:rPr>
                        </m:ctrlPr>
                      </m:dPr>
                      <m:e>
                        <m:r>
                          <a:rPr lang="es-MX" b="0" i="1" smtClean="0">
                            <a:latin typeface="Cambria Math" panose="02040503050406030204" pitchFamily="18" charset="0"/>
                          </a:rPr>
                          <m:t>𝑘</m:t>
                        </m:r>
                      </m:e>
                    </m:d>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𝑁</m:t>
                        </m:r>
                        <m:d>
                          <m:dPr>
                            <m:ctrlPr>
                              <a:rPr lang="es-MX" b="0" i="1" smtClean="0">
                                <a:latin typeface="Cambria Math" panose="02040503050406030204" pitchFamily="18" charset="0"/>
                              </a:rPr>
                            </m:ctrlPr>
                          </m:dPr>
                          <m:e>
                            <m:r>
                              <a:rPr lang="es-MX" b="0" i="1" smtClean="0">
                                <a:latin typeface="Cambria Math" panose="02040503050406030204" pitchFamily="18" charset="0"/>
                              </a:rPr>
                              <m:t>𝑘</m:t>
                            </m:r>
                          </m:e>
                        </m:d>
                      </m:num>
                      <m:den>
                        <m:d>
                          <m:dPr>
                            <m:begChr m:val="|"/>
                            <m:endChr m:val="|"/>
                            <m:ctrlPr>
                              <a:rPr lang="es-MX" b="0" i="1" smtClean="0">
                                <a:latin typeface="Cambria Math" panose="02040503050406030204" pitchFamily="18" charset="0"/>
                              </a:rPr>
                            </m:ctrlPr>
                          </m:dPr>
                          <m:e>
                            <m:r>
                              <a:rPr lang="es-MX" b="0" i="1" smtClean="0">
                                <a:latin typeface="Cambria Math" panose="02040503050406030204" pitchFamily="18" charset="0"/>
                              </a:rPr>
                              <m:t>𝑉</m:t>
                            </m:r>
                          </m:e>
                        </m:d>
                      </m:den>
                    </m:f>
                  </m:oMath>
                </a14:m>
                <a:r>
                  <a:rPr lang="es-MX" dirty="0">
                    <a:latin typeface="KaTeX_Main"/>
                  </a:rPr>
                  <a:t>​,</a:t>
                </a:r>
              </a:p>
              <a:p>
                <a:pPr>
                  <a:spcAft>
                    <a:spcPts val="1200"/>
                  </a:spcAft>
                </a:pPr>
                <a:r>
                  <a:rPr lang="es-MX" dirty="0">
                    <a:latin typeface="ui-sans-serif"/>
                  </a:rPr>
                  <a:t>donde </a:t>
                </a:r>
                <a:r>
                  <a:rPr lang="es-MX" dirty="0"/>
                  <a:t> </a:t>
                </a:r>
                <a14:m>
                  <m:oMath xmlns:m="http://schemas.openxmlformats.org/officeDocument/2006/math">
                    <m:d>
                      <m:dPr>
                        <m:begChr m:val="|"/>
                        <m:endChr m:val="|"/>
                        <m:ctrlPr>
                          <a:rPr lang="es-MX" i="1">
                            <a:latin typeface="Cambria Math" panose="02040503050406030204" pitchFamily="18" charset="0"/>
                          </a:rPr>
                        </m:ctrlPr>
                      </m:dPr>
                      <m:e>
                        <m:r>
                          <a:rPr lang="es-MX" i="1">
                            <a:latin typeface="Cambria Math" panose="02040503050406030204" pitchFamily="18" charset="0"/>
                          </a:rPr>
                          <m:t>𝑉</m:t>
                        </m:r>
                      </m:e>
                    </m:d>
                    <m:r>
                      <a:rPr lang="es-MX" i="1">
                        <a:latin typeface="Cambria Math" panose="02040503050406030204" pitchFamily="18" charset="0"/>
                      </a:rPr>
                      <m:t> </m:t>
                    </m:r>
                  </m:oMath>
                </a14:m>
                <a:r>
                  <a:rPr lang="es-MX" dirty="0">
                    <a:latin typeface="ui-sans-serif"/>
                  </a:rPr>
                  <a:t> es el número total de nodos (Newman, 2010).</a:t>
                </a:r>
              </a:p>
              <a:p>
                <a:pPr>
                  <a:spcAft>
                    <a:spcPts val="1200"/>
                  </a:spcAft>
                </a:pPr>
                <a:endParaRPr lang="es-CO" dirty="0"/>
              </a:p>
            </p:txBody>
          </p:sp>
        </mc:Choice>
        <mc:Fallback xmlns="">
          <p:sp>
            <p:nvSpPr>
              <p:cNvPr id="3" name="Marcador de contenido 2">
                <a:extLst>
                  <a:ext uri="{FF2B5EF4-FFF2-40B4-BE49-F238E27FC236}">
                    <a16:creationId xmlns:a16="http://schemas.microsoft.com/office/drawing/2014/main" id="{0CE29047-98F2-B2CC-5F39-856940D02BDC}"/>
                  </a:ext>
                </a:extLst>
              </p:cNvPr>
              <p:cNvSpPr>
                <a:spLocks noGrp="1" noRot="1" noChangeAspect="1" noMove="1" noResize="1" noEditPoints="1" noAdjustHandles="1" noChangeArrowheads="1" noChangeShapeType="1" noTextEdit="1"/>
              </p:cNvSpPr>
              <p:nvPr>
                <p:ph idx="1"/>
              </p:nvPr>
            </p:nvSpPr>
            <p:spPr>
              <a:xfrm>
                <a:off x="838200" y="1806772"/>
                <a:ext cx="10515600" cy="4351338"/>
              </a:xfrm>
              <a:blipFill>
                <a:blip r:embed="rId2"/>
                <a:stretch>
                  <a:fillRect l="-754" t="-4902" r="-464"/>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0AEFB3DC-8E1C-27F9-0919-0BF11E002ADD}"/>
              </a:ext>
            </a:extLst>
          </p:cNvPr>
          <p:cNvSpPr txBox="1"/>
          <p:nvPr/>
        </p:nvSpPr>
        <p:spPr>
          <a:xfrm>
            <a:off x="8016240" y="3287792"/>
            <a:ext cx="3606800" cy="3139321"/>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s-MX" sz="1400" b="1" dirty="0">
                <a:latin typeface="ui-sans-serif"/>
              </a:rPr>
              <a:t>Redes homogéneas</a:t>
            </a:r>
            <a:r>
              <a:rPr lang="es-MX" sz="1400" dirty="0">
                <a:latin typeface="ui-sans-serif"/>
              </a:rPr>
              <a:t> (</a:t>
            </a:r>
            <a:r>
              <a:rPr lang="es-MX" sz="1400" dirty="0" err="1">
                <a:latin typeface="ui-sans-serif"/>
              </a:rPr>
              <a:t>e.g</a:t>
            </a:r>
            <a:r>
              <a:rPr lang="es-MX" sz="1400" dirty="0">
                <a:latin typeface="ui-sans-serif"/>
              </a:rPr>
              <a:t>., grafo aleatorio): </a:t>
            </a:r>
            <a:r>
              <a:rPr lang="es-MX" sz="1400" dirty="0">
                <a:latin typeface="KaTeX_Main"/>
              </a:rPr>
              <a:t>P(k)</a:t>
            </a:r>
            <a:r>
              <a:rPr lang="es-MX" sz="1400" dirty="0">
                <a:latin typeface="ui-sans-serif"/>
              </a:rPr>
              <a:t> se concentra en torno a un valor medio; pocos nodos muy conectados.</a:t>
            </a:r>
          </a:p>
          <a:p>
            <a:pPr marL="285750" indent="-285750">
              <a:spcAft>
                <a:spcPts val="1200"/>
              </a:spcAft>
              <a:buFont typeface="Arial" panose="020B0604020202020204" pitchFamily="34" charset="0"/>
              <a:buChar char="•"/>
            </a:pPr>
            <a:r>
              <a:rPr lang="es-MX" sz="1400" b="1" dirty="0">
                <a:latin typeface="ui-sans-serif"/>
              </a:rPr>
              <a:t>Redes “</a:t>
            </a:r>
            <a:r>
              <a:rPr lang="es-MX" sz="1400" b="1" dirty="0" err="1">
                <a:latin typeface="ui-sans-serif"/>
              </a:rPr>
              <a:t>scale</a:t>
            </a:r>
            <a:r>
              <a:rPr lang="es-MX" sz="1400" b="1" dirty="0">
                <a:latin typeface="ui-sans-serif"/>
              </a:rPr>
              <a:t>-free”</a:t>
            </a:r>
            <a:r>
              <a:rPr lang="es-MX" sz="1400" dirty="0">
                <a:latin typeface="ui-sans-serif"/>
              </a:rPr>
              <a:t>: </a:t>
            </a:r>
            <a:r>
              <a:rPr lang="es-MX" sz="1400" dirty="0">
                <a:latin typeface="KaTeX_Main"/>
              </a:rPr>
              <a:t>P(k)</a:t>
            </a:r>
            <a:r>
              <a:rPr lang="es-MX" sz="1400" i="1" dirty="0">
                <a:latin typeface="KaTeX_Math"/>
              </a:rPr>
              <a:t> </a:t>
            </a:r>
            <a:r>
              <a:rPr lang="es-MX" sz="1400" dirty="0">
                <a:latin typeface="ui-sans-serif"/>
              </a:rPr>
              <a:t> sigue una ley de potencia, lo que implica una cola pesada; hay unos pocos nodos con grado muy alto, llamados </a:t>
            </a:r>
            <a:r>
              <a:rPr lang="es-MX" sz="1400" b="1" dirty="0" err="1">
                <a:latin typeface="ui-sans-serif"/>
              </a:rPr>
              <a:t>hubs</a:t>
            </a:r>
            <a:r>
              <a:rPr lang="es-MX" sz="1400" dirty="0">
                <a:latin typeface="ui-sans-serif"/>
              </a:rPr>
              <a:t> (</a:t>
            </a:r>
            <a:r>
              <a:rPr lang="es-MX" sz="1400" dirty="0" err="1">
                <a:latin typeface="ui-sans-serif"/>
              </a:rPr>
              <a:t>Barabási</a:t>
            </a:r>
            <a:r>
              <a:rPr lang="es-MX" sz="1400" dirty="0">
                <a:latin typeface="ui-sans-serif"/>
              </a:rPr>
              <a:t> &amp; Albert, 1999).</a:t>
            </a:r>
          </a:p>
          <a:p>
            <a:pPr marL="285750" indent="-285750">
              <a:spcAft>
                <a:spcPts val="1200"/>
              </a:spcAft>
              <a:buFont typeface="Arial" panose="020B0604020202020204" pitchFamily="34" charset="0"/>
              <a:buChar char="•"/>
            </a:pPr>
            <a:r>
              <a:rPr lang="es-MX" sz="1400" dirty="0">
                <a:latin typeface="ui-sans-serif"/>
              </a:rPr>
              <a:t>Los </a:t>
            </a:r>
            <a:r>
              <a:rPr lang="es-MX" sz="1400" b="1" dirty="0" err="1">
                <a:latin typeface="ui-sans-serif"/>
              </a:rPr>
              <a:t>hubs</a:t>
            </a:r>
            <a:r>
              <a:rPr lang="es-MX" sz="1400" dirty="0">
                <a:latin typeface="ui-sans-serif"/>
              </a:rPr>
              <a:t> son críticos para la cohesión y el flujo de información: su existencia se revela porque </a:t>
            </a:r>
            <a:r>
              <a:rPr lang="es-MX" sz="1400" i="1" dirty="0">
                <a:latin typeface="KaTeX_Math"/>
              </a:rPr>
              <a:t>P</a:t>
            </a:r>
            <a:r>
              <a:rPr lang="es-MX" sz="1400" dirty="0">
                <a:latin typeface="KaTeX_Main"/>
              </a:rPr>
              <a:t>(</a:t>
            </a:r>
            <a:r>
              <a:rPr lang="es-MX" sz="1400" i="1" dirty="0">
                <a:latin typeface="KaTeX_Math"/>
              </a:rPr>
              <a:t>k</a:t>
            </a:r>
            <a:r>
              <a:rPr lang="es-MX" sz="1400" dirty="0">
                <a:latin typeface="KaTeX_Main"/>
              </a:rPr>
              <a:t>)</a:t>
            </a:r>
            <a:r>
              <a:rPr lang="es-MX" sz="1400" dirty="0">
                <a:latin typeface="ui-sans-serif"/>
              </a:rPr>
              <a:t> decae lentamente en valores grandes de </a:t>
            </a:r>
            <a:r>
              <a:rPr lang="es-MX" sz="1400" i="1" dirty="0">
                <a:latin typeface="KaTeX_Math"/>
              </a:rPr>
              <a:t>k</a:t>
            </a:r>
            <a:r>
              <a:rPr lang="es-MX" sz="1400" dirty="0">
                <a:latin typeface="ui-sans-serif"/>
              </a:rPr>
              <a:t>.</a:t>
            </a:r>
          </a:p>
          <a:p>
            <a:endParaRPr lang="es-CO" sz="1400" dirty="0"/>
          </a:p>
        </p:txBody>
      </p:sp>
    </p:spTree>
    <p:extLst>
      <p:ext uri="{BB962C8B-B14F-4D97-AF65-F5344CB8AC3E}">
        <p14:creationId xmlns:p14="http://schemas.microsoft.com/office/powerpoint/2010/main" val="519102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rticular of hub and bridges in the retweet Graph nodes ∈ S (red) -... |  Download Scientific Diagram">
            <a:extLst>
              <a:ext uri="{FF2B5EF4-FFF2-40B4-BE49-F238E27FC236}">
                <a16:creationId xmlns:a16="http://schemas.microsoft.com/office/drawing/2014/main" id="{563F6F89-0999-2C9D-A5EB-C75F7BA702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7739" y="1363167"/>
            <a:ext cx="4122102" cy="41316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n example of complex brain network in graph theory, taken from... |  Download Scientific Diagram">
            <a:extLst>
              <a:ext uri="{FF2B5EF4-FFF2-40B4-BE49-F238E27FC236}">
                <a16:creationId xmlns:a16="http://schemas.microsoft.com/office/drawing/2014/main" id="{49A98393-5BCF-0D51-6C6C-8ED99C570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517208"/>
            <a:ext cx="5673725" cy="232956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BD4D3064-6B24-4A02-DE94-EB0DD028CB0F}"/>
              </a:ext>
            </a:extLst>
          </p:cNvPr>
          <p:cNvSpPr txBox="1"/>
          <p:nvPr/>
        </p:nvSpPr>
        <p:spPr>
          <a:xfrm>
            <a:off x="422274" y="3033792"/>
            <a:ext cx="6049645" cy="4216539"/>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s-MX" sz="2000" b="1" dirty="0">
                <a:latin typeface="ui-sans-serif"/>
              </a:rPr>
              <a:t>Redes homogéneas</a:t>
            </a:r>
            <a:r>
              <a:rPr lang="es-MX" sz="2000" dirty="0">
                <a:latin typeface="ui-sans-serif"/>
              </a:rPr>
              <a:t> (</a:t>
            </a:r>
            <a:r>
              <a:rPr lang="es-MX" sz="2000" dirty="0" err="1">
                <a:latin typeface="ui-sans-serif"/>
              </a:rPr>
              <a:t>e.g</a:t>
            </a:r>
            <a:r>
              <a:rPr lang="es-MX" sz="2000" dirty="0">
                <a:latin typeface="ui-sans-serif"/>
              </a:rPr>
              <a:t>., grafo aleatorio): </a:t>
            </a:r>
            <a:r>
              <a:rPr lang="es-MX" sz="2000" dirty="0">
                <a:latin typeface="KaTeX_Main"/>
              </a:rPr>
              <a:t>P(k)</a:t>
            </a:r>
            <a:r>
              <a:rPr lang="es-MX" sz="2000" dirty="0">
                <a:latin typeface="ui-sans-serif"/>
              </a:rPr>
              <a:t> se concentra en torno a un valor medio; pocos nodos muy conectados.</a:t>
            </a:r>
          </a:p>
          <a:p>
            <a:pPr marL="285750" indent="-285750">
              <a:spcAft>
                <a:spcPts val="1200"/>
              </a:spcAft>
              <a:buFont typeface="Arial" panose="020B0604020202020204" pitchFamily="34" charset="0"/>
              <a:buChar char="•"/>
            </a:pPr>
            <a:r>
              <a:rPr lang="es-MX" sz="2000" b="1" dirty="0">
                <a:latin typeface="ui-sans-serif"/>
              </a:rPr>
              <a:t>Redes “</a:t>
            </a:r>
            <a:r>
              <a:rPr lang="es-MX" sz="2000" b="1" dirty="0" err="1">
                <a:latin typeface="ui-sans-serif"/>
              </a:rPr>
              <a:t>scale</a:t>
            </a:r>
            <a:r>
              <a:rPr lang="es-MX" sz="2000" b="1" dirty="0">
                <a:latin typeface="ui-sans-serif"/>
              </a:rPr>
              <a:t>-free”</a:t>
            </a:r>
            <a:r>
              <a:rPr lang="es-MX" sz="2000" dirty="0">
                <a:latin typeface="ui-sans-serif"/>
              </a:rPr>
              <a:t>: </a:t>
            </a:r>
            <a:r>
              <a:rPr lang="es-MX" sz="2000" dirty="0">
                <a:latin typeface="KaTeX_Main"/>
              </a:rPr>
              <a:t>P(k)</a:t>
            </a:r>
            <a:r>
              <a:rPr lang="es-MX" sz="2000" i="1" dirty="0">
                <a:latin typeface="KaTeX_Math"/>
              </a:rPr>
              <a:t> </a:t>
            </a:r>
            <a:r>
              <a:rPr lang="es-MX" sz="2000" dirty="0">
                <a:latin typeface="ui-sans-serif"/>
              </a:rPr>
              <a:t> sigue una ley de potencia, lo que implica una cola pesada; hay unos pocos nodos con grado muy alto, llamados </a:t>
            </a:r>
            <a:r>
              <a:rPr lang="es-MX" sz="2000" b="1" dirty="0" err="1">
                <a:latin typeface="ui-sans-serif"/>
              </a:rPr>
              <a:t>hubs</a:t>
            </a:r>
            <a:r>
              <a:rPr lang="es-MX" sz="2000" dirty="0">
                <a:latin typeface="ui-sans-serif"/>
              </a:rPr>
              <a:t> (</a:t>
            </a:r>
            <a:r>
              <a:rPr lang="es-MX" sz="2000" dirty="0" err="1">
                <a:latin typeface="ui-sans-serif"/>
              </a:rPr>
              <a:t>Barabási</a:t>
            </a:r>
            <a:r>
              <a:rPr lang="es-MX" sz="2000" dirty="0">
                <a:latin typeface="ui-sans-serif"/>
              </a:rPr>
              <a:t> &amp; Albert, 1999).</a:t>
            </a:r>
          </a:p>
          <a:p>
            <a:pPr marL="285750" indent="-285750">
              <a:spcAft>
                <a:spcPts val="1200"/>
              </a:spcAft>
              <a:buFont typeface="Arial" panose="020B0604020202020204" pitchFamily="34" charset="0"/>
              <a:buChar char="•"/>
            </a:pPr>
            <a:r>
              <a:rPr lang="es-MX" sz="2000" dirty="0">
                <a:latin typeface="ui-sans-serif"/>
              </a:rPr>
              <a:t>Los </a:t>
            </a:r>
            <a:r>
              <a:rPr lang="es-MX" sz="2000" b="1" dirty="0" err="1">
                <a:latin typeface="ui-sans-serif"/>
              </a:rPr>
              <a:t>hubs</a:t>
            </a:r>
            <a:r>
              <a:rPr lang="es-MX" sz="2000" dirty="0">
                <a:latin typeface="ui-sans-serif"/>
              </a:rPr>
              <a:t> son críticos para la cohesión y el flujo de información: su existencia se revela porque </a:t>
            </a:r>
            <a:r>
              <a:rPr lang="es-MX" sz="2000" i="1" dirty="0">
                <a:latin typeface="KaTeX_Math"/>
              </a:rPr>
              <a:t>P</a:t>
            </a:r>
            <a:r>
              <a:rPr lang="es-MX" sz="2000" dirty="0">
                <a:latin typeface="KaTeX_Main"/>
              </a:rPr>
              <a:t>(</a:t>
            </a:r>
            <a:r>
              <a:rPr lang="es-MX" sz="2000" i="1" dirty="0">
                <a:latin typeface="KaTeX_Math"/>
              </a:rPr>
              <a:t>k</a:t>
            </a:r>
            <a:r>
              <a:rPr lang="es-MX" sz="2000" dirty="0">
                <a:latin typeface="KaTeX_Main"/>
              </a:rPr>
              <a:t>)</a:t>
            </a:r>
            <a:r>
              <a:rPr lang="es-MX" sz="2000" dirty="0">
                <a:latin typeface="ui-sans-serif"/>
              </a:rPr>
              <a:t> decae lentamente en valores grandes de </a:t>
            </a:r>
            <a:r>
              <a:rPr lang="es-MX" sz="2000" i="1" dirty="0">
                <a:latin typeface="KaTeX_Math"/>
              </a:rPr>
              <a:t>k</a:t>
            </a:r>
            <a:r>
              <a:rPr lang="es-MX" sz="2000" dirty="0">
                <a:latin typeface="ui-sans-serif"/>
              </a:rPr>
              <a:t>.</a:t>
            </a:r>
          </a:p>
          <a:p>
            <a:endParaRPr lang="es-CO" sz="2000" dirty="0"/>
          </a:p>
        </p:txBody>
      </p:sp>
    </p:spTree>
    <p:extLst>
      <p:ext uri="{BB962C8B-B14F-4D97-AF65-F5344CB8AC3E}">
        <p14:creationId xmlns:p14="http://schemas.microsoft.com/office/powerpoint/2010/main" val="3623058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96C66-5FB3-2288-E851-0D6A659158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E3644D-321C-BABE-2FD0-F451A02E5AA0}"/>
              </a:ext>
            </a:extLst>
          </p:cNvPr>
          <p:cNvSpPr>
            <a:spLocks noGrp="1"/>
          </p:cNvSpPr>
          <p:nvPr>
            <p:ph type="title"/>
          </p:nvPr>
        </p:nvSpPr>
        <p:spPr/>
        <p:txBody>
          <a:bodyPr/>
          <a:lstStyle/>
          <a:p>
            <a:r>
              <a:rPr lang="es-MX" b="1" dirty="0">
                <a:solidFill>
                  <a:srgbClr val="0D0D0D"/>
                </a:solidFill>
                <a:latin typeface="ui-sans-serif"/>
              </a:rPr>
              <a:t>Métricas globales de la red</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391939D-330A-FAED-565D-CFF03A3B6914}"/>
                  </a:ext>
                </a:extLst>
              </p:cNvPr>
              <p:cNvSpPr>
                <a:spLocks noGrp="1"/>
              </p:cNvSpPr>
              <p:nvPr>
                <p:ph idx="1"/>
              </p:nvPr>
            </p:nvSpPr>
            <p:spPr>
              <a:xfrm>
                <a:off x="838200" y="1806772"/>
                <a:ext cx="10515600" cy="4351338"/>
              </a:xfrm>
            </p:spPr>
            <p:txBody>
              <a:bodyPr anchor="ctr">
                <a:normAutofit/>
              </a:bodyPr>
              <a:lstStyle/>
              <a:p>
                <a:pPr marL="0" indent="0">
                  <a:spcAft>
                    <a:spcPts val="1200"/>
                  </a:spcAft>
                  <a:buNone/>
                </a:pPr>
                <a:r>
                  <a:rPr lang="es-MX" b="1" dirty="0">
                    <a:solidFill>
                      <a:srgbClr val="0D0D0D"/>
                    </a:solidFill>
                    <a:latin typeface="ui-sans-serif"/>
                  </a:rPr>
                  <a:t>Densidad:</a:t>
                </a:r>
              </a:p>
              <a:p>
                <a:pPr marL="0" indent="0">
                  <a:spcAft>
                    <a:spcPts val="1200"/>
                  </a:spcAft>
                  <a:buNone/>
                </a:pPr>
                <a:r>
                  <a:rPr lang="es-MX" dirty="0">
                    <a:latin typeface="ui-sans-serif"/>
                  </a:rPr>
                  <a:t>La </a:t>
                </a:r>
                <a:r>
                  <a:rPr lang="es-MX" b="1" dirty="0">
                    <a:latin typeface="ui-sans-serif"/>
                  </a:rPr>
                  <a:t>densidad</a:t>
                </a:r>
                <a:r>
                  <a:rPr lang="es-MX" dirty="0">
                    <a:latin typeface="ui-sans-serif"/>
                  </a:rPr>
                  <a:t> de un grafo mide el grado de conexión real frente al máximo posible. Indica qué tan “completo” está el grafo:</a:t>
                </a:r>
                <a:endParaRPr lang="es-MX" dirty="0">
                  <a:solidFill>
                    <a:srgbClr val="0D0D0D"/>
                  </a:solidFill>
                  <a:latin typeface="ui-sans-serif"/>
                </a:endParaRPr>
              </a:p>
              <a:p>
                <a:pPr>
                  <a:spcAft>
                    <a:spcPts val="1200"/>
                  </a:spcAft>
                </a:pPr>
                <a14:m>
                  <m:oMath xmlns:m="http://schemas.openxmlformats.org/officeDocument/2006/math">
                    <m:r>
                      <a:rPr lang="es-MX" i="1" dirty="0" smtClean="0">
                        <a:solidFill>
                          <a:srgbClr val="0D0D0D"/>
                        </a:solidFill>
                        <a:latin typeface="Cambria Math" panose="02040503050406030204" pitchFamily="18" charset="0"/>
                      </a:rPr>
                      <m:t>𝜌</m:t>
                    </m:r>
                    <m:r>
                      <a:rPr lang="es-MX" i="1" dirty="0" smtClean="0">
                        <a:solidFill>
                          <a:srgbClr val="0D0D0D"/>
                        </a:solidFill>
                        <a:latin typeface="Cambria Math" panose="02040503050406030204" pitchFamily="18" charset="0"/>
                      </a:rPr>
                      <m:t>=</m:t>
                    </m:r>
                    <m:f>
                      <m:fPr>
                        <m:ctrlPr>
                          <a:rPr lang="es-MX" b="0" i="1" dirty="0" smtClean="0">
                            <a:solidFill>
                              <a:srgbClr val="0D0D0D"/>
                            </a:solidFill>
                            <a:latin typeface="Cambria Math" panose="02040503050406030204" pitchFamily="18" charset="0"/>
                          </a:rPr>
                        </m:ctrlPr>
                      </m:fPr>
                      <m:num>
                        <m:d>
                          <m:dPr>
                            <m:begChr m:val="|"/>
                            <m:endChr m:val="|"/>
                            <m:ctrlPr>
                              <a:rPr lang="es-MX" i="1" dirty="0">
                                <a:solidFill>
                                  <a:srgbClr val="0D0D0D"/>
                                </a:solidFill>
                                <a:latin typeface="Cambria Math" panose="02040503050406030204" pitchFamily="18" charset="0"/>
                              </a:rPr>
                            </m:ctrlPr>
                          </m:dPr>
                          <m:e>
                            <m:r>
                              <a:rPr lang="es-CO" i="1" dirty="0">
                                <a:solidFill>
                                  <a:srgbClr val="0D0D0D"/>
                                </a:solidFill>
                                <a:latin typeface="Cambria Math" panose="02040503050406030204" pitchFamily="18" charset="0"/>
                              </a:rPr>
                              <m:t>𝐸</m:t>
                            </m:r>
                          </m:e>
                        </m:d>
                      </m:num>
                      <m:den>
                        <m:d>
                          <m:dPr>
                            <m:begChr m:val="|"/>
                            <m:endChr m:val="|"/>
                            <m:ctrlPr>
                              <a:rPr lang="es-MX" i="1" dirty="0">
                                <a:solidFill>
                                  <a:srgbClr val="0D0D0D"/>
                                </a:solidFill>
                                <a:latin typeface="Cambria Math" panose="02040503050406030204" pitchFamily="18" charset="0"/>
                              </a:rPr>
                            </m:ctrlPr>
                          </m:dPr>
                          <m:e>
                            <m:r>
                              <a:rPr lang="es-CO" i="1" dirty="0">
                                <a:solidFill>
                                  <a:srgbClr val="0D0D0D"/>
                                </a:solidFill>
                                <a:latin typeface="Cambria Math" panose="02040503050406030204" pitchFamily="18" charset="0"/>
                              </a:rPr>
                              <m:t>𝑉</m:t>
                            </m:r>
                          </m:e>
                        </m:d>
                        <m:d>
                          <m:dPr>
                            <m:ctrlPr>
                              <a:rPr lang="es-CO" i="1" dirty="0">
                                <a:solidFill>
                                  <a:srgbClr val="0D0D0D"/>
                                </a:solidFill>
                                <a:latin typeface="Cambria Math" panose="02040503050406030204" pitchFamily="18" charset="0"/>
                              </a:rPr>
                            </m:ctrlPr>
                          </m:dPr>
                          <m:e>
                            <m:d>
                              <m:dPr>
                                <m:begChr m:val="|"/>
                                <m:endChr m:val="|"/>
                                <m:ctrlPr>
                                  <a:rPr lang="es-MX" i="1" dirty="0">
                                    <a:solidFill>
                                      <a:srgbClr val="0D0D0D"/>
                                    </a:solidFill>
                                    <a:latin typeface="Cambria Math" panose="02040503050406030204" pitchFamily="18" charset="0"/>
                                  </a:rPr>
                                </m:ctrlPr>
                              </m:dPr>
                              <m:e>
                                <m:r>
                                  <a:rPr lang="es-CO" i="1" dirty="0">
                                    <a:solidFill>
                                      <a:srgbClr val="0D0D0D"/>
                                    </a:solidFill>
                                    <a:latin typeface="Cambria Math" panose="02040503050406030204" pitchFamily="18" charset="0"/>
                                  </a:rPr>
                                  <m:t>𝑉</m:t>
                                </m:r>
                              </m:e>
                            </m:d>
                            <m:r>
                              <a:rPr lang="es-MX" i="1" dirty="0">
                                <a:solidFill>
                                  <a:srgbClr val="0D0D0D"/>
                                </a:solidFill>
                                <a:latin typeface="Cambria Math" panose="02040503050406030204" pitchFamily="18" charset="0"/>
                              </a:rPr>
                              <m:t>−1</m:t>
                            </m:r>
                          </m:e>
                        </m:d>
                      </m:den>
                    </m:f>
                  </m:oMath>
                </a14:m>
                <a:r>
                  <a:rPr lang="es-MX" dirty="0">
                    <a:solidFill>
                      <a:srgbClr val="0D0D0D"/>
                    </a:solidFill>
                    <a:latin typeface="ui-sans-serif"/>
                  </a:rPr>
                  <a:t>, para grafos no dirigidos el denominador se divide por 2: </a:t>
                </a:r>
                <a14:m>
                  <m:oMath xmlns:m="http://schemas.openxmlformats.org/officeDocument/2006/math">
                    <m:r>
                      <a:rPr lang="es-MX" i="1" dirty="0">
                        <a:solidFill>
                          <a:srgbClr val="0D0D0D"/>
                        </a:solidFill>
                        <a:latin typeface="Cambria Math" panose="02040503050406030204" pitchFamily="18" charset="0"/>
                      </a:rPr>
                      <m:t>𝜌</m:t>
                    </m:r>
                    <m:r>
                      <a:rPr lang="es-MX" i="1" dirty="0">
                        <a:solidFill>
                          <a:srgbClr val="0D0D0D"/>
                        </a:solidFill>
                        <a:latin typeface="Cambria Math" panose="02040503050406030204" pitchFamily="18" charset="0"/>
                      </a:rPr>
                      <m:t>=2</m:t>
                    </m:r>
                    <m:f>
                      <m:fPr>
                        <m:ctrlPr>
                          <a:rPr lang="es-MX" i="1" dirty="0">
                            <a:solidFill>
                              <a:srgbClr val="0D0D0D"/>
                            </a:solidFill>
                            <a:latin typeface="Cambria Math" panose="02040503050406030204" pitchFamily="18" charset="0"/>
                          </a:rPr>
                        </m:ctrlPr>
                      </m:fPr>
                      <m:num>
                        <m:d>
                          <m:dPr>
                            <m:begChr m:val="|"/>
                            <m:endChr m:val="|"/>
                            <m:ctrlPr>
                              <a:rPr lang="es-MX" i="1" dirty="0">
                                <a:solidFill>
                                  <a:srgbClr val="0D0D0D"/>
                                </a:solidFill>
                                <a:latin typeface="Cambria Math" panose="02040503050406030204" pitchFamily="18" charset="0"/>
                              </a:rPr>
                            </m:ctrlPr>
                          </m:dPr>
                          <m:e>
                            <m:r>
                              <a:rPr lang="es-CO" i="1" dirty="0">
                                <a:solidFill>
                                  <a:srgbClr val="0D0D0D"/>
                                </a:solidFill>
                                <a:latin typeface="Cambria Math" panose="02040503050406030204" pitchFamily="18" charset="0"/>
                              </a:rPr>
                              <m:t>𝐸</m:t>
                            </m:r>
                          </m:e>
                        </m:d>
                      </m:num>
                      <m:den>
                        <m:d>
                          <m:dPr>
                            <m:begChr m:val="|"/>
                            <m:endChr m:val="|"/>
                            <m:ctrlPr>
                              <a:rPr lang="es-MX" i="1" dirty="0">
                                <a:solidFill>
                                  <a:srgbClr val="0D0D0D"/>
                                </a:solidFill>
                                <a:latin typeface="Cambria Math" panose="02040503050406030204" pitchFamily="18" charset="0"/>
                              </a:rPr>
                            </m:ctrlPr>
                          </m:dPr>
                          <m:e>
                            <m:r>
                              <a:rPr lang="es-CO" i="1" dirty="0">
                                <a:solidFill>
                                  <a:srgbClr val="0D0D0D"/>
                                </a:solidFill>
                                <a:latin typeface="Cambria Math" panose="02040503050406030204" pitchFamily="18" charset="0"/>
                              </a:rPr>
                              <m:t>𝑉</m:t>
                            </m:r>
                          </m:e>
                        </m:d>
                        <m:d>
                          <m:dPr>
                            <m:ctrlPr>
                              <a:rPr lang="es-CO" i="1" dirty="0">
                                <a:solidFill>
                                  <a:srgbClr val="0D0D0D"/>
                                </a:solidFill>
                                <a:latin typeface="Cambria Math" panose="02040503050406030204" pitchFamily="18" charset="0"/>
                              </a:rPr>
                            </m:ctrlPr>
                          </m:dPr>
                          <m:e>
                            <m:d>
                              <m:dPr>
                                <m:begChr m:val="|"/>
                                <m:endChr m:val="|"/>
                                <m:ctrlPr>
                                  <a:rPr lang="es-MX" i="1" dirty="0">
                                    <a:solidFill>
                                      <a:srgbClr val="0D0D0D"/>
                                    </a:solidFill>
                                    <a:latin typeface="Cambria Math" panose="02040503050406030204" pitchFamily="18" charset="0"/>
                                  </a:rPr>
                                </m:ctrlPr>
                              </m:dPr>
                              <m:e>
                                <m:r>
                                  <a:rPr lang="es-CO" i="1" dirty="0">
                                    <a:solidFill>
                                      <a:srgbClr val="0D0D0D"/>
                                    </a:solidFill>
                                    <a:latin typeface="Cambria Math" panose="02040503050406030204" pitchFamily="18" charset="0"/>
                                  </a:rPr>
                                  <m:t>𝑉</m:t>
                                </m:r>
                              </m:e>
                            </m:d>
                            <m:r>
                              <a:rPr lang="es-MX" i="1" dirty="0">
                                <a:solidFill>
                                  <a:srgbClr val="0D0D0D"/>
                                </a:solidFill>
                                <a:latin typeface="Cambria Math" panose="02040503050406030204" pitchFamily="18" charset="0"/>
                              </a:rPr>
                              <m:t>−1</m:t>
                            </m:r>
                          </m:e>
                        </m:d>
                      </m:den>
                    </m:f>
                  </m:oMath>
                </a14:m>
                <a:endParaRPr lang="es-MX" dirty="0">
                  <a:solidFill>
                    <a:srgbClr val="0D0D0D"/>
                  </a:solidFill>
                  <a:latin typeface="ui-sans-serif"/>
                </a:endParaRPr>
              </a:p>
              <a:p>
                <a:r>
                  <a:rPr lang="es-MX" b="1" dirty="0">
                    <a:latin typeface="ui-sans-serif"/>
                  </a:rPr>
                  <a:t>Interpretación</a:t>
                </a:r>
                <a:r>
                  <a:rPr lang="es-MX" dirty="0">
                    <a:latin typeface="ui-sans-serif"/>
                  </a:rPr>
                  <a:t>:</a:t>
                </a:r>
              </a:p>
              <a:p>
                <a:pPr lvl="1"/>
                <a:r>
                  <a:rPr lang="es-MX" dirty="0">
                    <a:latin typeface="ui-sans-serif"/>
                  </a:rPr>
                  <a:t>Valor cercano a 1: la mayoría de los nodos están conectados entre sí (grafo casi completo).</a:t>
                </a:r>
              </a:p>
              <a:p>
                <a:pPr lvl="1"/>
                <a:r>
                  <a:rPr lang="es-MX" dirty="0">
                    <a:latin typeface="ui-sans-serif"/>
                  </a:rPr>
                  <a:t>Valor cercano a 0: muy pocas conexiones, red dispersa o fragmentada.</a:t>
                </a:r>
                <a:endParaRPr lang="es-CO" dirty="0">
                  <a:latin typeface="ui-sans-serif"/>
                </a:endParaRPr>
              </a:p>
            </p:txBody>
          </p:sp>
        </mc:Choice>
        <mc:Fallback xmlns="">
          <p:sp>
            <p:nvSpPr>
              <p:cNvPr id="3" name="Marcador de contenido 2">
                <a:extLst>
                  <a:ext uri="{FF2B5EF4-FFF2-40B4-BE49-F238E27FC236}">
                    <a16:creationId xmlns:a16="http://schemas.microsoft.com/office/drawing/2014/main" id="{7391939D-330A-FAED-565D-CFF03A3B6914}"/>
                  </a:ext>
                </a:extLst>
              </p:cNvPr>
              <p:cNvSpPr>
                <a:spLocks noGrp="1" noRot="1" noChangeAspect="1" noMove="1" noResize="1" noEditPoints="1" noAdjustHandles="1" noChangeArrowheads="1" noChangeShapeType="1" noTextEdit="1"/>
              </p:cNvSpPr>
              <p:nvPr>
                <p:ph idx="1"/>
              </p:nvPr>
            </p:nvSpPr>
            <p:spPr>
              <a:xfrm>
                <a:off x="838200" y="1806772"/>
                <a:ext cx="10515600" cy="4351338"/>
              </a:xfrm>
              <a:blipFill>
                <a:blip r:embed="rId2"/>
                <a:stretch>
                  <a:fillRect l="-928"/>
                </a:stretch>
              </a:blipFill>
            </p:spPr>
            <p:txBody>
              <a:bodyPr/>
              <a:lstStyle/>
              <a:p>
                <a:r>
                  <a:rPr lang="es-CO">
                    <a:noFill/>
                  </a:rPr>
                  <a:t> </a:t>
                </a:r>
              </a:p>
            </p:txBody>
          </p:sp>
        </mc:Fallback>
      </mc:AlternateContent>
    </p:spTree>
    <p:extLst>
      <p:ext uri="{BB962C8B-B14F-4D97-AF65-F5344CB8AC3E}">
        <p14:creationId xmlns:p14="http://schemas.microsoft.com/office/powerpoint/2010/main" val="2604192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ure C.3: Graph density. The total number of possible edges in a... |  Download Scientific Diagram">
            <a:extLst>
              <a:ext uri="{FF2B5EF4-FFF2-40B4-BE49-F238E27FC236}">
                <a16:creationId xmlns:a16="http://schemas.microsoft.com/office/drawing/2014/main" id="{A2C70BD1-7E06-1578-91F6-3665E5BA5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145" y="1361091"/>
            <a:ext cx="10447712" cy="4135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86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0B407-2F7D-C839-200B-492182329B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BE35EF-1F9A-65B4-57E6-6B57873F9033}"/>
              </a:ext>
            </a:extLst>
          </p:cNvPr>
          <p:cNvSpPr>
            <a:spLocks noGrp="1"/>
          </p:cNvSpPr>
          <p:nvPr>
            <p:ph type="title"/>
          </p:nvPr>
        </p:nvSpPr>
        <p:spPr/>
        <p:txBody>
          <a:bodyPr/>
          <a:lstStyle/>
          <a:p>
            <a:r>
              <a:rPr lang="es-MX" b="1" dirty="0">
                <a:solidFill>
                  <a:srgbClr val="0D0D0D"/>
                </a:solidFill>
                <a:latin typeface="ui-sans-serif"/>
              </a:rPr>
              <a:t>Métricas globales de la red</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C6FA3C7-46EB-B4A6-9001-D2C60D2B4481}"/>
                  </a:ext>
                </a:extLst>
              </p:cNvPr>
              <p:cNvSpPr>
                <a:spLocks noGrp="1"/>
              </p:cNvSpPr>
              <p:nvPr>
                <p:ph idx="1"/>
              </p:nvPr>
            </p:nvSpPr>
            <p:spPr>
              <a:xfrm>
                <a:off x="838200" y="1806772"/>
                <a:ext cx="10515600" cy="4351338"/>
              </a:xfrm>
            </p:spPr>
            <p:txBody>
              <a:bodyPr anchor="ctr">
                <a:noAutofit/>
              </a:bodyPr>
              <a:lstStyle/>
              <a:p>
                <a:pPr marL="0" indent="0">
                  <a:lnSpc>
                    <a:spcPct val="100000"/>
                  </a:lnSpc>
                  <a:spcBef>
                    <a:spcPts val="0"/>
                  </a:spcBef>
                  <a:spcAft>
                    <a:spcPts val="1200"/>
                  </a:spcAft>
                  <a:buNone/>
                </a:pPr>
                <a:r>
                  <a:rPr lang="es-MX" sz="1600" b="1" dirty="0">
                    <a:solidFill>
                      <a:srgbClr val="0D0D0D"/>
                    </a:solidFill>
                    <a:latin typeface="ui-sans-serif"/>
                  </a:rPr>
                  <a:t>Coeficiente de </a:t>
                </a:r>
                <a:r>
                  <a:rPr lang="es-MX" sz="1600" b="1" dirty="0" err="1">
                    <a:solidFill>
                      <a:srgbClr val="0D0D0D"/>
                    </a:solidFill>
                    <a:latin typeface="ui-sans-serif"/>
                  </a:rPr>
                  <a:t>clustering</a:t>
                </a:r>
                <a:r>
                  <a:rPr lang="es-MX" sz="1600" dirty="0">
                    <a:solidFill>
                      <a:srgbClr val="0D0D0D"/>
                    </a:solidFill>
                    <a:latin typeface="ui-sans-serif"/>
                  </a:rPr>
                  <a:t> </a:t>
                </a:r>
                <a:r>
                  <a:rPr lang="es-MX" sz="1600" dirty="0">
                    <a:solidFill>
                      <a:srgbClr val="0D0D0D"/>
                    </a:solidFill>
                  </a:rPr>
                  <a:t> </a:t>
                </a:r>
                <a14:m>
                  <m:oMath xmlns:m="http://schemas.openxmlformats.org/officeDocument/2006/math">
                    <m:r>
                      <a:rPr lang="es-CO" sz="1600" b="0" i="1" dirty="0" smtClean="0">
                        <a:solidFill>
                          <a:srgbClr val="0D0D0D"/>
                        </a:solidFill>
                        <a:latin typeface="Cambria Math" panose="02040503050406030204" pitchFamily="18" charset="0"/>
                      </a:rPr>
                      <m:t>𝐶</m:t>
                    </m:r>
                  </m:oMath>
                </a14:m>
                <a:endParaRPr lang="es-MX" sz="1600" b="0" dirty="0">
                  <a:solidFill>
                    <a:srgbClr val="0D0D0D"/>
                  </a:solidFill>
                </a:endParaRPr>
              </a:p>
              <a:p>
                <a:pPr marL="0" indent="0">
                  <a:lnSpc>
                    <a:spcPct val="100000"/>
                  </a:lnSpc>
                  <a:spcBef>
                    <a:spcPts val="0"/>
                  </a:spcBef>
                  <a:spcAft>
                    <a:spcPts val="1200"/>
                  </a:spcAft>
                  <a:buNone/>
                </a:pPr>
                <a:r>
                  <a:rPr lang="es-MX" sz="1600" dirty="0">
                    <a:latin typeface="ui-sans-serif"/>
                  </a:rPr>
                  <a:t>El </a:t>
                </a:r>
                <a:r>
                  <a:rPr lang="es-MX" sz="1600" b="1" dirty="0">
                    <a:latin typeface="ui-sans-serif"/>
                  </a:rPr>
                  <a:t>coeficiente de </a:t>
                </a:r>
                <a:r>
                  <a:rPr lang="es-MX" sz="1600" b="1" dirty="0" err="1">
                    <a:latin typeface="ui-sans-serif"/>
                  </a:rPr>
                  <a:t>clustering</a:t>
                </a:r>
                <a:r>
                  <a:rPr lang="es-MX" sz="1600" dirty="0">
                    <a:latin typeface="ui-sans-serif"/>
                  </a:rPr>
                  <a:t> mide la tendencia de los nodos a agruparse en triángulos, es decir, cuán “cerrados” están los vecindarios de cada nodo (Watts &amp; Strogatz, 1998).</a:t>
                </a:r>
              </a:p>
              <a:p>
                <a:pPr>
                  <a:lnSpc>
                    <a:spcPct val="100000"/>
                  </a:lnSpc>
                  <a:spcBef>
                    <a:spcPts val="0"/>
                  </a:spcBef>
                  <a:buNone/>
                </a:pPr>
                <a:r>
                  <a:rPr lang="es-MX" sz="1600" dirty="0">
                    <a:latin typeface="ui-sans-serif"/>
                  </a:rPr>
                  <a:t>Para un nodo </a:t>
                </a:r>
                <a:r>
                  <a:rPr lang="es-MX" sz="1600" i="1" dirty="0">
                    <a:latin typeface="KaTeX_Math"/>
                  </a:rPr>
                  <a:t>v</a:t>
                </a:r>
                <a:r>
                  <a:rPr lang="es-MX" sz="1600" dirty="0">
                    <a:latin typeface="ui-sans-serif"/>
                  </a:rPr>
                  <a:t> con </a:t>
                </a:r>
                <a14:m>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𝑘</m:t>
                        </m:r>
                      </m:e>
                      <m:sub>
                        <m:r>
                          <a:rPr lang="es-MX" sz="1600" b="0" i="1" smtClean="0">
                            <a:latin typeface="Cambria Math" panose="02040503050406030204" pitchFamily="18" charset="0"/>
                          </a:rPr>
                          <m:t>𝑣</m:t>
                        </m:r>
                      </m:sub>
                    </m:sSub>
                  </m:oMath>
                </a14:m>
                <a:r>
                  <a:rPr lang="es-MX" sz="1600" dirty="0">
                    <a:latin typeface="ui-sans-serif"/>
                  </a:rPr>
                  <a:t> vecinos:</a:t>
                </a:r>
              </a:p>
              <a:p>
                <a:pPr>
                  <a:lnSpc>
                    <a:spcPct val="100000"/>
                  </a:lnSpc>
                  <a:spcBef>
                    <a:spcPts val="0"/>
                  </a:spcBef>
                  <a:buNone/>
                </a:pPr>
                <a14:m>
                  <m:oMathPara xmlns:m="http://schemas.openxmlformats.org/officeDocument/2006/math">
                    <m:oMathParaPr>
                      <m:jc m:val="centerGroup"/>
                    </m:oMathParaPr>
                    <m:oMath xmlns:m="http://schemas.openxmlformats.org/officeDocument/2006/math">
                      <m:r>
                        <a:rPr lang="es-MX" sz="1600" i="1" dirty="0" smtClean="0">
                          <a:latin typeface="Cambria Math" panose="02040503050406030204" pitchFamily="18" charset="0"/>
                        </a:rPr>
                        <m:t>𝐶</m:t>
                      </m:r>
                      <m:d>
                        <m:dPr>
                          <m:ctrlPr>
                            <a:rPr lang="es-MX" sz="1600" i="1" dirty="0" smtClean="0">
                              <a:latin typeface="Cambria Math" panose="02040503050406030204" pitchFamily="18" charset="0"/>
                            </a:rPr>
                          </m:ctrlPr>
                        </m:dPr>
                        <m:e>
                          <m:r>
                            <a:rPr lang="es-MX" sz="1600" i="1" dirty="0" smtClean="0">
                              <a:latin typeface="Cambria Math" panose="02040503050406030204" pitchFamily="18" charset="0"/>
                            </a:rPr>
                            <m:t>𝑣</m:t>
                          </m:r>
                        </m:e>
                      </m:d>
                      <m:r>
                        <a:rPr lang="es-MX" sz="1600" i="1" dirty="0" smtClean="0">
                          <a:latin typeface="Cambria Math" panose="02040503050406030204" pitchFamily="18" charset="0"/>
                        </a:rPr>
                        <m:t>=</m:t>
                      </m:r>
                      <m:f>
                        <m:fPr>
                          <m:ctrlPr>
                            <a:rPr lang="es-MX" sz="1600" b="0" i="1" dirty="0" smtClean="0">
                              <a:latin typeface="Cambria Math" panose="02040503050406030204" pitchFamily="18" charset="0"/>
                            </a:rPr>
                          </m:ctrlPr>
                        </m:fPr>
                        <m:num>
                          <m:r>
                            <a:rPr lang="es-MX" sz="1600" i="1" dirty="0">
                              <a:latin typeface="Cambria Math" panose="02040503050406030204" pitchFamily="18" charset="0"/>
                            </a:rPr>
                            <m:t>2×</m:t>
                          </m:r>
                          <m:sSub>
                            <m:sSubPr>
                              <m:ctrlPr>
                                <a:rPr lang="es-MX" sz="1600" b="0" i="1" dirty="0" smtClean="0">
                                  <a:latin typeface="Cambria Math" panose="02040503050406030204" pitchFamily="18" charset="0"/>
                                </a:rPr>
                              </m:ctrlPr>
                            </m:sSubPr>
                            <m:e>
                              <m:r>
                                <a:rPr lang="es-MX" sz="1600" i="1" dirty="0">
                                  <a:latin typeface="Cambria Math" panose="02040503050406030204" pitchFamily="18" charset="0"/>
                                </a:rPr>
                                <m:t>𝑇</m:t>
                              </m:r>
                            </m:e>
                            <m:sub>
                              <m:r>
                                <a:rPr lang="es-MX" sz="1600" b="0" i="1" dirty="0" smtClean="0">
                                  <a:latin typeface="Cambria Math" panose="02040503050406030204" pitchFamily="18" charset="0"/>
                                </a:rPr>
                                <m:t>𝑣</m:t>
                              </m:r>
                            </m:sub>
                          </m:sSub>
                        </m:num>
                        <m:den>
                          <m:sSub>
                            <m:sSubPr>
                              <m:ctrlPr>
                                <a:rPr lang="es-MX" sz="1600" b="0" i="1" dirty="0" smtClean="0">
                                  <a:latin typeface="Cambria Math" panose="02040503050406030204" pitchFamily="18" charset="0"/>
                                </a:rPr>
                              </m:ctrlPr>
                            </m:sSubPr>
                            <m:e>
                              <m:r>
                                <a:rPr lang="es-MX" sz="1600" i="1" dirty="0">
                                  <a:latin typeface="Cambria Math" panose="02040503050406030204" pitchFamily="18" charset="0"/>
                                </a:rPr>
                                <m:t>𝑘</m:t>
                              </m:r>
                            </m:e>
                            <m:sub>
                              <m:r>
                                <a:rPr lang="es-MX" sz="1600" b="0" i="1" dirty="0" smtClean="0">
                                  <a:latin typeface="Cambria Math" panose="02040503050406030204" pitchFamily="18" charset="0"/>
                                </a:rPr>
                                <m:t>𝑣</m:t>
                              </m:r>
                            </m:sub>
                          </m:sSub>
                          <m:r>
                            <a:rPr lang="es-MX" sz="1600" i="1" dirty="0" smtClean="0">
                              <a:latin typeface="Cambria Math" panose="02040503050406030204" pitchFamily="18" charset="0"/>
                            </a:rPr>
                            <m:t> </m:t>
                          </m:r>
                          <m:r>
                            <a:rPr lang="es-MX" sz="1600" i="1" dirty="0">
                              <a:latin typeface="Cambria Math" panose="02040503050406030204" pitchFamily="18" charset="0"/>
                            </a:rPr>
                            <m:t>(</m:t>
                          </m:r>
                          <m:sSub>
                            <m:sSubPr>
                              <m:ctrlPr>
                                <a:rPr lang="es-MX" sz="1600" i="1" dirty="0">
                                  <a:latin typeface="Cambria Math" panose="02040503050406030204" pitchFamily="18" charset="0"/>
                                </a:rPr>
                              </m:ctrlPr>
                            </m:sSubPr>
                            <m:e>
                              <m:r>
                                <a:rPr lang="es-MX" sz="1600" i="1" dirty="0">
                                  <a:latin typeface="Cambria Math" panose="02040503050406030204" pitchFamily="18" charset="0"/>
                                </a:rPr>
                                <m:t>𝑘</m:t>
                              </m:r>
                            </m:e>
                            <m:sub>
                              <m:r>
                                <a:rPr lang="es-MX" sz="1600" i="1" dirty="0">
                                  <a:latin typeface="Cambria Math" panose="02040503050406030204" pitchFamily="18" charset="0"/>
                                </a:rPr>
                                <m:t>𝑣</m:t>
                              </m:r>
                            </m:sub>
                          </m:sSub>
                          <m:r>
                            <a:rPr lang="es-MX" sz="1600" i="1" dirty="0">
                              <a:latin typeface="Cambria Math" panose="02040503050406030204" pitchFamily="18" charset="0"/>
                            </a:rPr>
                            <m:t>−1)</m:t>
                          </m:r>
                        </m:den>
                      </m:f>
                    </m:oMath>
                  </m:oMathPara>
                </a14:m>
                <a:endParaRPr lang="es-MX" sz="1600" i="1" dirty="0">
                  <a:latin typeface="KaTeX_Math"/>
                </a:endParaRPr>
              </a:p>
              <a:p>
                <a:pPr marL="0" indent="0">
                  <a:lnSpc>
                    <a:spcPct val="100000"/>
                  </a:lnSpc>
                  <a:spcBef>
                    <a:spcPts val="0"/>
                  </a:spcBef>
                  <a:buNone/>
                </a:pPr>
                <a:r>
                  <a:rPr lang="es-MX" sz="1600" dirty="0">
                    <a:latin typeface="KaTeX_Main"/>
                  </a:rPr>
                  <a:t>​​</a:t>
                </a:r>
                <a:r>
                  <a:rPr lang="es-MX" sz="1600" dirty="0">
                    <a:latin typeface="ui-sans-serif"/>
                  </a:rPr>
                  <a:t>donde </a:t>
                </a:r>
                <a:r>
                  <a:rPr lang="es-MX" sz="1600" dirty="0"/>
                  <a:t> </a:t>
                </a:r>
                <a14:m>
                  <m:oMath xmlns:m="http://schemas.openxmlformats.org/officeDocument/2006/math">
                    <m:sSub>
                      <m:sSubPr>
                        <m:ctrlPr>
                          <a:rPr lang="es-MX" sz="1600" i="1" dirty="0">
                            <a:latin typeface="Cambria Math" panose="02040503050406030204" pitchFamily="18" charset="0"/>
                          </a:rPr>
                        </m:ctrlPr>
                      </m:sSubPr>
                      <m:e>
                        <m:r>
                          <a:rPr lang="es-MX" sz="1600" i="1" dirty="0">
                            <a:latin typeface="Cambria Math" panose="02040503050406030204" pitchFamily="18" charset="0"/>
                          </a:rPr>
                          <m:t>𝑇</m:t>
                        </m:r>
                      </m:e>
                      <m:sub>
                        <m:r>
                          <a:rPr lang="es-MX" sz="1600" i="1" dirty="0">
                            <a:latin typeface="Cambria Math" panose="02040503050406030204" pitchFamily="18" charset="0"/>
                          </a:rPr>
                          <m:t>𝑣</m:t>
                        </m:r>
                      </m:sub>
                    </m:sSub>
                    <m:r>
                      <a:rPr lang="es-MX" sz="1600" i="1" dirty="0">
                        <a:latin typeface="Cambria Math" panose="02040503050406030204" pitchFamily="18" charset="0"/>
                      </a:rPr>
                      <m:t> </m:t>
                    </m:r>
                  </m:oMath>
                </a14:m>
                <a:r>
                  <a:rPr lang="es-MX" sz="1600" dirty="0">
                    <a:latin typeface="KaTeX_Main"/>
                  </a:rPr>
                  <a:t>​</a:t>
                </a:r>
                <a:r>
                  <a:rPr lang="es-MX" sz="1600" dirty="0">
                    <a:latin typeface="ui-sans-serif"/>
                  </a:rPr>
                  <a:t> es el número de triángulos que incluyen a</a:t>
                </a:r>
                <a:r>
                  <a:rPr lang="es-MX" sz="1600" dirty="0"/>
                  <a:t> </a:t>
                </a:r>
                <a14:m>
                  <m:oMath xmlns:m="http://schemas.openxmlformats.org/officeDocument/2006/math">
                    <m:r>
                      <a:rPr lang="es-MX" sz="1600" b="0" i="1" dirty="0" smtClean="0">
                        <a:latin typeface="Cambria Math" panose="02040503050406030204" pitchFamily="18" charset="0"/>
                      </a:rPr>
                      <m:t>𝑣</m:t>
                    </m:r>
                  </m:oMath>
                </a14:m>
                <a:r>
                  <a:rPr lang="es-MX" sz="1600" dirty="0">
                    <a:latin typeface="ui-sans-serif"/>
                  </a:rPr>
                  <a:t>. El factor </a:t>
                </a:r>
                <a:r>
                  <a:rPr lang="es-MX" sz="1600" dirty="0"/>
                  <a:t> </a:t>
                </a:r>
                <a14:m>
                  <m:oMath xmlns:m="http://schemas.openxmlformats.org/officeDocument/2006/math">
                    <m:f>
                      <m:fPr>
                        <m:ctrlPr>
                          <a:rPr lang="es-MX" sz="1600" b="0" i="1" dirty="0" smtClean="0">
                            <a:latin typeface="Cambria Math" panose="02040503050406030204" pitchFamily="18" charset="0"/>
                          </a:rPr>
                        </m:ctrlPr>
                      </m:fPr>
                      <m:num>
                        <m:sSub>
                          <m:sSubPr>
                            <m:ctrlPr>
                              <a:rPr lang="es-MX" sz="1600" i="1" dirty="0">
                                <a:latin typeface="Cambria Math" panose="02040503050406030204" pitchFamily="18" charset="0"/>
                              </a:rPr>
                            </m:ctrlPr>
                          </m:sSubPr>
                          <m:e>
                            <m:r>
                              <a:rPr lang="es-MX" sz="1600" i="1" dirty="0">
                                <a:latin typeface="Cambria Math" panose="02040503050406030204" pitchFamily="18" charset="0"/>
                              </a:rPr>
                              <m:t>𝑘</m:t>
                            </m:r>
                          </m:e>
                          <m:sub>
                            <m:r>
                              <a:rPr lang="es-MX" sz="1600" i="1" dirty="0">
                                <a:latin typeface="Cambria Math" panose="02040503050406030204" pitchFamily="18" charset="0"/>
                              </a:rPr>
                              <m:t>𝑣</m:t>
                            </m:r>
                          </m:sub>
                        </m:sSub>
                        <m:r>
                          <a:rPr lang="es-MX" sz="1600" i="1" dirty="0">
                            <a:latin typeface="Cambria Math" panose="02040503050406030204" pitchFamily="18" charset="0"/>
                          </a:rPr>
                          <m:t> (</m:t>
                        </m:r>
                        <m:sSub>
                          <m:sSubPr>
                            <m:ctrlPr>
                              <a:rPr lang="es-MX" sz="1600" i="1" dirty="0">
                                <a:latin typeface="Cambria Math" panose="02040503050406030204" pitchFamily="18" charset="0"/>
                              </a:rPr>
                            </m:ctrlPr>
                          </m:sSubPr>
                          <m:e>
                            <m:r>
                              <a:rPr lang="es-MX" sz="1600" i="1" dirty="0">
                                <a:latin typeface="Cambria Math" panose="02040503050406030204" pitchFamily="18" charset="0"/>
                              </a:rPr>
                              <m:t>𝑘</m:t>
                            </m:r>
                          </m:e>
                          <m:sub>
                            <m:r>
                              <a:rPr lang="es-MX" sz="1600" i="1" dirty="0">
                                <a:latin typeface="Cambria Math" panose="02040503050406030204" pitchFamily="18" charset="0"/>
                              </a:rPr>
                              <m:t>𝑣</m:t>
                            </m:r>
                          </m:sub>
                        </m:sSub>
                        <m:r>
                          <a:rPr lang="es-MX" sz="1600" i="1" dirty="0">
                            <a:latin typeface="Cambria Math" panose="02040503050406030204" pitchFamily="18" charset="0"/>
                          </a:rPr>
                          <m:t>−1)</m:t>
                        </m:r>
                      </m:num>
                      <m:den>
                        <m:r>
                          <a:rPr lang="es-MX" sz="1600" b="0" i="1" dirty="0" smtClean="0">
                            <a:latin typeface="Cambria Math" panose="02040503050406030204" pitchFamily="18" charset="0"/>
                          </a:rPr>
                          <m:t>2</m:t>
                        </m:r>
                      </m:den>
                    </m:f>
                    <m:r>
                      <a:rPr lang="es-MX" sz="1600" i="1" dirty="0">
                        <a:latin typeface="Cambria Math" panose="02040503050406030204" pitchFamily="18" charset="0"/>
                      </a:rPr>
                      <m:t> </m:t>
                    </m:r>
                  </m:oMath>
                </a14:m>
                <a:r>
                  <a:rPr lang="es-MX" sz="1600" dirty="0">
                    <a:latin typeface="ui-sans-serif"/>
                  </a:rPr>
                  <a:t> es el número máximo de aristas posibles entre sus vecinos (Newman, 2010).</a:t>
                </a:r>
                <a:endParaRPr lang="es-MX" sz="1600" b="1" dirty="0">
                  <a:latin typeface="ui-sans-serif"/>
                </a:endParaRPr>
              </a:p>
              <a:p>
                <a:pPr marL="0" indent="0">
                  <a:lnSpc>
                    <a:spcPct val="100000"/>
                  </a:lnSpc>
                  <a:spcBef>
                    <a:spcPts val="0"/>
                  </a:spcBef>
                  <a:buNone/>
                </a:pPr>
                <a:r>
                  <a:rPr lang="es-MX" sz="1600" b="1" dirty="0">
                    <a:latin typeface="ui-sans-serif"/>
                  </a:rPr>
                  <a:t>Interpretación:</a:t>
                </a:r>
              </a:p>
              <a:p>
                <a:pPr>
                  <a:lnSpc>
                    <a:spcPct val="100000"/>
                  </a:lnSpc>
                  <a:spcBef>
                    <a:spcPts val="0"/>
                  </a:spcBef>
                  <a:spcAft>
                    <a:spcPts val="1200"/>
                  </a:spcAft>
                </a:pPr>
                <a14:m>
                  <m:oMath xmlns:m="http://schemas.openxmlformats.org/officeDocument/2006/math">
                    <m:r>
                      <a:rPr lang="es-MX" sz="1600" i="1" dirty="0">
                        <a:latin typeface="Cambria Math" panose="02040503050406030204" pitchFamily="18" charset="0"/>
                      </a:rPr>
                      <m:t>𝐶</m:t>
                    </m:r>
                    <m:d>
                      <m:dPr>
                        <m:ctrlPr>
                          <a:rPr lang="es-MX" sz="1600" i="1" dirty="0">
                            <a:latin typeface="Cambria Math" panose="02040503050406030204" pitchFamily="18" charset="0"/>
                          </a:rPr>
                        </m:ctrlPr>
                      </m:dPr>
                      <m:e>
                        <m:r>
                          <a:rPr lang="es-MX" sz="1600" i="1" dirty="0">
                            <a:latin typeface="Cambria Math" panose="02040503050406030204" pitchFamily="18" charset="0"/>
                          </a:rPr>
                          <m:t>𝑣</m:t>
                        </m:r>
                      </m:e>
                    </m:d>
                    <m:r>
                      <a:rPr lang="es-MX" sz="1600" b="0" i="1" dirty="0" smtClean="0">
                        <a:latin typeface="Cambria Math" panose="02040503050406030204" pitchFamily="18" charset="0"/>
                      </a:rPr>
                      <m:t>=1</m:t>
                    </m:r>
                  </m:oMath>
                </a14:m>
                <a:r>
                  <a:rPr lang="es-MX" sz="1600" dirty="0">
                    <a:latin typeface="ui-sans-serif"/>
                  </a:rPr>
                  <a:t>: todos los vecinos de </a:t>
                </a:r>
                <a:r>
                  <a:rPr lang="es-MX" sz="1600" dirty="0" err="1">
                    <a:latin typeface="KaTeX_Main"/>
                  </a:rPr>
                  <a:t>v</a:t>
                </a:r>
                <a:r>
                  <a:rPr lang="es-MX" sz="1600" i="1" dirty="0" err="1">
                    <a:latin typeface="KaTeX_Math"/>
                  </a:rPr>
                  <a:t>v</a:t>
                </a:r>
                <a:r>
                  <a:rPr lang="es-MX" sz="1600" dirty="0">
                    <a:latin typeface="ui-sans-serif"/>
                  </a:rPr>
                  <a:t> están conectados entre sí (clique).</a:t>
                </a:r>
              </a:p>
              <a:p>
                <a:pPr>
                  <a:lnSpc>
                    <a:spcPct val="100000"/>
                  </a:lnSpc>
                  <a:spcBef>
                    <a:spcPts val="0"/>
                  </a:spcBef>
                  <a:spcAft>
                    <a:spcPts val="1200"/>
                  </a:spcAft>
                </a:pPr>
                <a14:m>
                  <m:oMath xmlns:m="http://schemas.openxmlformats.org/officeDocument/2006/math">
                    <m:r>
                      <a:rPr lang="es-MX" sz="1600" i="1" dirty="0">
                        <a:latin typeface="Cambria Math" panose="02040503050406030204" pitchFamily="18" charset="0"/>
                      </a:rPr>
                      <m:t>𝐶</m:t>
                    </m:r>
                    <m:d>
                      <m:dPr>
                        <m:ctrlPr>
                          <a:rPr lang="es-MX" sz="1600" i="1" dirty="0">
                            <a:latin typeface="Cambria Math" panose="02040503050406030204" pitchFamily="18" charset="0"/>
                          </a:rPr>
                        </m:ctrlPr>
                      </m:dPr>
                      <m:e>
                        <m:r>
                          <a:rPr lang="es-MX" sz="1600" i="1" dirty="0">
                            <a:latin typeface="Cambria Math" panose="02040503050406030204" pitchFamily="18" charset="0"/>
                          </a:rPr>
                          <m:t>𝑣</m:t>
                        </m:r>
                      </m:e>
                    </m:d>
                    <m:r>
                      <a:rPr lang="es-MX" sz="1600" i="1" dirty="0">
                        <a:latin typeface="Cambria Math" panose="02040503050406030204" pitchFamily="18" charset="0"/>
                      </a:rPr>
                      <m:t>=</m:t>
                    </m:r>
                    <m:r>
                      <a:rPr lang="es-MX" sz="1600" b="0" i="1" dirty="0" smtClean="0">
                        <a:latin typeface="Cambria Math" panose="02040503050406030204" pitchFamily="18" charset="0"/>
                      </a:rPr>
                      <m:t>0</m:t>
                    </m:r>
                    <m:r>
                      <a:rPr lang="es-MX" sz="1600" i="1" dirty="0">
                        <a:latin typeface="Cambria Math" panose="02040503050406030204" pitchFamily="18" charset="0"/>
                      </a:rPr>
                      <m:t> </m:t>
                    </m:r>
                  </m:oMath>
                </a14:m>
                <a:r>
                  <a:rPr lang="es-MX" sz="1600" dirty="0">
                    <a:latin typeface="ui-sans-serif"/>
                  </a:rPr>
                  <a:t>: ninguno de sus vecinos está conectado.</a:t>
                </a:r>
              </a:p>
              <a:p>
                <a:pPr>
                  <a:lnSpc>
                    <a:spcPct val="100000"/>
                  </a:lnSpc>
                  <a:spcBef>
                    <a:spcPts val="0"/>
                  </a:spcBef>
                  <a:spcAft>
                    <a:spcPts val="1200"/>
                  </a:spcAft>
                </a:pPr>
                <a:r>
                  <a:rPr lang="es-MX" sz="1600" dirty="0">
                    <a:latin typeface="ui-sans-serif"/>
                  </a:rPr>
                  <a:t>Un </a:t>
                </a:r>
                <a:r>
                  <a:rPr lang="es-MX" sz="1600" b="1" dirty="0">
                    <a:latin typeface="ui-sans-serif"/>
                  </a:rPr>
                  <a:t>alto</a:t>
                </a:r>
                <a:r>
                  <a:rPr lang="es-MX" sz="1600" dirty="0">
                    <a:latin typeface="ui-sans-serif"/>
                  </a:rPr>
                  <a:t> coeficiente local indica agrupamientos densos en torno a </a:t>
                </a:r>
                <a14:m>
                  <m:oMath xmlns:m="http://schemas.openxmlformats.org/officeDocument/2006/math">
                    <m:r>
                      <a:rPr lang="es-MX" sz="1600" i="1" dirty="0">
                        <a:latin typeface="Cambria Math" panose="02040503050406030204" pitchFamily="18" charset="0"/>
                      </a:rPr>
                      <m:t>𝑣</m:t>
                    </m:r>
                  </m:oMath>
                </a14:m>
                <a:r>
                  <a:rPr lang="es-MX" sz="1600" dirty="0">
                    <a:latin typeface="ui-sans-serif"/>
                  </a:rPr>
                  <a:t>.</a:t>
                </a:r>
                <a:endParaRPr lang="es-CO" sz="1600" dirty="0"/>
              </a:p>
            </p:txBody>
          </p:sp>
        </mc:Choice>
        <mc:Fallback xmlns="">
          <p:sp>
            <p:nvSpPr>
              <p:cNvPr id="3" name="Marcador de contenido 2">
                <a:extLst>
                  <a:ext uri="{FF2B5EF4-FFF2-40B4-BE49-F238E27FC236}">
                    <a16:creationId xmlns:a16="http://schemas.microsoft.com/office/drawing/2014/main" id="{7C6FA3C7-46EB-B4A6-9001-D2C60D2B4481}"/>
                  </a:ext>
                </a:extLst>
              </p:cNvPr>
              <p:cNvSpPr>
                <a:spLocks noGrp="1" noRot="1" noChangeAspect="1" noMove="1" noResize="1" noEditPoints="1" noAdjustHandles="1" noChangeArrowheads="1" noChangeShapeType="1" noTextEdit="1"/>
              </p:cNvSpPr>
              <p:nvPr>
                <p:ph idx="1"/>
              </p:nvPr>
            </p:nvSpPr>
            <p:spPr>
              <a:xfrm>
                <a:off x="838200" y="1806772"/>
                <a:ext cx="10515600" cy="4351338"/>
              </a:xfrm>
              <a:blipFill>
                <a:blip r:embed="rId2"/>
                <a:stretch>
                  <a:fillRect l="-348"/>
                </a:stretch>
              </a:blipFill>
            </p:spPr>
            <p:txBody>
              <a:bodyPr/>
              <a:lstStyle/>
              <a:p>
                <a:r>
                  <a:rPr lang="es-CO">
                    <a:noFill/>
                  </a:rPr>
                  <a:t> </a:t>
                </a:r>
              </a:p>
            </p:txBody>
          </p:sp>
        </mc:Fallback>
      </mc:AlternateContent>
    </p:spTree>
    <p:extLst>
      <p:ext uri="{BB962C8B-B14F-4D97-AF65-F5344CB8AC3E}">
        <p14:creationId xmlns:p14="http://schemas.microsoft.com/office/powerpoint/2010/main" val="3609052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ema 2: Red Compleja como ejemplo de sistema complejo">
            <a:extLst>
              <a:ext uri="{FF2B5EF4-FFF2-40B4-BE49-F238E27FC236}">
                <a16:creationId xmlns:a16="http://schemas.microsoft.com/office/drawing/2014/main" id="{4638B972-9B44-6A95-92E7-07A050E03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542" y="1656080"/>
            <a:ext cx="9698916" cy="3545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554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CF77-CFDE-3FEB-0603-D673F78ED4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9A8BC6-0D45-98F2-A571-76C831613E7D}"/>
              </a:ext>
            </a:extLst>
          </p:cNvPr>
          <p:cNvSpPr>
            <a:spLocks noGrp="1"/>
          </p:cNvSpPr>
          <p:nvPr>
            <p:ph type="title"/>
          </p:nvPr>
        </p:nvSpPr>
        <p:spPr/>
        <p:txBody>
          <a:bodyPr/>
          <a:lstStyle/>
          <a:p>
            <a:r>
              <a:rPr lang="es-MX" b="1" dirty="0">
                <a:solidFill>
                  <a:srgbClr val="0D0D0D"/>
                </a:solidFill>
                <a:latin typeface="ui-sans-serif"/>
              </a:rPr>
              <a:t>Métricas globales de la red</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E26A2DD-33DF-A2C4-2C8C-15A56173672A}"/>
                  </a:ext>
                </a:extLst>
              </p:cNvPr>
              <p:cNvSpPr>
                <a:spLocks noGrp="1"/>
              </p:cNvSpPr>
              <p:nvPr>
                <p:ph idx="1"/>
              </p:nvPr>
            </p:nvSpPr>
            <p:spPr>
              <a:xfrm>
                <a:off x="838200" y="1806772"/>
                <a:ext cx="10515600" cy="4351338"/>
              </a:xfrm>
            </p:spPr>
            <p:txBody>
              <a:bodyPr anchor="ctr">
                <a:normAutofit fontScale="92500" lnSpcReduction="10000"/>
              </a:bodyPr>
              <a:lstStyle/>
              <a:p>
                <a:pPr>
                  <a:spcAft>
                    <a:spcPts val="1200"/>
                  </a:spcAft>
                </a:pPr>
                <a:r>
                  <a:rPr lang="es-MX" b="1" dirty="0">
                    <a:latin typeface="ui-sans-serif"/>
                  </a:rPr>
                  <a:t>Distancia</a:t>
                </a:r>
                <a:r>
                  <a:rPr lang="es-MX" dirty="0">
                    <a:latin typeface="ui-sans-serif"/>
                  </a:rPr>
                  <a:t> </a:t>
                </a:r>
                <a:r>
                  <a:rPr lang="es-MX" i="1" dirty="0">
                    <a:latin typeface="KaTeX_Math"/>
                  </a:rPr>
                  <a:t>d</a:t>
                </a:r>
                <a:r>
                  <a:rPr lang="es-MX" dirty="0">
                    <a:latin typeface="KaTeX_Main"/>
                  </a:rPr>
                  <a:t>(</a:t>
                </a:r>
                <a:r>
                  <a:rPr lang="es-MX" i="1" dirty="0" err="1">
                    <a:latin typeface="KaTeX_Math"/>
                  </a:rPr>
                  <a:t>u</a:t>
                </a:r>
                <a:r>
                  <a:rPr lang="es-MX" dirty="0" err="1">
                    <a:latin typeface="KaTeX_Main"/>
                  </a:rPr>
                  <a:t>,</a:t>
                </a:r>
                <a:r>
                  <a:rPr lang="es-MX" i="1" dirty="0" err="1">
                    <a:latin typeface="KaTeX_Math"/>
                  </a:rPr>
                  <a:t>v</a:t>
                </a:r>
                <a:r>
                  <a:rPr lang="es-MX" dirty="0">
                    <a:latin typeface="KaTeX_Main"/>
                  </a:rPr>
                  <a:t>)</a:t>
                </a:r>
                <a:r>
                  <a:rPr lang="es-MX" dirty="0">
                    <a:latin typeface="ui-sans-serif"/>
                  </a:rPr>
                  <a:t>: longitud del camino más corto entre dos nodos </a:t>
                </a:r>
                <a:r>
                  <a:rPr lang="es-MX" i="1" dirty="0">
                    <a:latin typeface="KaTeX_Math"/>
                  </a:rPr>
                  <a:t>u</a:t>
                </a:r>
                <a:r>
                  <a:rPr lang="es-MX" dirty="0">
                    <a:latin typeface="ui-sans-serif"/>
                  </a:rPr>
                  <a:t> y </a:t>
                </a:r>
                <a:r>
                  <a:rPr lang="es-MX" i="1" dirty="0">
                    <a:latin typeface="KaTeX_Math"/>
                  </a:rPr>
                  <a:t>v</a:t>
                </a:r>
                <a:r>
                  <a:rPr lang="es-MX" dirty="0">
                    <a:latin typeface="ui-sans-serif"/>
                  </a:rPr>
                  <a:t>.</a:t>
                </a:r>
              </a:p>
              <a:p>
                <a:pPr>
                  <a:spcAft>
                    <a:spcPts val="1200"/>
                  </a:spcAft>
                </a:pPr>
                <a:r>
                  <a:rPr lang="es-MX" b="1" dirty="0">
                    <a:latin typeface="ui-sans-serif"/>
                  </a:rPr>
                  <a:t>Diámetro</a:t>
                </a:r>
                <a:r>
                  <a:rPr lang="es-MX" dirty="0">
                    <a:latin typeface="ui-sans-serif"/>
                  </a:rPr>
                  <a:t> </a:t>
                </a:r>
                <a:r>
                  <a:rPr lang="es-MX" dirty="0" err="1">
                    <a:latin typeface="KaTeX_Main"/>
                  </a:rPr>
                  <a:t>diam</a:t>
                </a:r>
                <a:r>
                  <a:rPr lang="es-MX" dirty="0">
                    <a:latin typeface="KaTeX_Main"/>
                  </a:rPr>
                  <a:t>(</a:t>
                </a:r>
                <a:r>
                  <a:rPr lang="es-MX" i="1" dirty="0">
                    <a:latin typeface="KaTeX_Math"/>
                  </a:rPr>
                  <a:t>G</a:t>
                </a:r>
                <a:r>
                  <a:rPr lang="es-MX" dirty="0">
                    <a:latin typeface="KaTeX_Main"/>
                  </a:rPr>
                  <a:t>)</a:t>
                </a:r>
                <a:r>
                  <a:rPr lang="es-MX" dirty="0">
                    <a:latin typeface="ui-sans-serif"/>
                  </a:rPr>
                  <a:t>: el máximo de todas las distancias mínimas</a:t>
                </a:r>
              </a:p>
              <a:p>
                <a:pPr>
                  <a:spcAft>
                    <a:spcPts val="1200"/>
                  </a:spcAft>
                </a:pPr>
                <a:r>
                  <a:rPr lang="es-MX" b="1" dirty="0">
                    <a:latin typeface="ui-sans-serif"/>
                  </a:rPr>
                  <a:t>Distancia media</a:t>
                </a:r>
                <a:r>
                  <a:rPr lang="es-MX" dirty="0">
                    <a:latin typeface="ui-sans-serif"/>
                  </a:rPr>
                  <a:t> </a:t>
                </a:r>
                <a14:m>
                  <m:oMath xmlns:m="http://schemas.openxmlformats.org/officeDocument/2006/math">
                    <m:acc>
                      <m:accPr>
                        <m:chr m:val="̅"/>
                        <m:ctrlPr>
                          <a:rPr lang="es-MX" i="1" dirty="0" smtClean="0">
                            <a:latin typeface="Cambria Math" panose="02040503050406030204" pitchFamily="18" charset="0"/>
                          </a:rPr>
                        </m:ctrlPr>
                      </m:accPr>
                      <m:e>
                        <m:r>
                          <a:rPr lang="es-MX" b="0" i="1" dirty="0" smtClean="0">
                            <a:latin typeface="Cambria Math" panose="02040503050406030204" pitchFamily="18" charset="0"/>
                          </a:rPr>
                          <m:t>𝑑</m:t>
                        </m:r>
                      </m:e>
                    </m:acc>
                  </m:oMath>
                </a14:m>
                <a:r>
                  <a:rPr lang="es-MX" dirty="0">
                    <a:latin typeface="ui-sans-serif"/>
                  </a:rPr>
                  <a:t>: el promedio de las distancias mínimas entre todos los pares distintos. En grafos no dirigidos, cada par se cuenta una sola vez; en dirigidos, puede diferenciarse por orden.</a:t>
                </a:r>
              </a:p>
              <a:p>
                <a:pPr>
                  <a:buNone/>
                </a:pPr>
                <a:r>
                  <a:rPr lang="es-MX" b="1" dirty="0">
                    <a:latin typeface="ui-sans-serif"/>
                  </a:rPr>
                  <a:t>Interpretación</a:t>
                </a:r>
                <a:endParaRPr lang="es-MX" dirty="0">
                  <a:latin typeface="ui-sans-serif"/>
                </a:endParaRPr>
              </a:p>
              <a:p>
                <a:pPr>
                  <a:spcAft>
                    <a:spcPts val="1200"/>
                  </a:spcAft>
                </a:pPr>
                <a:r>
                  <a:rPr lang="es-MX" dirty="0">
                    <a:latin typeface="ui-sans-serif"/>
                  </a:rPr>
                  <a:t>Un </a:t>
                </a:r>
                <a:r>
                  <a:rPr lang="es-MX" b="1" dirty="0">
                    <a:latin typeface="ui-sans-serif"/>
                  </a:rPr>
                  <a:t>diámetro pequeño</a:t>
                </a:r>
                <a:r>
                  <a:rPr lang="es-MX" dirty="0">
                    <a:latin typeface="ui-sans-serif"/>
                  </a:rPr>
                  <a:t> indica “mundo pequeño”: cualquier nodo está a pocas etapas de otro (Watts &amp; Strogatz, 1998).</a:t>
                </a:r>
              </a:p>
              <a:p>
                <a:pPr>
                  <a:spcAft>
                    <a:spcPts val="1200"/>
                  </a:spcAft>
                </a:pPr>
                <a:r>
                  <a:rPr lang="es-MX" dirty="0">
                    <a:latin typeface="ui-sans-serif"/>
                  </a:rPr>
                  <a:t>Una </a:t>
                </a:r>
                <a:r>
                  <a:rPr lang="es-MX" b="1" dirty="0">
                    <a:latin typeface="ui-sans-serif"/>
                  </a:rPr>
                  <a:t>distancia media baja</a:t>
                </a:r>
                <a:r>
                  <a:rPr lang="es-MX" dirty="0">
                    <a:latin typeface="ui-sans-serif"/>
                  </a:rPr>
                  <a:t> refuerza esta cohesión global, mientras que valores altos revelan mayor fragmentación o estructuras jerárquicas (Newman, 2010).</a:t>
                </a:r>
                <a:endParaRPr lang="es-CO" dirty="0">
                  <a:solidFill>
                    <a:srgbClr val="0D0D0D"/>
                  </a:solidFill>
                  <a:latin typeface="ui-sans-serif"/>
                </a:endParaRPr>
              </a:p>
            </p:txBody>
          </p:sp>
        </mc:Choice>
        <mc:Fallback xmlns="">
          <p:sp>
            <p:nvSpPr>
              <p:cNvPr id="3" name="Marcador de contenido 2">
                <a:extLst>
                  <a:ext uri="{FF2B5EF4-FFF2-40B4-BE49-F238E27FC236}">
                    <a16:creationId xmlns:a16="http://schemas.microsoft.com/office/drawing/2014/main" id="{AE26A2DD-33DF-A2C4-2C8C-15A56173672A}"/>
                  </a:ext>
                </a:extLst>
              </p:cNvPr>
              <p:cNvSpPr>
                <a:spLocks noGrp="1" noRot="1" noChangeAspect="1" noMove="1" noResize="1" noEditPoints="1" noAdjustHandles="1" noChangeArrowheads="1" noChangeShapeType="1" noTextEdit="1"/>
              </p:cNvSpPr>
              <p:nvPr>
                <p:ph idx="1"/>
              </p:nvPr>
            </p:nvSpPr>
            <p:spPr>
              <a:xfrm>
                <a:off x="838200" y="1806772"/>
                <a:ext cx="10515600" cy="4351338"/>
              </a:xfrm>
              <a:blipFill>
                <a:blip r:embed="rId2"/>
                <a:stretch>
                  <a:fillRect l="-754" r="-870"/>
                </a:stretch>
              </a:blipFill>
            </p:spPr>
            <p:txBody>
              <a:bodyPr/>
              <a:lstStyle/>
              <a:p>
                <a:r>
                  <a:rPr lang="es-CO">
                    <a:noFill/>
                  </a:rPr>
                  <a:t> </a:t>
                </a:r>
              </a:p>
            </p:txBody>
          </p:sp>
        </mc:Fallback>
      </mc:AlternateContent>
    </p:spTree>
    <p:extLst>
      <p:ext uri="{BB962C8B-B14F-4D97-AF65-F5344CB8AC3E}">
        <p14:creationId xmlns:p14="http://schemas.microsoft.com/office/powerpoint/2010/main" val="2797329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DB47C-6058-E6CD-BB0F-FAF777788F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FF190CA-B1FA-1BCF-2ACF-E5F3D3A277E2}"/>
              </a:ext>
            </a:extLst>
          </p:cNvPr>
          <p:cNvSpPr>
            <a:spLocks noGrp="1"/>
          </p:cNvSpPr>
          <p:nvPr>
            <p:ph type="title"/>
          </p:nvPr>
        </p:nvSpPr>
        <p:spPr/>
        <p:txBody>
          <a:bodyPr/>
          <a:lstStyle/>
          <a:p>
            <a:r>
              <a:rPr lang="es-MX" b="1" dirty="0">
                <a:solidFill>
                  <a:srgbClr val="0D0D0D"/>
                </a:solidFill>
                <a:latin typeface="ui-sans-serif"/>
              </a:rPr>
              <a:t>Métricas globales de la red</a:t>
            </a:r>
            <a:endParaRPr lang="es-CO" dirty="0"/>
          </a:p>
        </p:txBody>
      </p:sp>
      <p:sp>
        <p:nvSpPr>
          <p:cNvPr id="3" name="Marcador de contenido 2">
            <a:extLst>
              <a:ext uri="{FF2B5EF4-FFF2-40B4-BE49-F238E27FC236}">
                <a16:creationId xmlns:a16="http://schemas.microsoft.com/office/drawing/2014/main" id="{D40AC924-0CE8-7427-5D6C-AF83D5E02939}"/>
              </a:ext>
            </a:extLst>
          </p:cNvPr>
          <p:cNvSpPr>
            <a:spLocks noGrp="1"/>
          </p:cNvSpPr>
          <p:nvPr>
            <p:ph idx="1"/>
          </p:nvPr>
        </p:nvSpPr>
        <p:spPr>
          <a:xfrm>
            <a:off x="838200" y="1806772"/>
            <a:ext cx="10515600" cy="4351338"/>
          </a:xfrm>
        </p:spPr>
        <p:txBody>
          <a:bodyPr anchor="ctr">
            <a:normAutofit/>
          </a:bodyPr>
          <a:lstStyle/>
          <a:p>
            <a:r>
              <a:rPr lang="es-MX" b="1" dirty="0">
                <a:latin typeface="ui-sans-serif"/>
              </a:rPr>
              <a:t>Centralidad de intermediación (</a:t>
            </a:r>
            <a:r>
              <a:rPr lang="es-MX" b="1" dirty="0" err="1">
                <a:latin typeface="ui-sans-serif"/>
              </a:rPr>
              <a:t>Betweenness</a:t>
            </a:r>
            <a:r>
              <a:rPr lang="es-MX" b="1" dirty="0">
                <a:latin typeface="ui-sans-serif"/>
              </a:rPr>
              <a:t> </a:t>
            </a:r>
            <a:r>
              <a:rPr lang="es-MX" b="1" dirty="0" err="1">
                <a:latin typeface="ui-sans-serif"/>
              </a:rPr>
              <a:t>Centrality</a:t>
            </a:r>
            <a:r>
              <a:rPr lang="es-MX" b="1" dirty="0">
                <a:latin typeface="ui-sans-serif"/>
              </a:rPr>
              <a:t>): </a:t>
            </a:r>
            <a:r>
              <a:rPr lang="es-MX" dirty="0">
                <a:latin typeface="ui-sans-serif"/>
              </a:rPr>
              <a:t>Mide cuántos caminos cortos pasan por un nodo </a:t>
            </a:r>
            <a:r>
              <a:rPr lang="es-MX" i="1" dirty="0">
                <a:latin typeface="KaTeX_Math"/>
              </a:rPr>
              <a:t>v</a:t>
            </a:r>
            <a:r>
              <a:rPr lang="es-MX" dirty="0">
                <a:latin typeface="ui-sans-serif"/>
              </a:rPr>
              <a:t>:</a:t>
            </a:r>
          </a:p>
          <a:p>
            <a:pPr>
              <a:spcAft>
                <a:spcPts val="1200"/>
              </a:spcAft>
            </a:pPr>
            <a:r>
              <a:rPr lang="es-CO" b="1" dirty="0">
                <a:latin typeface="ui-sans-serif"/>
              </a:rPr>
              <a:t>Centralidad de cercanía (</a:t>
            </a:r>
            <a:r>
              <a:rPr lang="es-CO" b="1" dirty="0" err="1">
                <a:latin typeface="ui-sans-serif"/>
              </a:rPr>
              <a:t>Closeness</a:t>
            </a:r>
            <a:r>
              <a:rPr lang="es-CO" b="1" dirty="0">
                <a:latin typeface="ui-sans-serif"/>
              </a:rPr>
              <a:t> </a:t>
            </a:r>
            <a:r>
              <a:rPr lang="es-CO" b="1" dirty="0" err="1">
                <a:latin typeface="ui-sans-serif"/>
              </a:rPr>
              <a:t>Centrality</a:t>
            </a:r>
            <a:r>
              <a:rPr lang="es-CO" b="1" dirty="0">
                <a:latin typeface="ui-sans-serif"/>
              </a:rPr>
              <a:t>)</a:t>
            </a:r>
            <a:r>
              <a:rPr lang="es-MX" dirty="0">
                <a:latin typeface="ui-sans-serif"/>
              </a:rPr>
              <a:t> nodos que, en promedio, están “cerca” del resto, buenos para difusión rápida.</a:t>
            </a:r>
          </a:p>
          <a:p>
            <a:pPr>
              <a:spcAft>
                <a:spcPts val="1200"/>
              </a:spcAft>
            </a:pPr>
            <a:r>
              <a:rPr lang="es-CO" b="1" dirty="0">
                <a:latin typeface="ui-sans-serif"/>
              </a:rPr>
              <a:t>Centralidad de vector propio (</a:t>
            </a:r>
            <a:r>
              <a:rPr lang="es-CO" b="1" dirty="0" err="1">
                <a:latin typeface="ui-sans-serif"/>
              </a:rPr>
              <a:t>Eigenvector</a:t>
            </a:r>
            <a:r>
              <a:rPr lang="es-CO" b="1" dirty="0">
                <a:latin typeface="ui-sans-serif"/>
              </a:rPr>
              <a:t> </a:t>
            </a:r>
            <a:r>
              <a:rPr lang="es-CO" b="1" dirty="0" err="1">
                <a:latin typeface="ui-sans-serif"/>
              </a:rPr>
              <a:t>Centrality</a:t>
            </a:r>
            <a:r>
              <a:rPr lang="es-CO" b="1" dirty="0">
                <a:latin typeface="ui-sans-serif"/>
              </a:rPr>
              <a:t>): </a:t>
            </a:r>
            <a:r>
              <a:rPr lang="es-MX" dirty="0">
                <a:latin typeface="ui-sans-serif"/>
              </a:rPr>
              <a:t>Mide si nodos tienden a conectarse con otros de grado similar.</a:t>
            </a:r>
            <a:endParaRPr lang="es-CO" dirty="0">
              <a:latin typeface="ui-sans-serif"/>
            </a:endParaRPr>
          </a:p>
        </p:txBody>
      </p:sp>
    </p:spTree>
    <p:extLst>
      <p:ext uri="{BB962C8B-B14F-4D97-AF65-F5344CB8AC3E}">
        <p14:creationId xmlns:p14="http://schemas.microsoft.com/office/powerpoint/2010/main" val="142250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01B0E-DA1D-C54E-5F0F-32D7ED3D9218}"/>
              </a:ext>
            </a:extLst>
          </p:cNvPr>
          <p:cNvSpPr>
            <a:spLocks noGrp="1"/>
          </p:cNvSpPr>
          <p:nvPr>
            <p:ph type="title"/>
          </p:nvPr>
        </p:nvSpPr>
        <p:spPr/>
        <p:txBody>
          <a:bodyPr/>
          <a:lstStyle/>
          <a:p>
            <a:r>
              <a:rPr lang="es-MX" b="1" dirty="0">
                <a:solidFill>
                  <a:srgbClr val="0D0D0D"/>
                </a:solidFill>
                <a:latin typeface="ui-sans-serif"/>
              </a:rPr>
              <a:t>Centralidad y roles de los nodos</a:t>
            </a:r>
            <a:endParaRPr lang="es-CO" dirty="0"/>
          </a:p>
        </p:txBody>
      </p:sp>
      <p:graphicFrame>
        <p:nvGraphicFramePr>
          <p:cNvPr id="4" name="Marcador de contenido 3">
            <a:extLst>
              <a:ext uri="{FF2B5EF4-FFF2-40B4-BE49-F238E27FC236}">
                <a16:creationId xmlns:a16="http://schemas.microsoft.com/office/drawing/2014/main" id="{D940E791-63ED-C332-FE3E-3DB0709BD02F}"/>
              </a:ext>
            </a:extLst>
          </p:cNvPr>
          <p:cNvGraphicFramePr>
            <a:graphicFrameLocks noGrp="1"/>
          </p:cNvGraphicFramePr>
          <p:nvPr>
            <p:ph idx="1"/>
            <p:extLst>
              <p:ext uri="{D42A27DB-BD31-4B8C-83A1-F6EECF244321}">
                <p14:modId xmlns:p14="http://schemas.microsoft.com/office/powerpoint/2010/main" val="3056378064"/>
              </p:ext>
            </p:extLst>
          </p:nvPr>
        </p:nvGraphicFramePr>
        <p:xfrm>
          <a:off x="838200" y="1586618"/>
          <a:ext cx="10515600" cy="2651760"/>
        </p:xfrm>
        <a:graphic>
          <a:graphicData uri="http://schemas.openxmlformats.org/drawingml/2006/table">
            <a:tbl>
              <a:tblPr firstRow="1" bandRow="1">
                <a:tableStyleId>{9D7B26C5-4107-4FEC-AEDC-1716B250A1EF}</a:tableStyleId>
              </a:tblPr>
              <a:tblGrid>
                <a:gridCol w="2628900">
                  <a:extLst>
                    <a:ext uri="{9D8B030D-6E8A-4147-A177-3AD203B41FA5}">
                      <a16:colId xmlns:a16="http://schemas.microsoft.com/office/drawing/2014/main" val="2933748335"/>
                    </a:ext>
                  </a:extLst>
                </a:gridCol>
                <a:gridCol w="2628900">
                  <a:extLst>
                    <a:ext uri="{9D8B030D-6E8A-4147-A177-3AD203B41FA5}">
                      <a16:colId xmlns:a16="http://schemas.microsoft.com/office/drawing/2014/main" val="2074624260"/>
                    </a:ext>
                  </a:extLst>
                </a:gridCol>
                <a:gridCol w="2628900">
                  <a:extLst>
                    <a:ext uri="{9D8B030D-6E8A-4147-A177-3AD203B41FA5}">
                      <a16:colId xmlns:a16="http://schemas.microsoft.com/office/drawing/2014/main" val="2185711185"/>
                    </a:ext>
                  </a:extLst>
                </a:gridCol>
                <a:gridCol w="2628900">
                  <a:extLst>
                    <a:ext uri="{9D8B030D-6E8A-4147-A177-3AD203B41FA5}">
                      <a16:colId xmlns:a16="http://schemas.microsoft.com/office/drawing/2014/main" val="406963406"/>
                    </a:ext>
                  </a:extLst>
                </a:gridCol>
              </a:tblGrid>
              <a:tr h="0">
                <a:tc>
                  <a:txBody>
                    <a:bodyPr/>
                    <a:lstStyle/>
                    <a:p>
                      <a:pPr algn="ctr">
                        <a:buNone/>
                      </a:pPr>
                      <a:r>
                        <a:rPr lang="es-CO" dirty="0"/>
                        <a:t>Métrica</a:t>
                      </a:r>
                    </a:p>
                  </a:txBody>
                  <a:tcPr anchor="ctr"/>
                </a:tc>
                <a:tc>
                  <a:txBody>
                    <a:bodyPr/>
                    <a:lstStyle/>
                    <a:p>
                      <a:pPr algn="ctr">
                        <a:buNone/>
                      </a:pPr>
                      <a:r>
                        <a:rPr lang="es-CO" dirty="0"/>
                        <a:t>Idea</a:t>
                      </a:r>
                    </a:p>
                  </a:txBody>
                  <a:tcPr anchor="ctr"/>
                </a:tc>
                <a:tc>
                  <a:txBody>
                    <a:bodyPr/>
                    <a:lstStyle/>
                    <a:p>
                      <a:pPr algn="ctr">
                        <a:buNone/>
                      </a:pPr>
                      <a:r>
                        <a:rPr lang="es-CO"/>
                        <a:t>Pregunta que responde</a:t>
                      </a:r>
                    </a:p>
                  </a:txBody>
                  <a:tcPr anchor="ctr"/>
                </a:tc>
                <a:tc>
                  <a:txBody>
                    <a:bodyPr/>
                    <a:lstStyle/>
                    <a:p>
                      <a:pPr algn="ctr">
                        <a:buNone/>
                      </a:pPr>
                      <a:r>
                        <a:rPr lang="es-CO" dirty="0"/>
                        <a:t>Código</a:t>
                      </a:r>
                    </a:p>
                  </a:txBody>
                  <a:tcPr anchor="ctr"/>
                </a:tc>
                <a:extLst>
                  <a:ext uri="{0D108BD9-81ED-4DB2-BD59-A6C34878D82A}">
                    <a16:rowId xmlns:a16="http://schemas.microsoft.com/office/drawing/2014/main" val="2332448102"/>
                  </a:ext>
                </a:extLst>
              </a:tr>
              <a:tr h="0">
                <a:tc>
                  <a:txBody>
                    <a:bodyPr/>
                    <a:lstStyle/>
                    <a:p>
                      <a:pPr>
                        <a:buNone/>
                      </a:pPr>
                      <a:r>
                        <a:rPr lang="es-CO" b="1"/>
                        <a:t>Grado</a:t>
                      </a:r>
                      <a:endParaRPr lang="es-CO"/>
                    </a:p>
                  </a:txBody>
                  <a:tcPr anchor="ctr"/>
                </a:tc>
                <a:tc>
                  <a:txBody>
                    <a:bodyPr/>
                    <a:lstStyle/>
                    <a:p>
                      <a:pPr>
                        <a:buNone/>
                      </a:pPr>
                      <a:r>
                        <a:rPr lang="es-CO"/>
                        <a:t>Conectividad local</a:t>
                      </a:r>
                    </a:p>
                  </a:txBody>
                  <a:tcPr anchor="ctr"/>
                </a:tc>
                <a:tc>
                  <a:txBody>
                    <a:bodyPr/>
                    <a:lstStyle/>
                    <a:p>
                      <a:pPr>
                        <a:buNone/>
                      </a:pPr>
                      <a:r>
                        <a:rPr lang="es-CO" dirty="0"/>
                        <a:t>¿Quién interactúa más?</a:t>
                      </a:r>
                    </a:p>
                  </a:txBody>
                  <a:tcPr anchor="ctr"/>
                </a:tc>
                <a:tc>
                  <a:txBody>
                    <a:bodyPr/>
                    <a:lstStyle/>
                    <a:p>
                      <a:pPr>
                        <a:buNone/>
                      </a:pPr>
                      <a:r>
                        <a:rPr lang="es-CO" dirty="0" err="1"/>
                        <a:t>nx.degree_centrality</a:t>
                      </a:r>
                      <a:r>
                        <a:rPr lang="es-CO" dirty="0"/>
                        <a:t>(G)</a:t>
                      </a:r>
                    </a:p>
                  </a:txBody>
                  <a:tcPr anchor="ctr"/>
                </a:tc>
                <a:extLst>
                  <a:ext uri="{0D108BD9-81ED-4DB2-BD59-A6C34878D82A}">
                    <a16:rowId xmlns:a16="http://schemas.microsoft.com/office/drawing/2014/main" val="1492691543"/>
                  </a:ext>
                </a:extLst>
              </a:tr>
              <a:tr h="0">
                <a:tc>
                  <a:txBody>
                    <a:bodyPr/>
                    <a:lstStyle/>
                    <a:p>
                      <a:pPr>
                        <a:buNone/>
                      </a:pPr>
                      <a:r>
                        <a:rPr lang="es-CO" b="1" dirty="0"/>
                        <a:t>Cercanía (</a:t>
                      </a:r>
                      <a:r>
                        <a:rPr lang="es-CO" b="1" dirty="0" err="1"/>
                        <a:t>closeness</a:t>
                      </a:r>
                      <a:r>
                        <a:rPr lang="es-CO" b="1" dirty="0"/>
                        <a:t>)</a:t>
                      </a:r>
                      <a:endParaRPr lang="es-CO" dirty="0"/>
                    </a:p>
                  </a:txBody>
                  <a:tcPr anchor="ctr"/>
                </a:tc>
                <a:tc>
                  <a:txBody>
                    <a:bodyPr/>
                    <a:lstStyle/>
                    <a:p>
                      <a:pPr>
                        <a:buNone/>
                      </a:pPr>
                      <a:r>
                        <a:rPr lang="es-CO"/>
                        <a:t>Proximidad</a:t>
                      </a:r>
                    </a:p>
                  </a:txBody>
                  <a:tcPr anchor="ctr"/>
                </a:tc>
                <a:tc>
                  <a:txBody>
                    <a:bodyPr/>
                    <a:lstStyle/>
                    <a:p>
                      <a:pPr>
                        <a:buNone/>
                      </a:pPr>
                      <a:r>
                        <a:rPr lang="es-MX" dirty="0"/>
                        <a:t>¿Quién llega rápido a todos?</a:t>
                      </a:r>
                    </a:p>
                  </a:txBody>
                  <a:tcPr anchor="ctr"/>
                </a:tc>
                <a:tc>
                  <a:txBody>
                    <a:bodyPr/>
                    <a:lstStyle/>
                    <a:p>
                      <a:pPr>
                        <a:buNone/>
                      </a:pPr>
                      <a:r>
                        <a:rPr lang="es-CO"/>
                        <a:t>nx.closeness_centrality(G)</a:t>
                      </a:r>
                    </a:p>
                  </a:txBody>
                  <a:tcPr anchor="ctr"/>
                </a:tc>
                <a:extLst>
                  <a:ext uri="{0D108BD9-81ED-4DB2-BD59-A6C34878D82A}">
                    <a16:rowId xmlns:a16="http://schemas.microsoft.com/office/drawing/2014/main" val="3255021536"/>
                  </a:ext>
                </a:extLst>
              </a:tr>
              <a:tr h="0">
                <a:tc>
                  <a:txBody>
                    <a:bodyPr/>
                    <a:lstStyle/>
                    <a:p>
                      <a:pPr>
                        <a:buNone/>
                      </a:pPr>
                      <a:r>
                        <a:rPr lang="es-CO" b="1" dirty="0"/>
                        <a:t>Intermediación (</a:t>
                      </a:r>
                      <a:r>
                        <a:rPr lang="es-CO" b="1" dirty="0" err="1"/>
                        <a:t>betweenness</a:t>
                      </a:r>
                      <a:r>
                        <a:rPr lang="es-CO" b="1" dirty="0"/>
                        <a:t>)</a:t>
                      </a:r>
                      <a:endParaRPr lang="es-CO" dirty="0"/>
                    </a:p>
                  </a:txBody>
                  <a:tcPr anchor="ctr"/>
                </a:tc>
                <a:tc>
                  <a:txBody>
                    <a:bodyPr/>
                    <a:lstStyle/>
                    <a:p>
                      <a:pPr>
                        <a:buNone/>
                      </a:pPr>
                      <a:r>
                        <a:rPr lang="es-CO" dirty="0"/>
                        <a:t>Puente de caminos</a:t>
                      </a:r>
                    </a:p>
                  </a:txBody>
                  <a:tcPr anchor="ctr"/>
                </a:tc>
                <a:tc>
                  <a:txBody>
                    <a:bodyPr/>
                    <a:lstStyle/>
                    <a:p>
                      <a:pPr>
                        <a:buNone/>
                      </a:pPr>
                      <a:r>
                        <a:rPr lang="es-CO" dirty="0"/>
                        <a:t>¿Quién controla la información?</a:t>
                      </a:r>
                    </a:p>
                  </a:txBody>
                  <a:tcPr anchor="ctr"/>
                </a:tc>
                <a:tc>
                  <a:txBody>
                    <a:bodyPr/>
                    <a:lstStyle/>
                    <a:p>
                      <a:pPr>
                        <a:buNone/>
                      </a:pPr>
                      <a:r>
                        <a:rPr lang="es-CO"/>
                        <a:t>nx.betweenness_centrality(G)</a:t>
                      </a:r>
                    </a:p>
                  </a:txBody>
                  <a:tcPr anchor="ctr"/>
                </a:tc>
                <a:extLst>
                  <a:ext uri="{0D108BD9-81ED-4DB2-BD59-A6C34878D82A}">
                    <a16:rowId xmlns:a16="http://schemas.microsoft.com/office/drawing/2014/main" val="3972456145"/>
                  </a:ext>
                </a:extLst>
              </a:tr>
              <a:tr h="0">
                <a:tc>
                  <a:txBody>
                    <a:bodyPr/>
                    <a:lstStyle/>
                    <a:p>
                      <a:pPr>
                        <a:buNone/>
                      </a:pPr>
                      <a:r>
                        <a:rPr lang="es-CO" b="1" dirty="0" err="1"/>
                        <a:t>Eigenvector</a:t>
                      </a:r>
                      <a:r>
                        <a:rPr lang="es-CO" b="1" dirty="0"/>
                        <a:t> / PageRank</a:t>
                      </a:r>
                      <a:endParaRPr lang="es-CO" dirty="0"/>
                    </a:p>
                  </a:txBody>
                  <a:tcPr anchor="ctr"/>
                </a:tc>
                <a:tc>
                  <a:txBody>
                    <a:bodyPr/>
                    <a:lstStyle/>
                    <a:p>
                      <a:pPr>
                        <a:buNone/>
                      </a:pPr>
                      <a:r>
                        <a:rPr lang="es-CO" dirty="0"/>
                        <a:t>Influencia recursiva</a:t>
                      </a:r>
                    </a:p>
                  </a:txBody>
                  <a:tcPr anchor="ctr"/>
                </a:tc>
                <a:tc>
                  <a:txBody>
                    <a:bodyPr/>
                    <a:lstStyle/>
                    <a:p>
                      <a:pPr>
                        <a:buNone/>
                      </a:pPr>
                      <a:r>
                        <a:rPr lang="es-MX" dirty="0"/>
                        <a:t>¿Quién es popular entre populares?</a:t>
                      </a:r>
                    </a:p>
                  </a:txBody>
                  <a:tcPr anchor="ctr"/>
                </a:tc>
                <a:tc>
                  <a:txBody>
                    <a:bodyPr/>
                    <a:lstStyle/>
                    <a:p>
                      <a:pPr>
                        <a:buNone/>
                      </a:pPr>
                      <a:r>
                        <a:rPr lang="es-CO" dirty="0" err="1"/>
                        <a:t>nx.pagerank</a:t>
                      </a:r>
                      <a:r>
                        <a:rPr lang="es-CO" dirty="0"/>
                        <a:t>(G)</a:t>
                      </a:r>
                    </a:p>
                  </a:txBody>
                  <a:tcPr anchor="ctr"/>
                </a:tc>
                <a:extLst>
                  <a:ext uri="{0D108BD9-81ED-4DB2-BD59-A6C34878D82A}">
                    <a16:rowId xmlns:a16="http://schemas.microsoft.com/office/drawing/2014/main" val="3097823213"/>
                  </a:ext>
                </a:extLst>
              </a:tr>
            </a:tbl>
          </a:graphicData>
        </a:graphic>
      </p:graphicFrame>
      <p:pic>
        <p:nvPicPr>
          <p:cNvPr id="5" name="Imagen 4">
            <a:extLst>
              <a:ext uri="{FF2B5EF4-FFF2-40B4-BE49-F238E27FC236}">
                <a16:creationId xmlns:a16="http://schemas.microsoft.com/office/drawing/2014/main" id="{05ACFE69-52F4-A14C-0CE7-46C8958010C3}"/>
              </a:ext>
            </a:extLst>
          </p:cNvPr>
          <p:cNvPicPr>
            <a:picLocks noChangeAspect="1"/>
          </p:cNvPicPr>
          <p:nvPr/>
        </p:nvPicPr>
        <p:blipFill>
          <a:blip r:embed="rId2"/>
          <a:stretch>
            <a:fillRect/>
          </a:stretch>
        </p:blipFill>
        <p:spPr>
          <a:xfrm>
            <a:off x="4315393" y="4533591"/>
            <a:ext cx="3561214" cy="2211990"/>
          </a:xfrm>
          <a:prstGeom prst="rect">
            <a:avLst/>
          </a:prstGeom>
        </p:spPr>
      </p:pic>
    </p:spTree>
    <p:extLst>
      <p:ext uri="{BB962C8B-B14F-4D97-AF65-F5344CB8AC3E}">
        <p14:creationId xmlns:p14="http://schemas.microsoft.com/office/powerpoint/2010/main" val="3882023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Otra forma de ver una página web: grafos - Las Redes Complejas sin complejos">
            <a:extLst>
              <a:ext uri="{FF2B5EF4-FFF2-40B4-BE49-F238E27FC236}">
                <a16:creationId xmlns:a16="http://schemas.microsoft.com/office/drawing/2014/main" id="{71A513A9-A283-B2B0-DE97-C9EA896FC6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8491" y="811491"/>
            <a:ext cx="5235018" cy="5235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474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B5519-A59F-1562-B851-5E96D6BF65D2}"/>
              </a:ext>
            </a:extLst>
          </p:cNvPr>
          <p:cNvSpPr>
            <a:spLocks noGrp="1"/>
          </p:cNvSpPr>
          <p:nvPr>
            <p:ph type="title"/>
          </p:nvPr>
        </p:nvSpPr>
        <p:spPr/>
        <p:txBody>
          <a:bodyPr/>
          <a:lstStyle/>
          <a:p>
            <a:r>
              <a:rPr lang="es-CO" b="1" dirty="0">
                <a:solidFill>
                  <a:srgbClr val="0D0D0D"/>
                </a:solidFill>
                <a:latin typeface="ui-sans-serif"/>
              </a:rPr>
              <a:t>Detección de comunidades</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1F7979D-B56D-0F9E-E753-5889DFF65576}"/>
                  </a:ext>
                </a:extLst>
              </p:cNvPr>
              <p:cNvSpPr>
                <a:spLocks noGrp="1"/>
              </p:cNvSpPr>
              <p:nvPr>
                <p:ph idx="1"/>
              </p:nvPr>
            </p:nvSpPr>
            <p:spPr/>
            <p:txBody>
              <a:bodyPr anchor="ctr"/>
              <a:lstStyle/>
              <a:p>
                <a:pPr>
                  <a:spcAft>
                    <a:spcPts val="1200"/>
                  </a:spcAft>
                </a:pPr>
                <a:r>
                  <a:rPr lang="es-CO" b="1" dirty="0">
                    <a:solidFill>
                      <a:srgbClr val="0D0D0D"/>
                    </a:solidFill>
                    <a:latin typeface="ui-sans-serif"/>
                  </a:rPr>
                  <a:t>Modularidad</a:t>
                </a:r>
                <a14:m>
                  <m:oMath xmlns:m="http://schemas.openxmlformats.org/officeDocument/2006/math">
                    <m:r>
                      <a:rPr lang="es-CO" b="1" i="0" dirty="0" smtClean="0">
                        <a:solidFill>
                          <a:srgbClr val="0D0D0D"/>
                        </a:solidFill>
                        <a:latin typeface="Cambria Math" panose="02040503050406030204" pitchFamily="18" charset="0"/>
                      </a:rPr>
                      <m:t> </m:t>
                    </m:r>
                    <m:r>
                      <m:rPr>
                        <m:sty m:val="p"/>
                      </m:rPr>
                      <a:rPr lang="es-CO" b="0" i="0" dirty="0" smtClean="0">
                        <a:solidFill>
                          <a:srgbClr val="0D0D0D"/>
                        </a:solidFill>
                        <a:latin typeface="Cambria Math" panose="02040503050406030204" pitchFamily="18" charset="0"/>
                      </a:rPr>
                      <m:t>Q</m:t>
                    </m:r>
                  </m:oMath>
                </a14:m>
                <a:r>
                  <a:rPr lang="es-CO" dirty="0">
                    <a:solidFill>
                      <a:srgbClr val="0D0D0D"/>
                    </a:solidFill>
                    <a:latin typeface="ui-sans-serif"/>
                  </a:rPr>
                  <a:t>: compara densidad interna vs. aleatoria.</a:t>
                </a:r>
              </a:p>
              <a:p>
                <a:pPr>
                  <a:spcAft>
                    <a:spcPts val="1200"/>
                  </a:spcAft>
                </a:pPr>
                <a:r>
                  <a:rPr lang="es-CO" b="1" dirty="0">
                    <a:solidFill>
                      <a:srgbClr val="0D0D0D"/>
                    </a:solidFill>
                    <a:latin typeface="ui-sans-serif"/>
                  </a:rPr>
                  <a:t>Algoritmos</a:t>
                </a:r>
                <a:endParaRPr lang="es-CO" dirty="0">
                  <a:solidFill>
                    <a:srgbClr val="0D0D0D"/>
                  </a:solidFill>
                  <a:latin typeface="ui-sans-serif"/>
                </a:endParaRPr>
              </a:p>
              <a:p>
                <a:pPr marL="742950" lvl="1" indent="-285750">
                  <a:spcAft>
                    <a:spcPts val="1200"/>
                  </a:spcAft>
                </a:pPr>
                <a:r>
                  <a:rPr lang="es-CO" i="1" dirty="0" err="1">
                    <a:solidFill>
                      <a:srgbClr val="0D0D0D"/>
                    </a:solidFill>
                    <a:latin typeface="ui-sans-serif"/>
                  </a:rPr>
                  <a:t>Girvan</a:t>
                </a:r>
                <a:r>
                  <a:rPr lang="es-CO" i="1" dirty="0">
                    <a:solidFill>
                      <a:srgbClr val="0D0D0D"/>
                    </a:solidFill>
                    <a:latin typeface="ui-sans-serif"/>
                  </a:rPr>
                  <a:t>-Newman</a:t>
                </a:r>
                <a:r>
                  <a:rPr lang="es-CO" dirty="0">
                    <a:solidFill>
                      <a:srgbClr val="0D0D0D"/>
                    </a:solidFill>
                    <a:latin typeface="ui-sans-serif"/>
                  </a:rPr>
                  <a:t>: elimina aristas con alta intermediación.</a:t>
                </a:r>
              </a:p>
              <a:p>
                <a:pPr marL="742950" lvl="1" indent="-285750">
                  <a:spcAft>
                    <a:spcPts val="1200"/>
                  </a:spcAft>
                </a:pPr>
                <a:r>
                  <a:rPr lang="es-CO" i="1" dirty="0" err="1">
                    <a:solidFill>
                      <a:srgbClr val="0D0D0D"/>
                    </a:solidFill>
                    <a:latin typeface="ui-sans-serif"/>
                  </a:rPr>
                  <a:t>Louvain</a:t>
                </a:r>
                <a:r>
                  <a:rPr lang="es-CO" dirty="0">
                    <a:solidFill>
                      <a:srgbClr val="0D0D0D"/>
                    </a:solidFill>
                    <a:latin typeface="ui-sans-serif"/>
                  </a:rPr>
                  <a:t>: optimiza </a:t>
                </a:r>
                <a:r>
                  <a:rPr lang="es-CO" i="1" dirty="0">
                    <a:solidFill>
                      <a:srgbClr val="0D0D0D"/>
                    </a:solidFill>
                    <a:latin typeface="KaTeX_Math"/>
                  </a:rPr>
                  <a:t>Q</a:t>
                </a:r>
                <a:r>
                  <a:rPr lang="es-CO" dirty="0">
                    <a:solidFill>
                      <a:srgbClr val="0D0D0D"/>
                    </a:solidFill>
                    <a:latin typeface="ui-sans-serif"/>
                  </a:rPr>
                  <a:t> de forma jerárquica.</a:t>
                </a:r>
                <a:endParaRPr lang="es-CO" dirty="0"/>
              </a:p>
            </p:txBody>
          </p:sp>
        </mc:Choice>
        <mc:Fallback xmlns="">
          <p:sp>
            <p:nvSpPr>
              <p:cNvPr id="3" name="Marcador de contenido 2">
                <a:extLst>
                  <a:ext uri="{FF2B5EF4-FFF2-40B4-BE49-F238E27FC236}">
                    <a16:creationId xmlns:a16="http://schemas.microsoft.com/office/drawing/2014/main" id="{31F7979D-B56D-0F9E-E753-5889DFF65576}"/>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s-CO">
                    <a:noFill/>
                  </a:rPr>
                  <a:t> </a:t>
                </a:r>
              </a:p>
            </p:txBody>
          </p:sp>
        </mc:Fallback>
      </mc:AlternateContent>
    </p:spTree>
    <p:extLst>
      <p:ext uri="{BB962C8B-B14F-4D97-AF65-F5344CB8AC3E}">
        <p14:creationId xmlns:p14="http://schemas.microsoft.com/office/powerpoint/2010/main" val="135766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47697-1E36-77CA-95C2-DFB3B205C300}"/>
              </a:ext>
            </a:extLst>
          </p:cNvPr>
          <p:cNvSpPr>
            <a:spLocks noGrp="1"/>
          </p:cNvSpPr>
          <p:nvPr>
            <p:ph type="title"/>
          </p:nvPr>
        </p:nvSpPr>
        <p:spPr/>
        <p:txBody>
          <a:bodyPr/>
          <a:lstStyle/>
          <a:p>
            <a:r>
              <a:rPr lang="es-CO" b="1" dirty="0" err="1">
                <a:solidFill>
                  <a:srgbClr val="0D0D0D"/>
                </a:solidFill>
                <a:latin typeface="ui-sans-serif"/>
              </a:rPr>
              <a:t>Girvan</a:t>
            </a:r>
            <a:r>
              <a:rPr lang="es-CO" b="1" dirty="0">
                <a:solidFill>
                  <a:srgbClr val="0D0D0D"/>
                </a:solidFill>
                <a:latin typeface="ui-sans-serif"/>
              </a:rPr>
              <a:t> Newman </a:t>
            </a:r>
            <a:r>
              <a:rPr lang="es-CO" b="1" dirty="0" err="1">
                <a:solidFill>
                  <a:srgbClr val="0D0D0D"/>
                </a:solidFill>
                <a:latin typeface="ui-sans-serif"/>
              </a:rPr>
              <a:t>algorithm</a:t>
            </a:r>
            <a:endParaRPr lang="es-CO" b="1" dirty="0">
              <a:solidFill>
                <a:srgbClr val="0D0D0D"/>
              </a:solidFill>
              <a:latin typeface="ui-sans-serif"/>
            </a:endParaRPr>
          </a:p>
        </p:txBody>
      </p:sp>
      <p:sp>
        <p:nvSpPr>
          <p:cNvPr id="3" name="Marcador de contenido 2">
            <a:extLst>
              <a:ext uri="{FF2B5EF4-FFF2-40B4-BE49-F238E27FC236}">
                <a16:creationId xmlns:a16="http://schemas.microsoft.com/office/drawing/2014/main" id="{53A7C7DE-7009-BAAB-CAAD-34376BAA371C}"/>
              </a:ext>
            </a:extLst>
          </p:cNvPr>
          <p:cNvSpPr>
            <a:spLocks noGrp="1"/>
          </p:cNvSpPr>
          <p:nvPr>
            <p:ph idx="1"/>
          </p:nvPr>
        </p:nvSpPr>
        <p:spPr/>
        <p:txBody>
          <a:bodyPr anchor="ctr">
            <a:normAutofit/>
          </a:bodyPr>
          <a:lstStyle/>
          <a:p>
            <a:pPr marL="0" indent="0">
              <a:buNone/>
            </a:pPr>
            <a:r>
              <a:rPr lang="es-MX" dirty="0"/>
              <a:t>La detección de comunidades en redes sociales es un problema fundamental en el análisis de redes. Implica la división de una red en subgrupos donde los nodos presentan una mayor conexión interna. El </a:t>
            </a:r>
            <a:r>
              <a:rPr lang="es-MX" b="1" dirty="0"/>
              <a:t>algoritmo de </a:t>
            </a:r>
            <a:r>
              <a:rPr lang="es-MX" b="1" dirty="0" err="1"/>
              <a:t>Girvan</a:t>
            </a:r>
            <a:r>
              <a:rPr lang="es-MX" b="1" dirty="0"/>
              <a:t>-Newman </a:t>
            </a:r>
            <a:r>
              <a:rPr lang="es-MX" dirty="0"/>
              <a:t>identifica comunidades eliminando iterativamente los bordes con mayor centralidad de intermediación, que actúan como puentes entre grupos y revelan la estructura de la red.</a:t>
            </a:r>
            <a:endParaRPr lang="es-CO" dirty="0"/>
          </a:p>
        </p:txBody>
      </p:sp>
    </p:spTree>
    <p:extLst>
      <p:ext uri="{BB962C8B-B14F-4D97-AF65-F5344CB8AC3E}">
        <p14:creationId xmlns:p14="http://schemas.microsoft.com/office/powerpoint/2010/main" val="2415333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47697-1E36-77CA-95C2-DFB3B205C300}"/>
              </a:ext>
            </a:extLst>
          </p:cNvPr>
          <p:cNvSpPr>
            <a:spLocks noGrp="1"/>
          </p:cNvSpPr>
          <p:nvPr>
            <p:ph type="title"/>
          </p:nvPr>
        </p:nvSpPr>
        <p:spPr/>
        <p:txBody>
          <a:bodyPr/>
          <a:lstStyle/>
          <a:p>
            <a:r>
              <a:rPr lang="es-CO" b="1" dirty="0" err="1">
                <a:solidFill>
                  <a:srgbClr val="0D0D0D"/>
                </a:solidFill>
                <a:latin typeface="ui-sans-serif"/>
              </a:rPr>
              <a:t>Girvan</a:t>
            </a:r>
            <a:r>
              <a:rPr lang="es-CO" b="1" dirty="0">
                <a:solidFill>
                  <a:srgbClr val="0D0D0D"/>
                </a:solidFill>
                <a:latin typeface="ui-sans-serif"/>
              </a:rPr>
              <a:t> Newman </a:t>
            </a:r>
            <a:r>
              <a:rPr lang="es-CO" b="1" dirty="0" err="1">
                <a:solidFill>
                  <a:srgbClr val="0D0D0D"/>
                </a:solidFill>
                <a:latin typeface="ui-sans-serif"/>
              </a:rPr>
              <a:t>algorithm</a:t>
            </a:r>
            <a:endParaRPr lang="es-CO" b="1" dirty="0">
              <a:solidFill>
                <a:srgbClr val="0D0D0D"/>
              </a:solidFill>
              <a:latin typeface="ui-sans-serif"/>
            </a:endParaRPr>
          </a:p>
        </p:txBody>
      </p:sp>
      <p:sp>
        <p:nvSpPr>
          <p:cNvPr id="3" name="Marcador de contenido 2">
            <a:extLst>
              <a:ext uri="{FF2B5EF4-FFF2-40B4-BE49-F238E27FC236}">
                <a16:creationId xmlns:a16="http://schemas.microsoft.com/office/drawing/2014/main" id="{53A7C7DE-7009-BAAB-CAAD-34376BAA371C}"/>
              </a:ext>
            </a:extLst>
          </p:cNvPr>
          <p:cNvSpPr>
            <a:spLocks noGrp="1"/>
          </p:cNvSpPr>
          <p:nvPr>
            <p:ph idx="1"/>
          </p:nvPr>
        </p:nvSpPr>
        <p:spPr/>
        <p:txBody>
          <a:bodyPr>
            <a:normAutofit lnSpcReduction="10000"/>
          </a:bodyPr>
          <a:lstStyle/>
          <a:p>
            <a:pPr marL="0" indent="0">
              <a:buNone/>
            </a:pPr>
            <a:r>
              <a:rPr lang="es-MX" dirty="0"/>
              <a:t>El algoritmo de </a:t>
            </a:r>
            <a:r>
              <a:rPr lang="es-MX" dirty="0" err="1"/>
              <a:t>Girvan</a:t>
            </a:r>
            <a:r>
              <a:rPr lang="es-MX" dirty="0"/>
              <a:t>-Newman sigue estos pasos:</a:t>
            </a:r>
          </a:p>
          <a:p>
            <a:endParaRPr lang="es-MX" dirty="0"/>
          </a:p>
          <a:p>
            <a:pPr marL="914400" lvl="1" indent="-457200">
              <a:buFont typeface="+mj-lt"/>
              <a:buAutoNum type="arabicPeriod"/>
            </a:pPr>
            <a:r>
              <a:rPr lang="es-MX" b="1" dirty="0"/>
              <a:t>Crear el grafo</a:t>
            </a:r>
            <a:r>
              <a:rPr lang="es-MX" dirty="0"/>
              <a:t>: Partir de una red dada compuesta por nodos y aristas.</a:t>
            </a:r>
          </a:p>
          <a:p>
            <a:pPr marL="914400" lvl="1" indent="-457200">
              <a:buFont typeface="+mj-lt"/>
              <a:buAutoNum type="arabicPeriod"/>
            </a:pPr>
            <a:r>
              <a:rPr lang="es-MX" b="1" dirty="0"/>
              <a:t>Calcular la intermediación</a:t>
            </a:r>
            <a:r>
              <a:rPr lang="es-MX" dirty="0"/>
              <a:t>: Calcular la centralidad de intermediación de las aristas para todas las aristas del grafo.</a:t>
            </a:r>
          </a:p>
          <a:p>
            <a:pPr marL="914400" lvl="1" indent="-457200">
              <a:buFont typeface="+mj-lt"/>
              <a:buAutoNum type="arabicPeriod"/>
            </a:pPr>
            <a:r>
              <a:rPr lang="es-MX" b="1" dirty="0"/>
              <a:t>Eliminar las aristas con mayor intermediación</a:t>
            </a:r>
            <a:r>
              <a:rPr lang="es-MX" dirty="0"/>
              <a:t>: Identificar y eliminar las aristas con mayor puntuación de intermediación.</a:t>
            </a:r>
          </a:p>
          <a:p>
            <a:pPr marL="914400" lvl="1" indent="-457200">
              <a:buFont typeface="+mj-lt"/>
              <a:buAutoNum type="arabicPeriod"/>
            </a:pPr>
            <a:r>
              <a:rPr lang="es-MX" b="1" dirty="0"/>
              <a:t>Recalcular la intermediación</a:t>
            </a:r>
            <a:r>
              <a:rPr lang="es-MX" dirty="0"/>
              <a:t>: Tras eliminar las aristas, volver a calcular la intermediación para las aristas afectadas.</a:t>
            </a:r>
          </a:p>
          <a:p>
            <a:pPr marL="914400" lvl="1" indent="-457200">
              <a:buFont typeface="+mj-lt"/>
              <a:buAutoNum type="arabicPeriod"/>
            </a:pPr>
            <a:r>
              <a:rPr lang="es-MX" b="1" dirty="0"/>
              <a:t>Repetir los pasos 3 y 4</a:t>
            </a:r>
            <a:r>
              <a:rPr lang="es-MX" dirty="0"/>
              <a:t>: Continuar eliminando aristas hasta que no queden aristas o surjan estructuras de comunidad significativas.</a:t>
            </a:r>
          </a:p>
          <a:p>
            <a:pPr marL="914400" lvl="1" indent="-457200">
              <a:buFont typeface="+mj-lt"/>
              <a:buAutoNum type="arabicPeriod"/>
            </a:pPr>
            <a:r>
              <a:rPr lang="es-MX" b="1" dirty="0"/>
              <a:t>Extraer comunidades</a:t>
            </a:r>
            <a:r>
              <a:rPr lang="es-MX" dirty="0"/>
              <a:t>: A medida que se eliminan aristas, el grafo se divide gradualmente en componentes conectados que representan diferentes comunidades.</a:t>
            </a:r>
            <a:endParaRPr lang="es-CO" dirty="0"/>
          </a:p>
        </p:txBody>
      </p:sp>
    </p:spTree>
    <p:extLst>
      <p:ext uri="{BB962C8B-B14F-4D97-AF65-F5344CB8AC3E}">
        <p14:creationId xmlns:p14="http://schemas.microsoft.com/office/powerpoint/2010/main" val="4199108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065C6C1-81EF-F10A-6047-FE9BAE4DDC99}"/>
              </a:ext>
            </a:extLst>
          </p:cNvPr>
          <p:cNvPicPr>
            <a:picLocks noChangeAspect="1"/>
          </p:cNvPicPr>
          <p:nvPr/>
        </p:nvPicPr>
        <p:blipFill>
          <a:blip r:embed="rId2"/>
          <a:stretch>
            <a:fillRect/>
          </a:stretch>
        </p:blipFill>
        <p:spPr>
          <a:xfrm>
            <a:off x="1" y="1"/>
            <a:ext cx="4373088" cy="3429000"/>
          </a:xfrm>
          <a:prstGeom prst="rect">
            <a:avLst/>
          </a:prstGeom>
        </p:spPr>
      </p:pic>
      <p:pic>
        <p:nvPicPr>
          <p:cNvPr id="4" name="Imagen 3">
            <a:extLst>
              <a:ext uri="{FF2B5EF4-FFF2-40B4-BE49-F238E27FC236}">
                <a16:creationId xmlns:a16="http://schemas.microsoft.com/office/drawing/2014/main" id="{B0A4774E-AA5A-03A8-E63D-56BD428AE757}"/>
              </a:ext>
            </a:extLst>
          </p:cNvPr>
          <p:cNvPicPr>
            <a:picLocks noChangeAspect="1"/>
          </p:cNvPicPr>
          <p:nvPr/>
        </p:nvPicPr>
        <p:blipFill>
          <a:blip r:embed="rId3"/>
          <a:stretch>
            <a:fillRect/>
          </a:stretch>
        </p:blipFill>
        <p:spPr>
          <a:xfrm>
            <a:off x="7515226" y="1"/>
            <a:ext cx="4373088" cy="3429000"/>
          </a:xfrm>
          <a:prstGeom prst="rect">
            <a:avLst/>
          </a:prstGeom>
        </p:spPr>
      </p:pic>
      <p:pic>
        <p:nvPicPr>
          <p:cNvPr id="5" name="Imagen 4">
            <a:extLst>
              <a:ext uri="{FF2B5EF4-FFF2-40B4-BE49-F238E27FC236}">
                <a16:creationId xmlns:a16="http://schemas.microsoft.com/office/drawing/2014/main" id="{C8D82892-D6A3-6C9A-366E-69CA4F302C10}"/>
              </a:ext>
            </a:extLst>
          </p:cNvPr>
          <p:cNvPicPr>
            <a:picLocks noChangeAspect="1"/>
          </p:cNvPicPr>
          <p:nvPr/>
        </p:nvPicPr>
        <p:blipFill>
          <a:blip r:embed="rId4"/>
          <a:stretch>
            <a:fillRect/>
          </a:stretch>
        </p:blipFill>
        <p:spPr>
          <a:xfrm>
            <a:off x="3909456" y="3429000"/>
            <a:ext cx="4373088" cy="3429000"/>
          </a:xfrm>
          <a:prstGeom prst="rect">
            <a:avLst/>
          </a:prstGeom>
        </p:spPr>
      </p:pic>
    </p:spTree>
    <p:extLst>
      <p:ext uri="{BB962C8B-B14F-4D97-AF65-F5344CB8AC3E}">
        <p14:creationId xmlns:p14="http://schemas.microsoft.com/office/powerpoint/2010/main" val="107599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A5EF3F-75C8-A639-0D5A-57CCDD3E1705}"/>
              </a:ext>
            </a:extLst>
          </p:cNvPr>
          <p:cNvSpPr>
            <a:spLocks noGrp="1"/>
          </p:cNvSpPr>
          <p:nvPr>
            <p:ph type="title"/>
          </p:nvPr>
        </p:nvSpPr>
        <p:spPr/>
        <p:txBody>
          <a:bodyPr/>
          <a:lstStyle/>
          <a:p>
            <a:r>
              <a:rPr lang="es-CO" dirty="0"/>
              <a:t>Ventajas y desventajas del algoritmo de </a:t>
            </a:r>
            <a:r>
              <a:rPr lang="es-CO" dirty="0" err="1"/>
              <a:t>Girvan</a:t>
            </a:r>
            <a:r>
              <a:rPr lang="es-CO" dirty="0"/>
              <a:t> Newman </a:t>
            </a:r>
          </a:p>
        </p:txBody>
      </p:sp>
      <p:graphicFrame>
        <p:nvGraphicFramePr>
          <p:cNvPr id="4" name="Marcador de contenido 3">
            <a:extLst>
              <a:ext uri="{FF2B5EF4-FFF2-40B4-BE49-F238E27FC236}">
                <a16:creationId xmlns:a16="http://schemas.microsoft.com/office/drawing/2014/main" id="{3343FE75-1030-3326-6A91-3AE0E6D49040}"/>
              </a:ext>
            </a:extLst>
          </p:cNvPr>
          <p:cNvGraphicFramePr>
            <a:graphicFrameLocks noGrp="1"/>
          </p:cNvGraphicFramePr>
          <p:nvPr>
            <p:ph idx="1"/>
            <p:extLst>
              <p:ext uri="{D42A27DB-BD31-4B8C-83A1-F6EECF244321}">
                <p14:modId xmlns:p14="http://schemas.microsoft.com/office/powerpoint/2010/main" val="113664701"/>
              </p:ext>
            </p:extLst>
          </p:nvPr>
        </p:nvGraphicFramePr>
        <p:xfrm>
          <a:off x="838200" y="2567543"/>
          <a:ext cx="10515600" cy="2765586"/>
        </p:xfrm>
        <a:graphic>
          <a:graphicData uri="http://schemas.openxmlformats.org/drawingml/2006/table">
            <a:tbl>
              <a:tblPr firstRow="1" bandRow="1">
                <a:tableStyleId>{9D7B26C5-4107-4FEC-AEDC-1716B250A1EF}</a:tableStyleId>
              </a:tblPr>
              <a:tblGrid>
                <a:gridCol w="3364992">
                  <a:extLst>
                    <a:ext uri="{9D8B030D-6E8A-4147-A177-3AD203B41FA5}">
                      <a16:colId xmlns:a16="http://schemas.microsoft.com/office/drawing/2014/main" val="1934238159"/>
                    </a:ext>
                  </a:extLst>
                </a:gridCol>
                <a:gridCol w="7150608">
                  <a:extLst>
                    <a:ext uri="{9D8B030D-6E8A-4147-A177-3AD203B41FA5}">
                      <a16:colId xmlns:a16="http://schemas.microsoft.com/office/drawing/2014/main" val="2245808135"/>
                    </a:ext>
                  </a:extLst>
                </a:gridCol>
              </a:tblGrid>
              <a:tr h="0">
                <a:tc>
                  <a:txBody>
                    <a:bodyPr/>
                    <a:lstStyle/>
                    <a:p>
                      <a:pPr algn="ctr" rtl="0" fontAlgn="base">
                        <a:spcAft>
                          <a:spcPts val="750"/>
                        </a:spcAft>
                        <a:buNone/>
                      </a:pPr>
                      <a:r>
                        <a:rPr lang="es-CO" sz="2000" b="1" dirty="0">
                          <a:effectLst/>
                        </a:rPr>
                        <a:t>Ventajas</a:t>
                      </a:r>
                    </a:p>
                  </a:txBody>
                  <a:tcPr marL="38100" marR="38100" marT="95250" marB="95250" anchor="ctr"/>
                </a:tc>
                <a:tc>
                  <a:txBody>
                    <a:bodyPr/>
                    <a:lstStyle/>
                    <a:p>
                      <a:pPr algn="ctr" rtl="0" fontAlgn="base">
                        <a:spcAft>
                          <a:spcPts val="750"/>
                        </a:spcAft>
                        <a:buNone/>
                      </a:pPr>
                      <a:r>
                        <a:rPr lang="es-CO" sz="2000" b="1" dirty="0">
                          <a:effectLst/>
                        </a:rPr>
                        <a:t>Desventajas</a:t>
                      </a:r>
                    </a:p>
                  </a:txBody>
                  <a:tcPr marL="95250" marR="95250" marT="95250" marB="95250" anchor="ctr"/>
                </a:tc>
                <a:extLst>
                  <a:ext uri="{0D108BD9-81ED-4DB2-BD59-A6C34878D82A}">
                    <a16:rowId xmlns:a16="http://schemas.microsoft.com/office/drawing/2014/main" val="259054778"/>
                  </a:ext>
                </a:extLst>
              </a:tr>
              <a:tr h="0">
                <a:tc>
                  <a:txBody>
                    <a:bodyPr/>
                    <a:lstStyle/>
                    <a:p>
                      <a:pPr algn="ctr" rtl="0" fontAlgn="base">
                        <a:spcAft>
                          <a:spcPts val="750"/>
                        </a:spcAft>
                        <a:buNone/>
                      </a:pPr>
                      <a:r>
                        <a:rPr lang="es-MX" sz="2000" b="1" dirty="0">
                          <a:effectLst/>
                        </a:rPr>
                        <a:t>Funciona bien en redes pequeñas y medianas</a:t>
                      </a:r>
                      <a:endParaRPr lang="en-US" sz="2000" b="1" dirty="0">
                        <a:effectLst/>
                      </a:endParaRPr>
                    </a:p>
                  </a:txBody>
                  <a:tcPr marL="38100" marR="38100" marT="73581" marB="73581" anchor="ctr"/>
                </a:tc>
                <a:tc>
                  <a:txBody>
                    <a:bodyPr/>
                    <a:lstStyle/>
                    <a:p>
                      <a:pPr algn="ctr" rtl="0" fontAlgn="base">
                        <a:spcAft>
                          <a:spcPts val="750"/>
                        </a:spcAft>
                        <a:buNone/>
                      </a:pPr>
                      <a:r>
                        <a:rPr lang="es-MX" sz="1800" b="0" dirty="0">
                          <a:effectLst/>
                        </a:rPr>
                        <a:t>Requiere un alto costo computacional para redes grandes</a:t>
                      </a:r>
                      <a:endParaRPr lang="en-US" sz="1800" b="0" dirty="0">
                        <a:effectLst/>
                      </a:endParaRPr>
                    </a:p>
                  </a:txBody>
                  <a:tcPr marL="95250" marR="95250" marT="133350" marB="133350" anchor="ctr"/>
                </a:tc>
                <a:extLst>
                  <a:ext uri="{0D108BD9-81ED-4DB2-BD59-A6C34878D82A}">
                    <a16:rowId xmlns:a16="http://schemas.microsoft.com/office/drawing/2014/main" val="2443995075"/>
                  </a:ext>
                </a:extLst>
              </a:tr>
              <a:tr h="0">
                <a:tc>
                  <a:txBody>
                    <a:bodyPr/>
                    <a:lstStyle/>
                    <a:p>
                      <a:pPr algn="ctr" rtl="0" fontAlgn="base">
                        <a:spcAft>
                          <a:spcPts val="750"/>
                        </a:spcAft>
                        <a:buNone/>
                      </a:pPr>
                      <a:r>
                        <a:rPr lang="es-CO" sz="2000" b="1" dirty="0">
                          <a:effectLst/>
                        </a:rPr>
                        <a:t>Revela la estructura jerárquica</a:t>
                      </a:r>
                    </a:p>
                  </a:txBody>
                  <a:tcPr marL="38100" marR="38100" marT="73581" marB="73581" anchor="ctr"/>
                </a:tc>
                <a:tc>
                  <a:txBody>
                    <a:bodyPr/>
                    <a:lstStyle/>
                    <a:p>
                      <a:pPr algn="ctr" rtl="0" fontAlgn="base">
                        <a:spcAft>
                          <a:spcPts val="750"/>
                        </a:spcAft>
                        <a:buNone/>
                      </a:pPr>
                      <a:r>
                        <a:rPr lang="en-US" sz="1800" b="0" dirty="0" err="1">
                          <a:effectLst/>
                        </a:rPr>
                        <a:t>Requiere</a:t>
                      </a:r>
                      <a:r>
                        <a:rPr lang="en-US" sz="1800" b="0" dirty="0">
                          <a:effectLst/>
                        </a:rPr>
                        <a:t> un </a:t>
                      </a:r>
                      <a:r>
                        <a:rPr lang="en-US" sz="1800" b="0" dirty="0" err="1">
                          <a:effectLst/>
                        </a:rPr>
                        <a:t>recálculo</a:t>
                      </a:r>
                      <a:r>
                        <a:rPr lang="en-US" sz="1800" b="0" dirty="0">
                          <a:effectLst/>
                        </a:rPr>
                        <a:t> </a:t>
                      </a:r>
                      <a:r>
                        <a:rPr lang="en-US" sz="1800" b="0" dirty="0" err="1">
                          <a:effectLst/>
                        </a:rPr>
                        <a:t>completo</a:t>
                      </a:r>
                      <a:r>
                        <a:rPr lang="en-US" sz="1800" b="0" dirty="0">
                          <a:effectLst/>
                        </a:rPr>
                        <a:t> </a:t>
                      </a:r>
                      <a:r>
                        <a:rPr lang="en-US" sz="1800" b="0" dirty="0" err="1">
                          <a:effectLst/>
                        </a:rPr>
                        <a:t>si</a:t>
                      </a:r>
                      <a:r>
                        <a:rPr lang="en-US" sz="1800" b="0" dirty="0">
                          <a:effectLst/>
                        </a:rPr>
                        <a:t> la red cambia</a:t>
                      </a:r>
                    </a:p>
                  </a:txBody>
                  <a:tcPr marL="95250" marR="95250" marT="133350" marB="133350" anchor="ctr"/>
                </a:tc>
                <a:extLst>
                  <a:ext uri="{0D108BD9-81ED-4DB2-BD59-A6C34878D82A}">
                    <a16:rowId xmlns:a16="http://schemas.microsoft.com/office/drawing/2014/main" val="571671800"/>
                  </a:ext>
                </a:extLst>
              </a:tr>
              <a:tr h="0">
                <a:tc>
                  <a:txBody>
                    <a:bodyPr/>
                    <a:lstStyle/>
                    <a:p>
                      <a:pPr algn="ctr" rtl="0" fontAlgn="base">
                        <a:spcAft>
                          <a:spcPts val="750"/>
                        </a:spcAft>
                        <a:buNone/>
                      </a:pPr>
                      <a:r>
                        <a:rPr lang="es-CO" sz="2000" b="1" dirty="0">
                          <a:effectLst/>
                        </a:rPr>
                        <a:t>Basado en propiedades estructurales</a:t>
                      </a:r>
                    </a:p>
                  </a:txBody>
                  <a:tcPr marL="38100" marR="38100" marT="73581" marB="73581" anchor="ctr"/>
                </a:tc>
                <a:tc>
                  <a:txBody>
                    <a:bodyPr/>
                    <a:lstStyle/>
                    <a:p>
                      <a:pPr algn="ctr" rtl="0" fontAlgn="base">
                        <a:spcAft>
                          <a:spcPts val="750"/>
                        </a:spcAft>
                        <a:buNone/>
                      </a:pPr>
                      <a:r>
                        <a:rPr lang="en-US" sz="1800" b="0" dirty="0">
                          <a:effectLst/>
                        </a:rPr>
                        <a:t>No </a:t>
                      </a:r>
                      <a:r>
                        <a:rPr lang="en-US" sz="1800" b="0" dirty="0" err="1">
                          <a:effectLst/>
                        </a:rPr>
                        <a:t>apto</a:t>
                      </a:r>
                      <a:r>
                        <a:rPr lang="en-US" sz="1800" b="0" dirty="0">
                          <a:effectLst/>
                        </a:rPr>
                        <a:t> para redes </a:t>
                      </a:r>
                      <a:r>
                        <a:rPr lang="en-US" sz="1800" b="0" dirty="0" err="1">
                          <a:effectLst/>
                        </a:rPr>
                        <a:t>dinámicas</a:t>
                      </a:r>
                      <a:endParaRPr lang="en-US" sz="1800" b="0" dirty="0">
                        <a:effectLst/>
                      </a:endParaRPr>
                    </a:p>
                  </a:txBody>
                  <a:tcPr marL="95250" marR="95250" marT="133350" marB="133350" anchor="ctr"/>
                </a:tc>
                <a:extLst>
                  <a:ext uri="{0D108BD9-81ED-4DB2-BD59-A6C34878D82A}">
                    <a16:rowId xmlns:a16="http://schemas.microsoft.com/office/drawing/2014/main" val="3572549182"/>
                  </a:ext>
                </a:extLst>
              </a:tr>
            </a:tbl>
          </a:graphicData>
        </a:graphic>
      </p:graphicFrame>
    </p:spTree>
    <p:extLst>
      <p:ext uri="{BB962C8B-B14F-4D97-AF65-F5344CB8AC3E}">
        <p14:creationId xmlns:p14="http://schemas.microsoft.com/office/powerpoint/2010/main" val="2167975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EC1B98-7241-AF86-B184-1E5783922C55}"/>
              </a:ext>
            </a:extLst>
          </p:cNvPr>
          <p:cNvSpPr>
            <a:spLocks noGrp="1"/>
          </p:cNvSpPr>
          <p:nvPr>
            <p:ph type="title"/>
          </p:nvPr>
        </p:nvSpPr>
        <p:spPr/>
        <p:txBody>
          <a:bodyPr/>
          <a:lstStyle/>
          <a:p>
            <a:r>
              <a:rPr lang="es-CO" dirty="0"/>
              <a:t>Método de </a:t>
            </a:r>
            <a:r>
              <a:rPr lang="es-CO" dirty="0" err="1"/>
              <a:t>Louvain</a:t>
            </a:r>
            <a:endParaRPr lang="es-CO" dirty="0"/>
          </a:p>
        </p:txBody>
      </p:sp>
      <p:sp>
        <p:nvSpPr>
          <p:cNvPr id="3" name="Marcador de contenido 2">
            <a:extLst>
              <a:ext uri="{FF2B5EF4-FFF2-40B4-BE49-F238E27FC236}">
                <a16:creationId xmlns:a16="http://schemas.microsoft.com/office/drawing/2014/main" id="{9BC6941A-AFE6-57F0-C65A-6B868D8192AF}"/>
              </a:ext>
            </a:extLst>
          </p:cNvPr>
          <p:cNvSpPr>
            <a:spLocks noGrp="1"/>
          </p:cNvSpPr>
          <p:nvPr>
            <p:ph idx="1"/>
          </p:nvPr>
        </p:nvSpPr>
        <p:spPr/>
        <p:txBody>
          <a:bodyPr>
            <a:normAutofit fontScale="92500"/>
          </a:bodyPr>
          <a:lstStyle/>
          <a:p>
            <a:r>
              <a:rPr lang="es-MX" dirty="0">
                <a:solidFill>
                  <a:srgbClr val="202122"/>
                </a:solidFill>
                <a:latin typeface="Arial" panose="020B0604020202020204" pitchFamily="34" charset="0"/>
              </a:rPr>
              <a:t>El </a:t>
            </a:r>
            <a:r>
              <a:rPr lang="es-MX" b="1" dirty="0">
                <a:solidFill>
                  <a:srgbClr val="202122"/>
                </a:solidFill>
                <a:latin typeface="Arial" panose="020B0604020202020204" pitchFamily="34" charset="0"/>
              </a:rPr>
              <a:t>método de </a:t>
            </a:r>
            <a:r>
              <a:rPr lang="es-MX" b="1" dirty="0" err="1">
                <a:solidFill>
                  <a:srgbClr val="202122"/>
                </a:solidFill>
                <a:latin typeface="Arial" panose="020B0604020202020204" pitchFamily="34" charset="0"/>
              </a:rPr>
              <a:t>Louvain</a:t>
            </a:r>
            <a:r>
              <a:rPr lang="es-MX" b="1" dirty="0">
                <a:solidFill>
                  <a:srgbClr val="202122"/>
                </a:solidFill>
                <a:latin typeface="Arial" panose="020B0604020202020204" pitchFamily="34" charset="0"/>
              </a:rPr>
              <a:t> para detección de comunidades</a:t>
            </a:r>
            <a:r>
              <a:rPr lang="es-MX" dirty="0">
                <a:solidFill>
                  <a:srgbClr val="202122"/>
                </a:solidFill>
                <a:latin typeface="Arial" panose="020B0604020202020204" pitchFamily="34" charset="0"/>
              </a:rPr>
              <a:t> permite extraer comunidades de redes grandes. Fue creado por Blondel </a:t>
            </a:r>
            <a:r>
              <a:rPr lang="es-MX" i="1" dirty="0">
                <a:solidFill>
                  <a:srgbClr val="202122"/>
                </a:solidFill>
                <a:latin typeface="Arial" panose="020B0604020202020204" pitchFamily="34" charset="0"/>
              </a:rPr>
              <a:t>et al</a:t>
            </a:r>
            <a:r>
              <a:rPr lang="es-MX" dirty="0">
                <a:solidFill>
                  <a:srgbClr val="202122"/>
                </a:solidFill>
                <a:latin typeface="Arial" panose="020B0604020202020204" pitchFamily="34" charset="0"/>
              </a:rPr>
              <a:t>.</a:t>
            </a:r>
            <a:r>
              <a:rPr lang="es-MX" baseline="30000" dirty="0">
                <a:solidFill>
                  <a:srgbClr val="3366CC"/>
                </a:solidFill>
                <a:latin typeface="Arial" panose="020B0604020202020204" pitchFamily="34" charset="0"/>
                <a:hlinkClick r:id="rId2"/>
              </a:rPr>
              <a:t>[1]</a:t>
            </a:r>
            <a:r>
              <a:rPr lang="es-MX" dirty="0">
                <a:solidFill>
                  <a:srgbClr val="202122"/>
                </a:solidFill>
                <a:latin typeface="Arial" panose="020B0604020202020204" pitchFamily="34" charset="0"/>
              </a:rPr>
              <a:t>​ y toma su nombre de la filiación de los autores, la </a:t>
            </a:r>
            <a:r>
              <a:rPr lang="es-MX" dirty="0">
                <a:solidFill>
                  <a:srgbClr val="3366CC"/>
                </a:solidFill>
                <a:latin typeface="Arial" panose="020B0604020202020204" pitchFamily="34" charset="0"/>
                <a:hlinkClick r:id="rId3" tooltip="Universidad Católica de Lovaina"/>
              </a:rPr>
              <a:t>Universidad Católica de Lovaina</a:t>
            </a:r>
            <a:r>
              <a:rPr lang="es-MX" dirty="0">
                <a:solidFill>
                  <a:srgbClr val="202122"/>
                </a:solidFill>
                <a:latin typeface="Arial" panose="020B0604020202020204" pitchFamily="34" charset="0"/>
              </a:rPr>
              <a:t> (Bélgica).</a:t>
            </a:r>
          </a:p>
          <a:p>
            <a:r>
              <a:rPr lang="es-MX" dirty="0">
                <a:solidFill>
                  <a:srgbClr val="202122"/>
                </a:solidFill>
                <a:latin typeface="Arial" panose="020B0604020202020204" pitchFamily="34" charset="0"/>
              </a:rPr>
              <a:t>Este método de detección de comunidades busca optimizar la modularidad, un número entre -0.5 y 1 que compara la densidad de aristas dentro y fuera de una comunidad. Teóricamente, optimizando este valor iteración a iteración se obtiene la mejor posible agrupación de los nodos de una red. Sin embargo, pasar por todas las iteraciones posibles de los nodos a grupos resulta poco práctico y por lo tanto se usan distintas heurísticas. En el Método de </a:t>
            </a:r>
            <a:r>
              <a:rPr lang="es-MX" dirty="0" err="1">
                <a:solidFill>
                  <a:srgbClr val="202122"/>
                </a:solidFill>
                <a:latin typeface="Arial" panose="020B0604020202020204" pitchFamily="34" charset="0"/>
              </a:rPr>
              <a:t>Louvain</a:t>
            </a:r>
            <a:r>
              <a:rPr lang="es-MX" dirty="0">
                <a:solidFill>
                  <a:srgbClr val="202122"/>
                </a:solidFill>
                <a:latin typeface="Arial" panose="020B0604020202020204" pitchFamily="34" charset="0"/>
              </a:rPr>
              <a:t> de </a:t>
            </a:r>
            <a:r>
              <a:rPr lang="es-MX" dirty="0">
                <a:solidFill>
                  <a:srgbClr val="3366CC"/>
                </a:solidFill>
                <a:latin typeface="Arial" panose="020B0604020202020204" pitchFamily="34" charset="0"/>
                <a:hlinkClick r:id="rId4" tooltip="Estructura de comunidades"/>
              </a:rPr>
              <a:t>detección de comunidades</a:t>
            </a:r>
            <a:r>
              <a:rPr lang="es-MX" dirty="0">
                <a:solidFill>
                  <a:srgbClr val="202122"/>
                </a:solidFill>
                <a:latin typeface="Arial" panose="020B0604020202020204" pitchFamily="34" charset="0"/>
              </a:rPr>
              <a:t>, primero se encuentran comunidades pequeñas optimizando la modularidad localmente para todos los nodos, luego cada comunidad pequeña se asocia a un nodo y se repite el proceso hasta alcanzar la convergencia. </a:t>
            </a:r>
            <a:endParaRPr lang="es-CO" dirty="0"/>
          </a:p>
        </p:txBody>
      </p:sp>
    </p:spTree>
    <p:extLst>
      <p:ext uri="{BB962C8B-B14F-4D97-AF65-F5344CB8AC3E}">
        <p14:creationId xmlns:p14="http://schemas.microsoft.com/office/powerpoint/2010/main" val="4190935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Louvain Algorithm. An algorithm for community finding | by Luís Rita | TDS  Archive | Medium">
            <a:extLst>
              <a:ext uri="{FF2B5EF4-FFF2-40B4-BE49-F238E27FC236}">
                <a16:creationId xmlns:a16="http://schemas.microsoft.com/office/drawing/2014/main" id="{5B9CAA2C-8E78-C33F-091E-FE868ACFD1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50" y="0"/>
            <a:ext cx="115951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2257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0B771B-067C-D818-C445-B7AEA80F259C}"/>
              </a:ext>
            </a:extLst>
          </p:cNvPr>
          <p:cNvSpPr>
            <a:spLocks noGrp="1"/>
          </p:cNvSpPr>
          <p:nvPr>
            <p:ph type="title"/>
          </p:nvPr>
        </p:nvSpPr>
        <p:spPr/>
        <p:txBody>
          <a:bodyPr/>
          <a:lstStyle/>
          <a:p>
            <a:r>
              <a:rPr lang="es-MX" b="1" dirty="0">
                <a:solidFill>
                  <a:srgbClr val="0D0D0D"/>
                </a:solidFill>
                <a:latin typeface="ui-sans-serif"/>
              </a:rPr>
              <a:t>Redes dinámicas y predicción de enlaces</a:t>
            </a:r>
            <a:endParaRPr lang="es-C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4396D13-0BE6-4291-6A43-E1064E2F8130}"/>
                  </a:ext>
                </a:extLst>
              </p:cNvPr>
              <p:cNvSpPr>
                <a:spLocks noGrp="1"/>
              </p:cNvSpPr>
              <p:nvPr>
                <p:ph idx="1"/>
              </p:nvPr>
            </p:nvSpPr>
            <p:spPr/>
            <p:txBody>
              <a:bodyPr/>
              <a:lstStyle/>
              <a:p>
                <a:pPr>
                  <a:buNone/>
                </a:pPr>
                <a:r>
                  <a:rPr lang="es-CO" b="1" dirty="0">
                    <a:solidFill>
                      <a:srgbClr val="0D0D0D"/>
                    </a:solidFill>
                    <a:latin typeface="ui-sans-serif"/>
                  </a:rPr>
                  <a:t>Redes temporales</a:t>
                </a:r>
                <a:r>
                  <a:rPr lang="es-CO" dirty="0">
                    <a:solidFill>
                      <a:srgbClr val="0D0D0D"/>
                    </a:solidFill>
                    <a:latin typeface="ui-sans-serif"/>
                  </a:rPr>
                  <a:t>: </a:t>
                </a:r>
                <a14:m>
                  <m:oMath xmlns:m="http://schemas.openxmlformats.org/officeDocument/2006/math">
                    <m:sSub>
                      <m:sSubPr>
                        <m:ctrlPr>
                          <a:rPr lang="es-CO" b="0" i="1" dirty="0" smtClean="0">
                            <a:solidFill>
                              <a:srgbClr val="0D0D0D"/>
                            </a:solidFill>
                            <a:latin typeface="Cambria Math" panose="02040503050406030204" pitchFamily="18" charset="0"/>
                          </a:rPr>
                        </m:ctrlPr>
                      </m:sSubPr>
                      <m:e>
                        <m:r>
                          <a:rPr lang="es-CO" b="0" i="1" dirty="0" smtClean="0">
                            <a:solidFill>
                              <a:srgbClr val="0D0D0D"/>
                            </a:solidFill>
                            <a:latin typeface="Cambria Math" panose="02040503050406030204" pitchFamily="18" charset="0"/>
                          </a:rPr>
                          <m:t>𝐺</m:t>
                        </m:r>
                      </m:e>
                      <m:sub>
                        <m:r>
                          <a:rPr lang="es-CO" b="0" i="1" dirty="0" smtClean="0">
                            <a:solidFill>
                              <a:srgbClr val="0D0D0D"/>
                            </a:solidFill>
                            <a:latin typeface="Cambria Math" panose="02040503050406030204" pitchFamily="18" charset="0"/>
                          </a:rPr>
                          <m:t>𝑡</m:t>
                        </m:r>
                      </m:sub>
                    </m:sSub>
                  </m:oMath>
                </a14:m>
                <a:r>
                  <a:rPr lang="es-CO" dirty="0">
                    <a:solidFill>
                      <a:srgbClr val="0D0D0D"/>
                    </a:solidFill>
                    <a:latin typeface="ui-sans-serif"/>
                  </a:rPr>
                  <a:t> cambia en </a:t>
                </a:r>
                <a14:m>
                  <m:oMath xmlns:m="http://schemas.openxmlformats.org/officeDocument/2006/math">
                    <m:r>
                      <a:rPr lang="es-CO" i="1" dirty="0">
                        <a:solidFill>
                          <a:srgbClr val="0D0D0D"/>
                        </a:solidFill>
                        <a:latin typeface="Cambria Math" panose="02040503050406030204" pitchFamily="18" charset="0"/>
                      </a:rPr>
                      <m:t>𝑡</m:t>
                    </m:r>
                  </m:oMath>
                </a14:m>
                <a:r>
                  <a:rPr lang="es-CO" dirty="0">
                    <a:solidFill>
                      <a:srgbClr val="0D0D0D"/>
                    </a:solidFill>
                    <a:latin typeface="ui-sans-serif"/>
                  </a:rPr>
                  <a:t>. </a:t>
                </a:r>
              </a:p>
              <a:p>
                <a:pPr>
                  <a:buNone/>
                </a:pPr>
                <a:r>
                  <a:rPr lang="es-CO" dirty="0">
                    <a:solidFill>
                      <a:srgbClr val="0D0D0D"/>
                    </a:solidFill>
                    <a:latin typeface="ui-sans-serif"/>
                  </a:rPr>
                  <a:t>Métricas como </a:t>
                </a:r>
                <a:r>
                  <a:rPr lang="es-CO" i="1" dirty="0" err="1">
                    <a:solidFill>
                      <a:srgbClr val="0D0D0D"/>
                    </a:solidFill>
                    <a:latin typeface="ui-sans-serif"/>
                  </a:rPr>
                  <a:t>edge</a:t>
                </a:r>
                <a:r>
                  <a:rPr lang="es-CO" i="1" dirty="0">
                    <a:solidFill>
                      <a:srgbClr val="0D0D0D"/>
                    </a:solidFill>
                    <a:latin typeface="ui-sans-serif"/>
                  </a:rPr>
                  <a:t> </a:t>
                </a:r>
                <a:r>
                  <a:rPr lang="es-CO" i="1" dirty="0" err="1">
                    <a:solidFill>
                      <a:srgbClr val="0D0D0D"/>
                    </a:solidFill>
                    <a:latin typeface="ui-sans-serif"/>
                  </a:rPr>
                  <a:t>turnover</a:t>
                </a:r>
                <a:r>
                  <a:rPr lang="es-CO" dirty="0">
                    <a:solidFill>
                      <a:srgbClr val="0D0D0D"/>
                    </a:solidFill>
                    <a:latin typeface="ui-sans-serif"/>
                  </a:rPr>
                  <a:t> o </a:t>
                </a:r>
                <a:r>
                  <a:rPr lang="es-CO" i="1" dirty="0" err="1">
                    <a:solidFill>
                      <a:srgbClr val="0D0D0D"/>
                    </a:solidFill>
                    <a:latin typeface="ui-sans-serif"/>
                  </a:rPr>
                  <a:t>burstiness</a:t>
                </a:r>
                <a:r>
                  <a:rPr lang="es-CO" dirty="0">
                    <a:solidFill>
                      <a:srgbClr val="0D0D0D"/>
                    </a:solidFill>
                    <a:latin typeface="ui-sans-serif"/>
                  </a:rPr>
                  <a:t>.</a:t>
                </a:r>
                <a:br>
                  <a:rPr lang="es-CO" dirty="0">
                    <a:solidFill>
                      <a:srgbClr val="0D0D0D"/>
                    </a:solidFill>
                    <a:latin typeface="ui-sans-serif"/>
                  </a:rPr>
                </a:br>
                <a:r>
                  <a:rPr lang="es-CO" b="1" dirty="0">
                    <a:solidFill>
                      <a:srgbClr val="0D0D0D"/>
                    </a:solidFill>
                    <a:latin typeface="ui-sans-serif"/>
                  </a:rPr>
                  <a:t>Predicción de enlaces</a:t>
                </a:r>
                <a:r>
                  <a:rPr lang="es-CO" dirty="0">
                    <a:solidFill>
                      <a:srgbClr val="0D0D0D"/>
                    </a:solidFill>
                    <a:latin typeface="ui-sans-serif"/>
                  </a:rPr>
                  <a:t>: estimar </a:t>
                </a:r>
                <a14:m>
                  <m:oMath xmlns:m="http://schemas.openxmlformats.org/officeDocument/2006/math">
                    <m:r>
                      <a:rPr lang="es-CO" b="0" i="1" smtClean="0">
                        <a:solidFill>
                          <a:srgbClr val="0D0D0D"/>
                        </a:solidFill>
                        <a:latin typeface="Cambria Math" panose="02040503050406030204" pitchFamily="18" charset="0"/>
                      </a:rPr>
                      <m:t>𝑃</m:t>
                    </m:r>
                    <m:d>
                      <m:dPr>
                        <m:ctrlPr>
                          <a:rPr lang="es-CO" b="0" i="1" smtClean="0">
                            <a:solidFill>
                              <a:srgbClr val="0D0D0D"/>
                            </a:solidFill>
                            <a:latin typeface="Cambria Math" panose="02040503050406030204" pitchFamily="18" charset="0"/>
                          </a:rPr>
                        </m:ctrlPr>
                      </m:dPr>
                      <m:e>
                        <m:d>
                          <m:dPr>
                            <m:ctrlPr>
                              <a:rPr lang="es-CO" b="0" i="1" smtClean="0">
                                <a:solidFill>
                                  <a:srgbClr val="0D0D0D"/>
                                </a:solidFill>
                                <a:latin typeface="Cambria Math" panose="02040503050406030204" pitchFamily="18" charset="0"/>
                              </a:rPr>
                            </m:ctrlPr>
                          </m:dPr>
                          <m:e>
                            <m:r>
                              <a:rPr lang="es-CO" b="0" i="1" smtClean="0">
                                <a:solidFill>
                                  <a:srgbClr val="0D0D0D"/>
                                </a:solidFill>
                                <a:latin typeface="Cambria Math" panose="02040503050406030204" pitchFamily="18" charset="0"/>
                              </a:rPr>
                              <m:t>𝑢</m:t>
                            </m:r>
                            <m:r>
                              <a:rPr lang="es-CO" b="0" i="1" smtClean="0">
                                <a:solidFill>
                                  <a:srgbClr val="0D0D0D"/>
                                </a:solidFill>
                                <a:latin typeface="Cambria Math" panose="02040503050406030204" pitchFamily="18" charset="0"/>
                              </a:rPr>
                              <m:t>,</m:t>
                            </m:r>
                            <m:r>
                              <a:rPr lang="es-CO" b="0" i="1" smtClean="0">
                                <a:solidFill>
                                  <a:srgbClr val="0D0D0D"/>
                                </a:solidFill>
                                <a:latin typeface="Cambria Math" panose="02040503050406030204" pitchFamily="18" charset="0"/>
                              </a:rPr>
                              <m:t>𝑣</m:t>
                            </m:r>
                          </m:e>
                        </m:d>
                        <m:r>
                          <a:rPr lang="es-CO" b="0" i="1" smtClean="0">
                            <a:solidFill>
                              <a:srgbClr val="0D0D0D"/>
                            </a:solidFill>
                            <a:latin typeface="Cambria Math" panose="02040503050406030204" pitchFamily="18" charset="0"/>
                            <a:ea typeface="Cambria Math" panose="02040503050406030204" pitchFamily="18" charset="0"/>
                          </a:rPr>
                          <m:t>∈</m:t>
                        </m:r>
                        <m:sSub>
                          <m:sSubPr>
                            <m:ctrlPr>
                              <a:rPr lang="es-CO" b="0" i="1" smtClean="0">
                                <a:solidFill>
                                  <a:srgbClr val="0D0D0D"/>
                                </a:solidFill>
                                <a:latin typeface="Cambria Math" panose="02040503050406030204" pitchFamily="18" charset="0"/>
                                <a:ea typeface="Cambria Math" panose="02040503050406030204" pitchFamily="18" charset="0"/>
                              </a:rPr>
                            </m:ctrlPr>
                          </m:sSubPr>
                          <m:e>
                            <m:r>
                              <a:rPr lang="es-CO" b="0" i="1" smtClean="0">
                                <a:solidFill>
                                  <a:srgbClr val="0D0D0D"/>
                                </a:solidFill>
                                <a:latin typeface="Cambria Math" panose="02040503050406030204" pitchFamily="18" charset="0"/>
                                <a:ea typeface="Cambria Math" panose="02040503050406030204" pitchFamily="18" charset="0"/>
                              </a:rPr>
                              <m:t>𝐸</m:t>
                            </m:r>
                          </m:e>
                          <m:sub>
                            <m:r>
                              <a:rPr lang="es-CO" b="0" i="1" smtClean="0">
                                <a:solidFill>
                                  <a:srgbClr val="0D0D0D"/>
                                </a:solidFill>
                                <a:latin typeface="Cambria Math" panose="02040503050406030204" pitchFamily="18" charset="0"/>
                                <a:ea typeface="Cambria Math" panose="02040503050406030204" pitchFamily="18" charset="0"/>
                              </a:rPr>
                              <m:t>𝑡</m:t>
                            </m:r>
                            <m:r>
                              <a:rPr lang="es-CO" b="0" i="1" smtClean="0">
                                <a:solidFill>
                                  <a:srgbClr val="0D0D0D"/>
                                </a:solidFill>
                                <a:latin typeface="Cambria Math" panose="02040503050406030204" pitchFamily="18" charset="0"/>
                                <a:ea typeface="Cambria Math" panose="02040503050406030204" pitchFamily="18" charset="0"/>
                              </a:rPr>
                              <m:t>+1</m:t>
                            </m:r>
                          </m:sub>
                        </m:sSub>
                      </m:e>
                    </m:d>
                  </m:oMath>
                </a14:m>
                <a:r>
                  <a:rPr lang="es-CO" dirty="0">
                    <a:solidFill>
                      <a:srgbClr val="0D0D0D"/>
                    </a:solidFill>
                    <a:latin typeface="ui-sans-serif"/>
                  </a:rPr>
                  <a:t>.</a:t>
                </a:r>
              </a:p>
              <a:p>
                <a:pPr>
                  <a:spcAft>
                    <a:spcPts val="1200"/>
                  </a:spcAft>
                </a:pPr>
                <a:r>
                  <a:rPr lang="es-CO" dirty="0">
                    <a:solidFill>
                      <a:srgbClr val="0D0D0D"/>
                    </a:solidFill>
                    <a:latin typeface="ui-sans-serif"/>
                  </a:rPr>
                  <a:t>Heurísticas: </a:t>
                </a:r>
                <a:r>
                  <a:rPr lang="es-CO" dirty="0" err="1">
                    <a:solidFill>
                      <a:srgbClr val="0D0D0D"/>
                    </a:solidFill>
                    <a:latin typeface="ui-sans-serif"/>
                  </a:rPr>
                  <a:t>Common</a:t>
                </a:r>
                <a:r>
                  <a:rPr lang="es-CO" dirty="0">
                    <a:solidFill>
                      <a:srgbClr val="0D0D0D"/>
                    </a:solidFill>
                    <a:latin typeface="ui-sans-serif"/>
                  </a:rPr>
                  <a:t> </a:t>
                </a:r>
                <a:r>
                  <a:rPr lang="es-CO" dirty="0" err="1">
                    <a:solidFill>
                      <a:srgbClr val="0D0D0D"/>
                    </a:solidFill>
                    <a:latin typeface="ui-sans-serif"/>
                  </a:rPr>
                  <a:t>Neighbors</a:t>
                </a:r>
                <a:r>
                  <a:rPr lang="es-CO" dirty="0">
                    <a:solidFill>
                      <a:srgbClr val="0D0D0D"/>
                    </a:solidFill>
                    <a:latin typeface="ui-sans-serif"/>
                  </a:rPr>
                  <a:t>, Jaccard, </a:t>
                </a:r>
                <a:r>
                  <a:rPr lang="es-CO" dirty="0" err="1">
                    <a:solidFill>
                      <a:srgbClr val="0D0D0D"/>
                    </a:solidFill>
                    <a:latin typeface="ui-sans-serif"/>
                  </a:rPr>
                  <a:t>Adamic</a:t>
                </a:r>
                <a:r>
                  <a:rPr lang="es-CO" dirty="0">
                    <a:solidFill>
                      <a:srgbClr val="0D0D0D"/>
                    </a:solidFill>
                    <a:latin typeface="ui-sans-serif"/>
                  </a:rPr>
                  <a:t>–</a:t>
                </a:r>
                <a:r>
                  <a:rPr lang="es-CO" dirty="0" err="1">
                    <a:solidFill>
                      <a:srgbClr val="0D0D0D"/>
                    </a:solidFill>
                    <a:latin typeface="ui-sans-serif"/>
                  </a:rPr>
                  <a:t>Adar</a:t>
                </a:r>
                <a:r>
                  <a:rPr lang="es-CO" dirty="0">
                    <a:solidFill>
                      <a:srgbClr val="0D0D0D"/>
                    </a:solidFill>
                    <a:latin typeface="ui-sans-serif"/>
                  </a:rPr>
                  <a:t>.</a:t>
                </a:r>
              </a:p>
              <a:p>
                <a:endParaRPr lang="es-CO" dirty="0"/>
              </a:p>
            </p:txBody>
          </p:sp>
        </mc:Choice>
        <mc:Fallback xmlns="">
          <p:sp>
            <p:nvSpPr>
              <p:cNvPr id="3" name="Marcador de contenido 2">
                <a:extLst>
                  <a:ext uri="{FF2B5EF4-FFF2-40B4-BE49-F238E27FC236}">
                    <a16:creationId xmlns:a16="http://schemas.microsoft.com/office/drawing/2014/main" id="{04396D13-0BE6-4291-6A43-E1064E2F8130}"/>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s-CO">
                    <a:noFill/>
                  </a:rPr>
                  <a:t> </a:t>
                </a:r>
              </a:p>
            </p:txBody>
          </p:sp>
        </mc:Fallback>
      </mc:AlternateContent>
      <p:pic>
        <p:nvPicPr>
          <p:cNvPr id="4" name="Imagen 3">
            <a:extLst>
              <a:ext uri="{FF2B5EF4-FFF2-40B4-BE49-F238E27FC236}">
                <a16:creationId xmlns:a16="http://schemas.microsoft.com/office/drawing/2014/main" id="{8C474370-7739-131F-3A32-C35A643EDC12}"/>
              </a:ext>
            </a:extLst>
          </p:cNvPr>
          <p:cNvPicPr>
            <a:picLocks noChangeAspect="1"/>
          </p:cNvPicPr>
          <p:nvPr/>
        </p:nvPicPr>
        <p:blipFill>
          <a:blip r:embed="rId3"/>
          <a:stretch>
            <a:fillRect/>
          </a:stretch>
        </p:blipFill>
        <p:spPr>
          <a:xfrm>
            <a:off x="3395662" y="3886102"/>
            <a:ext cx="5400675" cy="2762250"/>
          </a:xfrm>
          <a:prstGeom prst="rect">
            <a:avLst/>
          </a:prstGeom>
        </p:spPr>
      </p:pic>
    </p:spTree>
    <p:extLst>
      <p:ext uri="{BB962C8B-B14F-4D97-AF65-F5344CB8AC3E}">
        <p14:creationId xmlns:p14="http://schemas.microsoft.com/office/powerpoint/2010/main" val="7084019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B9E08-4B3F-7F65-9CDF-349D89EE98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2730DB-F294-CF69-982C-73B51D1012EE}"/>
              </a:ext>
            </a:extLst>
          </p:cNvPr>
          <p:cNvSpPr>
            <a:spLocks noGrp="1"/>
          </p:cNvSpPr>
          <p:nvPr>
            <p:ph type="title"/>
          </p:nvPr>
        </p:nvSpPr>
        <p:spPr/>
        <p:txBody>
          <a:bodyPr/>
          <a:lstStyle/>
          <a:p>
            <a:r>
              <a:rPr lang="es-CO" b="1" dirty="0"/>
              <a:t>Ejercicio práctico: Les miserables</a:t>
            </a:r>
          </a:p>
        </p:txBody>
      </p:sp>
      <p:sp>
        <p:nvSpPr>
          <p:cNvPr id="3" name="Marcador de contenido 2">
            <a:extLst>
              <a:ext uri="{FF2B5EF4-FFF2-40B4-BE49-F238E27FC236}">
                <a16:creationId xmlns:a16="http://schemas.microsoft.com/office/drawing/2014/main" id="{F9D61C5E-5708-5929-CDD9-66E1780766A5}"/>
              </a:ext>
            </a:extLst>
          </p:cNvPr>
          <p:cNvSpPr>
            <a:spLocks noGrp="1"/>
          </p:cNvSpPr>
          <p:nvPr>
            <p:ph idx="1"/>
          </p:nvPr>
        </p:nvSpPr>
        <p:spPr/>
        <p:txBody>
          <a:bodyPr>
            <a:normAutofit fontScale="70000" lnSpcReduction="20000"/>
          </a:bodyPr>
          <a:lstStyle/>
          <a:p>
            <a:pPr>
              <a:lnSpc>
                <a:spcPct val="120000"/>
              </a:lnSpc>
            </a:pPr>
            <a:r>
              <a:rPr lang="es-MX" b="1" dirty="0">
                <a:solidFill>
                  <a:srgbClr val="0D0D0D"/>
                </a:solidFill>
                <a:latin typeface="ui-sans-serif"/>
              </a:rPr>
              <a:t>Origen:</a:t>
            </a:r>
            <a:r>
              <a:rPr lang="es-MX" dirty="0">
                <a:solidFill>
                  <a:srgbClr val="0D0D0D"/>
                </a:solidFill>
                <a:latin typeface="ui-sans-serif"/>
              </a:rPr>
              <a:t> Red de </a:t>
            </a:r>
            <a:r>
              <a:rPr lang="es-MX" dirty="0" err="1">
                <a:solidFill>
                  <a:srgbClr val="0D0D0D"/>
                </a:solidFill>
                <a:latin typeface="ui-sans-serif"/>
              </a:rPr>
              <a:t>co-aparición</a:t>
            </a:r>
            <a:r>
              <a:rPr lang="es-MX" dirty="0">
                <a:solidFill>
                  <a:srgbClr val="0D0D0D"/>
                </a:solidFill>
                <a:latin typeface="ui-sans-serif"/>
              </a:rPr>
              <a:t> de personajes de la novela </a:t>
            </a:r>
            <a:r>
              <a:rPr lang="es-MX" i="1" dirty="0">
                <a:solidFill>
                  <a:srgbClr val="0D0D0D"/>
                </a:solidFill>
                <a:latin typeface="ui-sans-serif"/>
              </a:rPr>
              <a:t>Les </a:t>
            </a:r>
            <a:r>
              <a:rPr lang="es-MX" i="1" dirty="0" err="1">
                <a:solidFill>
                  <a:srgbClr val="0D0D0D"/>
                </a:solidFill>
                <a:latin typeface="ui-sans-serif"/>
              </a:rPr>
              <a:t>Misérables</a:t>
            </a:r>
            <a:r>
              <a:rPr lang="es-MX" dirty="0">
                <a:solidFill>
                  <a:srgbClr val="0D0D0D"/>
                </a:solidFill>
                <a:latin typeface="ui-sans-serif"/>
              </a:rPr>
              <a:t> de </a:t>
            </a:r>
            <a:r>
              <a:rPr lang="es-MX" dirty="0" err="1">
                <a:solidFill>
                  <a:srgbClr val="0D0D0D"/>
                </a:solidFill>
                <a:latin typeface="ui-sans-serif"/>
              </a:rPr>
              <a:t>Victor</a:t>
            </a:r>
            <a:r>
              <a:rPr lang="es-MX" dirty="0">
                <a:solidFill>
                  <a:srgbClr val="0D0D0D"/>
                </a:solidFill>
                <a:latin typeface="ui-sans-serif"/>
              </a:rPr>
              <a:t> Hugo; popularizada en </a:t>
            </a:r>
            <a:r>
              <a:rPr lang="es-MX" i="1" dirty="0" err="1">
                <a:solidFill>
                  <a:srgbClr val="0D0D0D"/>
                </a:solidFill>
                <a:latin typeface="ui-sans-serif"/>
              </a:rPr>
              <a:t>The</a:t>
            </a:r>
            <a:r>
              <a:rPr lang="es-MX" i="1" dirty="0">
                <a:solidFill>
                  <a:srgbClr val="0D0D0D"/>
                </a:solidFill>
                <a:latin typeface="ui-sans-serif"/>
              </a:rPr>
              <a:t> Stanford </a:t>
            </a:r>
            <a:r>
              <a:rPr lang="es-MX" i="1" dirty="0" err="1">
                <a:solidFill>
                  <a:srgbClr val="0D0D0D"/>
                </a:solidFill>
                <a:latin typeface="ui-sans-serif"/>
              </a:rPr>
              <a:t>GraphBase</a:t>
            </a:r>
            <a:r>
              <a:rPr lang="es-MX" dirty="0">
                <a:solidFill>
                  <a:srgbClr val="0D0D0D"/>
                </a:solidFill>
                <a:latin typeface="ui-sans-serif"/>
              </a:rPr>
              <a:t> de Donald Knuth (1993) y difundida por </a:t>
            </a:r>
            <a:r>
              <a:rPr lang="es-MX" dirty="0" err="1">
                <a:solidFill>
                  <a:srgbClr val="0D0D0D"/>
                </a:solidFill>
                <a:latin typeface="ui-sans-serif"/>
              </a:rPr>
              <a:t>NetworkX</a:t>
            </a:r>
            <a:r>
              <a:rPr lang="es-MX" dirty="0">
                <a:solidFill>
                  <a:srgbClr val="0D0D0D"/>
                </a:solidFill>
                <a:latin typeface="ui-sans-serif"/>
              </a:rPr>
              <a:t>.</a:t>
            </a:r>
          </a:p>
          <a:p>
            <a:pPr>
              <a:lnSpc>
                <a:spcPct val="120000"/>
              </a:lnSpc>
            </a:pPr>
            <a:r>
              <a:rPr lang="es-MX" b="1" dirty="0">
                <a:solidFill>
                  <a:srgbClr val="0D0D0D"/>
                </a:solidFill>
                <a:latin typeface="ui-sans-serif"/>
              </a:rPr>
              <a:t>Nodos:</a:t>
            </a:r>
            <a:r>
              <a:rPr lang="es-MX" dirty="0">
                <a:solidFill>
                  <a:srgbClr val="0D0D0D"/>
                </a:solidFill>
                <a:latin typeface="ui-sans-serif"/>
              </a:rPr>
              <a:t> 77 personajes nombrados.</a:t>
            </a:r>
          </a:p>
          <a:p>
            <a:pPr>
              <a:lnSpc>
                <a:spcPct val="120000"/>
              </a:lnSpc>
            </a:pPr>
            <a:r>
              <a:rPr lang="es-MX" b="1" dirty="0">
                <a:solidFill>
                  <a:srgbClr val="0D0D0D"/>
                </a:solidFill>
                <a:latin typeface="ui-sans-serif"/>
              </a:rPr>
              <a:t>Aristas ponderadas:</a:t>
            </a:r>
            <a:r>
              <a:rPr lang="es-MX" dirty="0">
                <a:solidFill>
                  <a:srgbClr val="0D0D0D"/>
                </a:solidFill>
                <a:latin typeface="ui-sans-serif"/>
              </a:rPr>
              <a:t> Número de escenas (capítulos) en las que dos personajes aparecen juntos; pesos reflejan intensidad narrativa.</a:t>
            </a:r>
          </a:p>
          <a:p>
            <a:pPr>
              <a:lnSpc>
                <a:spcPct val="120000"/>
              </a:lnSpc>
            </a:pPr>
            <a:r>
              <a:rPr lang="es-MX" b="1" dirty="0">
                <a:solidFill>
                  <a:srgbClr val="0D0D0D"/>
                </a:solidFill>
                <a:latin typeface="ui-sans-serif"/>
              </a:rPr>
              <a:t>Riqueza estructural:</a:t>
            </a:r>
            <a:endParaRPr lang="es-MX" dirty="0">
              <a:solidFill>
                <a:srgbClr val="0D0D0D"/>
              </a:solidFill>
              <a:latin typeface="ui-sans-serif"/>
            </a:endParaRPr>
          </a:p>
          <a:p>
            <a:pPr marL="742950" lvl="1" indent="-285750">
              <a:lnSpc>
                <a:spcPct val="120000"/>
              </a:lnSpc>
            </a:pPr>
            <a:r>
              <a:rPr lang="es-MX" dirty="0">
                <a:solidFill>
                  <a:srgbClr val="0D0D0D"/>
                </a:solidFill>
                <a:latin typeface="ui-sans-serif"/>
              </a:rPr>
              <a:t>Red más grande que Karate, con comunidades temáticas (convictos, revolucionarios, familia </a:t>
            </a:r>
            <a:r>
              <a:rPr lang="es-MX" dirty="0" err="1">
                <a:solidFill>
                  <a:srgbClr val="0D0D0D"/>
                </a:solidFill>
                <a:latin typeface="ui-sans-serif"/>
              </a:rPr>
              <a:t>Valjean</a:t>
            </a:r>
            <a:r>
              <a:rPr lang="es-MX" dirty="0">
                <a:solidFill>
                  <a:srgbClr val="0D0D0D"/>
                </a:solidFill>
                <a:latin typeface="ui-sans-serif"/>
              </a:rPr>
              <a:t>).</a:t>
            </a:r>
          </a:p>
          <a:p>
            <a:pPr marL="742950" lvl="1" indent="-285750">
              <a:lnSpc>
                <a:spcPct val="120000"/>
              </a:lnSpc>
            </a:pPr>
            <a:r>
              <a:rPr lang="es-MX" dirty="0">
                <a:solidFill>
                  <a:srgbClr val="0D0D0D"/>
                </a:solidFill>
                <a:latin typeface="ui-sans-serif"/>
              </a:rPr>
              <a:t>Ponderaciones permiten ejercicios de grafos pesados, filtrado por umbral y análisis de </a:t>
            </a:r>
            <a:r>
              <a:rPr lang="es-MX" dirty="0" err="1">
                <a:solidFill>
                  <a:srgbClr val="0D0D0D"/>
                </a:solidFill>
                <a:latin typeface="ui-sans-serif"/>
              </a:rPr>
              <a:t>homofilia</a:t>
            </a:r>
            <a:r>
              <a:rPr lang="es-MX" dirty="0">
                <a:solidFill>
                  <a:srgbClr val="0D0D0D"/>
                </a:solidFill>
                <a:latin typeface="ui-sans-serif"/>
              </a:rPr>
              <a:t>.</a:t>
            </a:r>
          </a:p>
          <a:p>
            <a:pPr>
              <a:lnSpc>
                <a:spcPct val="120000"/>
              </a:lnSpc>
            </a:pPr>
            <a:r>
              <a:rPr lang="es-MX" b="1" dirty="0">
                <a:solidFill>
                  <a:srgbClr val="0D0D0D"/>
                </a:solidFill>
                <a:latin typeface="ui-sans-serif"/>
              </a:rPr>
              <a:t>Valor didáctico:</a:t>
            </a:r>
            <a:endParaRPr lang="es-MX" dirty="0">
              <a:solidFill>
                <a:srgbClr val="0D0D0D"/>
              </a:solidFill>
              <a:latin typeface="ui-sans-serif"/>
            </a:endParaRPr>
          </a:p>
          <a:p>
            <a:pPr marL="742950" lvl="1" indent="-285750">
              <a:lnSpc>
                <a:spcPct val="120000"/>
              </a:lnSpc>
            </a:pPr>
            <a:r>
              <a:rPr lang="es-MX" dirty="0">
                <a:solidFill>
                  <a:srgbClr val="0D0D0D"/>
                </a:solidFill>
                <a:latin typeface="ui-sans-serif"/>
              </a:rPr>
              <a:t>Ilustra cómo los pesos modifican medidas (grado vs. </a:t>
            </a:r>
            <a:r>
              <a:rPr lang="es-MX" dirty="0" err="1">
                <a:solidFill>
                  <a:srgbClr val="0D0D0D"/>
                </a:solidFill>
                <a:latin typeface="ui-sans-serif"/>
              </a:rPr>
              <a:t>strength</a:t>
            </a:r>
            <a:r>
              <a:rPr lang="es-MX" dirty="0">
                <a:solidFill>
                  <a:srgbClr val="0D0D0D"/>
                </a:solidFill>
                <a:latin typeface="ui-sans-serif"/>
              </a:rPr>
              <a:t>).</a:t>
            </a:r>
          </a:p>
          <a:p>
            <a:pPr marL="742950" lvl="1" indent="-285750">
              <a:lnSpc>
                <a:spcPct val="120000"/>
              </a:lnSpc>
            </a:pPr>
            <a:r>
              <a:rPr lang="es-MX" dirty="0">
                <a:solidFill>
                  <a:srgbClr val="0D0D0D"/>
                </a:solidFill>
                <a:latin typeface="ui-sans-serif"/>
              </a:rPr>
              <a:t>Facilita discusión sobre distribución de protagonistas y puentes entre subtramas.</a:t>
            </a:r>
          </a:p>
          <a:p>
            <a:pPr marL="742950" lvl="1" indent="-285750">
              <a:lnSpc>
                <a:spcPct val="120000"/>
              </a:lnSpc>
            </a:pPr>
            <a:r>
              <a:rPr lang="es-MX" dirty="0">
                <a:solidFill>
                  <a:srgbClr val="0D0D0D"/>
                </a:solidFill>
                <a:latin typeface="ui-sans-serif"/>
              </a:rPr>
              <a:t>Adecuada para explorar </a:t>
            </a:r>
            <a:r>
              <a:rPr lang="es-MX" dirty="0" err="1">
                <a:solidFill>
                  <a:srgbClr val="0D0D0D"/>
                </a:solidFill>
                <a:latin typeface="ui-sans-serif"/>
              </a:rPr>
              <a:t>layouts</a:t>
            </a:r>
            <a:r>
              <a:rPr lang="es-MX" dirty="0">
                <a:solidFill>
                  <a:srgbClr val="0D0D0D"/>
                </a:solidFill>
                <a:latin typeface="ui-sans-serif"/>
              </a:rPr>
              <a:t> avanzados y comparaciones con otras artes (cine, teatro).</a:t>
            </a:r>
          </a:p>
          <a:p>
            <a:pPr>
              <a:lnSpc>
                <a:spcPct val="120000"/>
              </a:lnSpc>
            </a:pPr>
            <a:r>
              <a:rPr lang="es-MX" b="1" dirty="0">
                <a:solidFill>
                  <a:srgbClr val="0D0D0D"/>
                </a:solidFill>
                <a:latin typeface="ui-sans-serif"/>
              </a:rPr>
              <a:t>Referencia:</a:t>
            </a:r>
            <a:r>
              <a:rPr lang="es-MX" dirty="0">
                <a:solidFill>
                  <a:srgbClr val="0D0D0D"/>
                </a:solidFill>
                <a:latin typeface="ui-sans-serif"/>
              </a:rPr>
              <a:t> (Knuth, 1993).</a:t>
            </a:r>
          </a:p>
          <a:p>
            <a:pPr>
              <a:lnSpc>
                <a:spcPct val="120000"/>
              </a:lnSpc>
            </a:pPr>
            <a:endParaRPr lang="es-CO" dirty="0"/>
          </a:p>
        </p:txBody>
      </p:sp>
    </p:spTree>
    <p:extLst>
      <p:ext uri="{BB962C8B-B14F-4D97-AF65-F5344CB8AC3E}">
        <p14:creationId xmlns:p14="http://schemas.microsoft.com/office/powerpoint/2010/main" val="2593332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7F5A0D-0F14-8627-7883-A9C26809FC72}"/>
              </a:ext>
            </a:extLst>
          </p:cNvPr>
          <p:cNvSpPr>
            <a:spLocks noGrp="1"/>
          </p:cNvSpPr>
          <p:nvPr>
            <p:ph type="title"/>
          </p:nvPr>
        </p:nvSpPr>
        <p:spPr/>
        <p:txBody>
          <a:bodyPr/>
          <a:lstStyle/>
          <a:p>
            <a:r>
              <a:rPr lang="es-MX" b="1" dirty="0">
                <a:solidFill>
                  <a:srgbClr val="0D0D0D"/>
                </a:solidFill>
                <a:latin typeface="ui-sans-serif"/>
              </a:rPr>
              <a:t>Ética y sesgos en Minería de Datos</a:t>
            </a:r>
            <a:endParaRPr lang="es-CO" dirty="0"/>
          </a:p>
        </p:txBody>
      </p:sp>
      <p:sp>
        <p:nvSpPr>
          <p:cNvPr id="3" name="Marcador de texto 2">
            <a:extLst>
              <a:ext uri="{FF2B5EF4-FFF2-40B4-BE49-F238E27FC236}">
                <a16:creationId xmlns:a16="http://schemas.microsoft.com/office/drawing/2014/main" id="{CDE03D3F-623B-CB5E-7497-56F28E9EE769}"/>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4028083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1694EB-FE4E-5A11-43C4-12C53B0240B0}"/>
              </a:ext>
            </a:extLst>
          </p:cNvPr>
          <p:cNvSpPr>
            <a:spLocks noGrp="1"/>
          </p:cNvSpPr>
          <p:nvPr>
            <p:ph type="title"/>
          </p:nvPr>
        </p:nvSpPr>
        <p:spPr/>
        <p:txBody>
          <a:bodyPr/>
          <a:lstStyle/>
          <a:p>
            <a:r>
              <a:rPr lang="es-MX" b="1" dirty="0">
                <a:solidFill>
                  <a:srgbClr val="0D0D0D"/>
                </a:solidFill>
                <a:latin typeface="ui-sans-serif"/>
              </a:rPr>
              <a:t>Ética y sesgos en Minería de Datos</a:t>
            </a:r>
            <a:endParaRPr lang="es-CO" dirty="0"/>
          </a:p>
        </p:txBody>
      </p:sp>
      <p:sp>
        <p:nvSpPr>
          <p:cNvPr id="3" name="Marcador de contenido 2">
            <a:extLst>
              <a:ext uri="{FF2B5EF4-FFF2-40B4-BE49-F238E27FC236}">
                <a16:creationId xmlns:a16="http://schemas.microsoft.com/office/drawing/2014/main" id="{EA645C35-785E-8C81-28EF-5777F0364AEE}"/>
              </a:ext>
            </a:extLst>
          </p:cNvPr>
          <p:cNvSpPr>
            <a:spLocks noGrp="1"/>
          </p:cNvSpPr>
          <p:nvPr>
            <p:ph idx="1"/>
          </p:nvPr>
        </p:nvSpPr>
        <p:spPr/>
        <p:txBody>
          <a:bodyPr/>
          <a:lstStyle/>
          <a:p>
            <a:pPr marL="457200" indent="-457200">
              <a:lnSpc>
                <a:spcPct val="100000"/>
              </a:lnSpc>
              <a:buAutoNum type="arabicPeriod"/>
            </a:pPr>
            <a:r>
              <a:rPr lang="es-MX" b="1" dirty="0">
                <a:solidFill>
                  <a:srgbClr val="0D0D0D"/>
                </a:solidFill>
                <a:latin typeface="ui-sans-serif"/>
              </a:rPr>
              <a:t>Principios éticos básicos</a:t>
            </a:r>
          </a:p>
          <a:p>
            <a:pPr marL="457200" indent="-457200">
              <a:lnSpc>
                <a:spcPct val="100000"/>
              </a:lnSpc>
              <a:buAutoNum type="arabicPeriod"/>
            </a:pPr>
            <a:endParaRPr lang="es-MX" dirty="0">
              <a:solidFill>
                <a:srgbClr val="0D0D0D"/>
              </a:solidFill>
              <a:latin typeface="ui-sans-serif"/>
            </a:endParaRPr>
          </a:p>
          <a:p>
            <a:pPr>
              <a:lnSpc>
                <a:spcPct val="100000"/>
              </a:lnSpc>
              <a:spcAft>
                <a:spcPts val="1200"/>
              </a:spcAft>
            </a:pPr>
            <a:r>
              <a:rPr lang="es-MX" b="1" dirty="0">
                <a:solidFill>
                  <a:srgbClr val="0D0D0D"/>
                </a:solidFill>
                <a:latin typeface="ui-sans-serif"/>
              </a:rPr>
              <a:t>Respeto a la privacidad</a:t>
            </a:r>
            <a:r>
              <a:rPr lang="es-MX" dirty="0">
                <a:solidFill>
                  <a:srgbClr val="0D0D0D"/>
                </a:solidFill>
                <a:latin typeface="ui-sans-serif"/>
              </a:rPr>
              <a:t>: limitar la </a:t>
            </a:r>
            <a:r>
              <a:rPr lang="es-MX" dirty="0" err="1">
                <a:solidFill>
                  <a:srgbClr val="0D0D0D"/>
                </a:solidFill>
                <a:latin typeface="ui-sans-serif"/>
              </a:rPr>
              <a:t>re-identificación</a:t>
            </a:r>
            <a:r>
              <a:rPr lang="es-MX" dirty="0">
                <a:solidFill>
                  <a:srgbClr val="0D0D0D"/>
                </a:solidFill>
                <a:latin typeface="ui-sans-serif"/>
              </a:rPr>
              <a:t> y usar datos mínimos necesarios (GDPR, 2018).</a:t>
            </a:r>
          </a:p>
          <a:p>
            <a:pPr>
              <a:lnSpc>
                <a:spcPct val="100000"/>
              </a:lnSpc>
              <a:spcAft>
                <a:spcPts val="1200"/>
              </a:spcAft>
            </a:pPr>
            <a:r>
              <a:rPr lang="es-MX" b="1" dirty="0">
                <a:solidFill>
                  <a:srgbClr val="0D0D0D"/>
                </a:solidFill>
                <a:latin typeface="ui-sans-serif"/>
              </a:rPr>
              <a:t>Transparencia</a:t>
            </a:r>
            <a:r>
              <a:rPr lang="es-MX" dirty="0">
                <a:solidFill>
                  <a:srgbClr val="0D0D0D"/>
                </a:solidFill>
                <a:latin typeface="ui-sans-serif"/>
              </a:rPr>
              <a:t>: documentar fuentes, </a:t>
            </a:r>
            <a:r>
              <a:rPr lang="es-MX" dirty="0" err="1">
                <a:solidFill>
                  <a:srgbClr val="0D0D0D"/>
                </a:solidFill>
                <a:latin typeface="ui-sans-serif"/>
              </a:rPr>
              <a:t>pre-procesamiento</a:t>
            </a:r>
            <a:r>
              <a:rPr lang="es-MX" dirty="0">
                <a:solidFill>
                  <a:srgbClr val="0D0D0D"/>
                </a:solidFill>
                <a:latin typeface="ui-sans-serif"/>
              </a:rPr>
              <a:t>, algoritmos y métricas.</a:t>
            </a:r>
          </a:p>
          <a:p>
            <a:pPr>
              <a:lnSpc>
                <a:spcPct val="100000"/>
              </a:lnSpc>
              <a:spcAft>
                <a:spcPts val="1200"/>
              </a:spcAft>
            </a:pPr>
            <a:r>
              <a:rPr lang="es-MX" b="1" dirty="0">
                <a:solidFill>
                  <a:srgbClr val="0D0D0D"/>
                </a:solidFill>
                <a:latin typeface="ui-sans-serif"/>
              </a:rPr>
              <a:t>Justicia (</a:t>
            </a:r>
            <a:r>
              <a:rPr lang="es-MX" b="1" dirty="0" err="1">
                <a:solidFill>
                  <a:srgbClr val="0D0D0D"/>
                </a:solidFill>
                <a:latin typeface="ui-sans-serif"/>
              </a:rPr>
              <a:t>fairness</a:t>
            </a:r>
            <a:r>
              <a:rPr lang="es-MX" b="1" dirty="0">
                <a:solidFill>
                  <a:srgbClr val="0D0D0D"/>
                </a:solidFill>
                <a:latin typeface="ui-sans-serif"/>
              </a:rPr>
              <a:t>)</a:t>
            </a:r>
            <a:r>
              <a:rPr lang="es-MX" dirty="0">
                <a:solidFill>
                  <a:srgbClr val="0D0D0D"/>
                </a:solidFill>
                <a:latin typeface="ui-sans-serif"/>
              </a:rPr>
              <a:t>: evitar que decisiones automatizadas perjudiquen sistemáticamente a grupos protegidos (</a:t>
            </a:r>
            <a:r>
              <a:rPr lang="es-MX" dirty="0" err="1">
                <a:solidFill>
                  <a:srgbClr val="0D0D0D"/>
                </a:solidFill>
                <a:latin typeface="ui-sans-serif"/>
              </a:rPr>
              <a:t>Barocas</a:t>
            </a:r>
            <a:r>
              <a:rPr lang="es-MX" dirty="0">
                <a:solidFill>
                  <a:srgbClr val="0D0D0D"/>
                </a:solidFill>
                <a:latin typeface="ui-sans-serif"/>
              </a:rPr>
              <a:t> &amp; </a:t>
            </a:r>
            <a:r>
              <a:rPr lang="es-MX" dirty="0" err="1">
                <a:solidFill>
                  <a:srgbClr val="0D0D0D"/>
                </a:solidFill>
                <a:latin typeface="ui-sans-serif"/>
              </a:rPr>
              <a:t>Selbst</a:t>
            </a:r>
            <a:r>
              <a:rPr lang="es-MX" dirty="0">
                <a:solidFill>
                  <a:srgbClr val="0D0D0D"/>
                </a:solidFill>
                <a:latin typeface="ui-sans-serif"/>
              </a:rPr>
              <a:t>, 2016).</a:t>
            </a:r>
          </a:p>
          <a:p>
            <a:pPr>
              <a:lnSpc>
                <a:spcPct val="100000"/>
              </a:lnSpc>
              <a:spcAft>
                <a:spcPts val="1200"/>
              </a:spcAft>
            </a:pPr>
            <a:r>
              <a:rPr lang="es-MX" b="1" dirty="0">
                <a:solidFill>
                  <a:srgbClr val="0D0D0D"/>
                </a:solidFill>
                <a:latin typeface="ui-sans-serif"/>
              </a:rPr>
              <a:t>No maleficencia</a:t>
            </a:r>
            <a:r>
              <a:rPr lang="es-MX" dirty="0">
                <a:solidFill>
                  <a:srgbClr val="0D0D0D"/>
                </a:solidFill>
                <a:latin typeface="ui-sans-serif"/>
              </a:rPr>
              <a:t>: sopesar beneficios vs. riesgos de daño (</a:t>
            </a:r>
            <a:r>
              <a:rPr lang="es-MX" dirty="0" err="1">
                <a:solidFill>
                  <a:srgbClr val="0D0D0D"/>
                </a:solidFill>
                <a:latin typeface="ui-sans-serif"/>
              </a:rPr>
              <a:t>Nissenbaum</a:t>
            </a:r>
            <a:r>
              <a:rPr lang="es-MX" dirty="0">
                <a:solidFill>
                  <a:srgbClr val="0D0D0D"/>
                </a:solidFill>
                <a:latin typeface="ui-sans-serif"/>
              </a:rPr>
              <a:t>, 2010).</a:t>
            </a:r>
          </a:p>
          <a:p>
            <a:pPr>
              <a:lnSpc>
                <a:spcPct val="100000"/>
              </a:lnSpc>
            </a:pPr>
            <a:endParaRPr lang="es-CO" dirty="0"/>
          </a:p>
        </p:txBody>
      </p:sp>
    </p:spTree>
    <p:extLst>
      <p:ext uri="{BB962C8B-B14F-4D97-AF65-F5344CB8AC3E}">
        <p14:creationId xmlns:p14="http://schemas.microsoft.com/office/powerpoint/2010/main" val="4171986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D36A3-4EBC-EBB6-1AB4-9ACD3DC6BE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2DB85-FA95-A353-60A5-688F5DBBE5ED}"/>
              </a:ext>
            </a:extLst>
          </p:cNvPr>
          <p:cNvSpPr>
            <a:spLocks noGrp="1"/>
          </p:cNvSpPr>
          <p:nvPr>
            <p:ph type="title"/>
          </p:nvPr>
        </p:nvSpPr>
        <p:spPr/>
        <p:txBody>
          <a:bodyPr/>
          <a:lstStyle/>
          <a:p>
            <a:r>
              <a:rPr lang="es-MX" b="1" dirty="0">
                <a:solidFill>
                  <a:srgbClr val="0D0D0D"/>
                </a:solidFill>
                <a:latin typeface="ui-sans-serif"/>
              </a:rPr>
              <a:t>Ética y sesgos en Minería de Datos</a:t>
            </a:r>
            <a:endParaRPr lang="es-CO" dirty="0"/>
          </a:p>
        </p:txBody>
      </p:sp>
      <p:sp>
        <p:nvSpPr>
          <p:cNvPr id="3" name="Marcador de contenido 2">
            <a:extLst>
              <a:ext uri="{FF2B5EF4-FFF2-40B4-BE49-F238E27FC236}">
                <a16:creationId xmlns:a16="http://schemas.microsoft.com/office/drawing/2014/main" id="{7ED30162-CDD0-BA41-15CC-BCCDFF3B435D}"/>
              </a:ext>
            </a:extLst>
          </p:cNvPr>
          <p:cNvSpPr>
            <a:spLocks noGrp="1"/>
          </p:cNvSpPr>
          <p:nvPr>
            <p:ph idx="1"/>
          </p:nvPr>
        </p:nvSpPr>
        <p:spPr/>
        <p:txBody>
          <a:bodyPr/>
          <a:lstStyle/>
          <a:p>
            <a:pPr>
              <a:lnSpc>
                <a:spcPct val="100000"/>
              </a:lnSpc>
              <a:buNone/>
            </a:pPr>
            <a:r>
              <a:rPr lang="es-MX" b="1" dirty="0">
                <a:solidFill>
                  <a:srgbClr val="0D0D0D"/>
                </a:solidFill>
                <a:latin typeface="ui-sans-serif"/>
              </a:rPr>
              <a:t>2. Fuentes de sesgo</a:t>
            </a:r>
          </a:p>
          <a:p>
            <a:pPr>
              <a:lnSpc>
                <a:spcPct val="100000"/>
              </a:lnSpc>
              <a:buNone/>
            </a:pPr>
            <a:endParaRPr lang="es-MX" dirty="0">
              <a:solidFill>
                <a:srgbClr val="0D0D0D"/>
              </a:solidFill>
              <a:latin typeface="ui-sans-serif"/>
            </a:endParaRPr>
          </a:p>
          <a:p>
            <a:pPr>
              <a:lnSpc>
                <a:spcPct val="100000"/>
              </a:lnSpc>
              <a:spcAft>
                <a:spcPts val="1200"/>
              </a:spcAft>
            </a:pPr>
            <a:r>
              <a:rPr lang="es-MX" b="1" dirty="0">
                <a:solidFill>
                  <a:srgbClr val="0D0D0D"/>
                </a:solidFill>
                <a:latin typeface="ui-sans-serif"/>
              </a:rPr>
              <a:t>Muestreo</a:t>
            </a:r>
            <a:r>
              <a:rPr lang="es-MX" dirty="0">
                <a:solidFill>
                  <a:srgbClr val="0D0D0D"/>
                </a:solidFill>
                <a:latin typeface="ui-sans-serif"/>
              </a:rPr>
              <a:t>: </a:t>
            </a:r>
            <a:r>
              <a:rPr lang="es-MX" dirty="0" err="1">
                <a:solidFill>
                  <a:srgbClr val="0D0D0D"/>
                </a:solidFill>
                <a:latin typeface="ui-sans-serif"/>
              </a:rPr>
              <a:t>sobre-representar</a:t>
            </a:r>
            <a:r>
              <a:rPr lang="es-MX" dirty="0">
                <a:solidFill>
                  <a:srgbClr val="0D0D0D"/>
                </a:solidFill>
                <a:latin typeface="ui-sans-serif"/>
              </a:rPr>
              <a:t> ciertas clases induce discriminación.</a:t>
            </a:r>
          </a:p>
          <a:p>
            <a:pPr>
              <a:lnSpc>
                <a:spcPct val="100000"/>
              </a:lnSpc>
              <a:spcAft>
                <a:spcPts val="1200"/>
              </a:spcAft>
            </a:pPr>
            <a:r>
              <a:rPr lang="es-MX" b="1" dirty="0">
                <a:solidFill>
                  <a:srgbClr val="0D0D0D"/>
                </a:solidFill>
                <a:latin typeface="ui-sans-serif"/>
              </a:rPr>
              <a:t>Medición</a:t>
            </a:r>
            <a:r>
              <a:rPr lang="es-MX" dirty="0">
                <a:solidFill>
                  <a:srgbClr val="0D0D0D"/>
                </a:solidFill>
                <a:latin typeface="ui-sans-serif"/>
              </a:rPr>
              <a:t>: </a:t>
            </a:r>
            <a:r>
              <a:rPr lang="es-MX" dirty="0" err="1">
                <a:solidFill>
                  <a:srgbClr val="0D0D0D"/>
                </a:solidFill>
                <a:latin typeface="ui-sans-serif"/>
              </a:rPr>
              <a:t>proxies</a:t>
            </a:r>
            <a:r>
              <a:rPr lang="es-MX" dirty="0">
                <a:solidFill>
                  <a:srgbClr val="0D0D0D"/>
                </a:solidFill>
                <a:latin typeface="ui-sans-serif"/>
              </a:rPr>
              <a:t> como “código postal” reemplazan variables sensibles y perpetúan desigualdades.</a:t>
            </a:r>
          </a:p>
          <a:p>
            <a:pPr>
              <a:lnSpc>
                <a:spcPct val="100000"/>
              </a:lnSpc>
              <a:spcAft>
                <a:spcPts val="1200"/>
              </a:spcAft>
            </a:pPr>
            <a:r>
              <a:rPr lang="es-MX" b="1" dirty="0">
                <a:solidFill>
                  <a:srgbClr val="0D0D0D"/>
                </a:solidFill>
                <a:latin typeface="ui-sans-serif"/>
              </a:rPr>
              <a:t>Modelo</a:t>
            </a:r>
            <a:r>
              <a:rPr lang="es-MX" dirty="0">
                <a:solidFill>
                  <a:srgbClr val="0D0D0D"/>
                </a:solidFill>
                <a:latin typeface="ui-sans-serif"/>
              </a:rPr>
              <a:t>: algoritmos que minimizan error global pueden ignorar minorías.</a:t>
            </a:r>
          </a:p>
          <a:p>
            <a:pPr>
              <a:lnSpc>
                <a:spcPct val="100000"/>
              </a:lnSpc>
              <a:spcAft>
                <a:spcPts val="1200"/>
              </a:spcAft>
            </a:pPr>
            <a:r>
              <a:rPr lang="es-MX" b="1" dirty="0">
                <a:solidFill>
                  <a:srgbClr val="0D0D0D"/>
                </a:solidFill>
                <a:latin typeface="ui-sans-serif"/>
              </a:rPr>
              <a:t>Retroalimentación</a:t>
            </a:r>
            <a:r>
              <a:rPr lang="es-MX" dirty="0">
                <a:solidFill>
                  <a:srgbClr val="0D0D0D"/>
                </a:solidFill>
                <a:latin typeface="ui-sans-serif"/>
              </a:rPr>
              <a:t>: decisiones pasadas sesgadas alimentan nuevos datos (ciclo de refuerzo).</a:t>
            </a:r>
          </a:p>
          <a:p>
            <a:pPr>
              <a:lnSpc>
                <a:spcPct val="100000"/>
              </a:lnSpc>
            </a:pPr>
            <a:endParaRPr lang="es-CO" dirty="0"/>
          </a:p>
        </p:txBody>
      </p:sp>
    </p:spTree>
    <p:extLst>
      <p:ext uri="{BB962C8B-B14F-4D97-AF65-F5344CB8AC3E}">
        <p14:creationId xmlns:p14="http://schemas.microsoft.com/office/powerpoint/2010/main" val="645556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3B2C-BC6E-ECF6-E39A-EA9B128621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8B33CD-EC42-C7EC-3F66-EFDF69C61425}"/>
              </a:ext>
            </a:extLst>
          </p:cNvPr>
          <p:cNvSpPr>
            <a:spLocks noGrp="1"/>
          </p:cNvSpPr>
          <p:nvPr>
            <p:ph type="title"/>
          </p:nvPr>
        </p:nvSpPr>
        <p:spPr/>
        <p:txBody>
          <a:bodyPr/>
          <a:lstStyle/>
          <a:p>
            <a:r>
              <a:rPr lang="es-MX" b="1" dirty="0">
                <a:solidFill>
                  <a:srgbClr val="0D0D0D"/>
                </a:solidFill>
                <a:latin typeface="ui-sans-serif"/>
              </a:rPr>
              <a:t>Ética y sesgos en Minería de Datos</a:t>
            </a:r>
            <a:endParaRPr lang="es-CO" dirty="0"/>
          </a:p>
        </p:txBody>
      </p:sp>
      <p:sp>
        <p:nvSpPr>
          <p:cNvPr id="3" name="Marcador de contenido 2">
            <a:extLst>
              <a:ext uri="{FF2B5EF4-FFF2-40B4-BE49-F238E27FC236}">
                <a16:creationId xmlns:a16="http://schemas.microsoft.com/office/drawing/2014/main" id="{E8C29170-A548-373F-AA6B-29D842003184}"/>
              </a:ext>
            </a:extLst>
          </p:cNvPr>
          <p:cNvSpPr>
            <a:spLocks noGrp="1"/>
          </p:cNvSpPr>
          <p:nvPr>
            <p:ph idx="1"/>
          </p:nvPr>
        </p:nvSpPr>
        <p:spPr/>
        <p:txBody>
          <a:bodyPr>
            <a:normAutofit fontScale="92500" lnSpcReduction="10000"/>
          </a:bodyPr>
          <a:lstStyle/>
          <a:p>
            <a:pPr>
              <a:lnSpc>
                <a:spcPct val="100000"/>
              </a:lnSpc>
              <a:buNone/>
            </a:pPr>
            <a:r>
              <a:rPr lang="es-CO" b="1" dirty="0">
                <a:solidFill>
                  <a:srgbClr val="0D0D0D"/>
                </a:solidFill>
                <a:latin typeface="ui-sans-serif"/>
              </a:rPr>
              <a:t>3. Estrategias de mitigación</a:t>
            </a:r>
          </a:p>
          <a:p>
            <a:pPr>
              <a:lnSpc>
                <a:spcPct val="100000"/>
              </a:lnSpc>
              <a:buNone/>
            </a:pPr>
            <a:endParaRPr lang="es-CO" dirty="0">
              <a:solidFill>
                <a:srgbClr val="0D0D0D"/>
              </a:solidFill>
              <a:latin typeface="ui-sans-serif"/>
            </a:endParaRPr>
          </a:p>
          <a:p>
            <a:pPr>
              <a:lnSpc>
                <a:spcPct val="100000"/>
              </a:lnSpc>
              <a:spcAft>
                <a:spcPts val="1200"/>
              </a:spcAft>
            </a:pPr>
            <a:r>
              <a:rPr lang="es-CO" b="1" dirty="0">
                <a:solidFill>
                  <a:srgbClr val="0D0D0D"/>
                </a:solidFill>
                <a:latin typeface="ui-sans-serif"/>
              </a:rPr>
              <a:t>Auditorías de datos</a:t>
            </a:r>
            <a:r>
              <a:rPr lang="es-CO" dirty="0">
                <a:solidFill>
                  <a:srgbClr val="0D0D0D"/>
                </a:solidFill>
                <a:latin typeface="ui-sans-serif"/>
              </a:rPr>
              <a:t>: revisar distribución de atributos sensibles antes de modelar.</a:t>
            </a:r>
          </a:p>
          <a:p>
            <a:pPr>
              <a:lnSpc>
                <a:spcPct val="100000"/>
              </a:lnSpc>
              <a:spcAft>
                <a:spcPts val="1200"/>
              </a:spcAft>
            </a:pPr>
            <a:r>
              <a:rPr lang="es-CO" b="1" dirty="0" err="1">
                <a:solidFill>
                  <a:srgbClr val="0D0D0D"/>
                </a:solidFill>
                <a:latin typeface="ui-sans-serif"/>
              </a:rPr>
              <a:t>Pre-procesamiento</a:t>
            </a:r>
            <a:r>
              <a:rPr lang="es-CO" dirty="0">
                <a:solidFill>
                  <a:srgbClr val="0D0D0D"/>
                </a:solidFill>
                <a:latin typeface="ui-sans-serif"/>
              </a:rPr>
              <a:t>: balancear clases, anonimizar, corregir </a:t>
            </a:r>
            <a:r>
              <a:rPr lang="es-CO" dirty="0" err="1">
                <a:solidFill>
                  <a:srgbClr val="0D0D0D"/>
                </a:solidFill>
                <a:latin typeface="ui-sans-serif"/>
              </a:rPr>
              <a:t>outliers</a:t>
            </a:r>
            <a:r>
              <a:rPr lang="es-CO" dirty="0">
                <a:solidFill>
                  <a:srgbClr val="0D0D0D"/>
                </a:solidFill>
                <a:latin typeface="ui-sans-serif"/>
              </a:rPr>
              <a:t> injustificados.</a:t>
            </a:r>
          </a:p>
          <a:p>
            <a:pPr>
              <a:lnSpc>
                <a:spcPct val="100000"/>
              </a:lnSpc>
              <a:spcAft>
                <a:spcPts val="1200"/>
              </a:spcAft>
            </a:pPr>
            <a:r>
              <a:rPr lang="es-CO" b="1" dirty="0">
                <a:solidFill>
                  <a:srgbClr val="0D0D0D"/>
                </a:solidFill>
                <a:latin typeface="ui-sans-serif"/>
              </a:rPr>
              <a:t>Métricas de equidad</a:t>
            </a:r>
            <a:r>
              <a:rPr lang="es-CO" dirty="0">
                <a:solidFill>
                  <a:srgbClr val="0D0D0D"/>
                </a:solidFill>
                <a:latin typeface="ui-sans-serif"/>
              </a:rPr>
              <a:t>: </a:t>
            </a:r>
            <a:r>
              <a:rPr lang="es-CO" i="1" dirty="0" err="1">
                <a:solidFill>
                  <a:srgbClr val="0D0D0D"/>
                </a:solidFill>
                <a:latin typeface="ui-sans-serif"/>
              </a:rPr>
              <a:t>statistical</a:t>
            </a:r>
            <a:r>
              <a:rPr lang="es-CO" i="1" dirty="0">
                <a:solidFill>
                  <a:srgbClr val="0D0D0D"/>
                </a:solidFill>
                <a:latin typeface="ui-sans-serif"/>
              </a:rPr>
              <a:t> </a:t>
            </a:r>
            <a:r>
              <a:rPr lang="es-CO" i="1" dirty="0" err="1">
                <a:solidFill>
                  <a:srgbClr val="0D0D0D"/>
                </a:solidFill>
                <a:latin typeface="ui-sans-serif"/>
              </a:rPr>
              <a:t>parity</a:t>
            </a:r>
            <a:r>
              <a:rPr lang="es-CO" dirty="0">
                <a:solidFill>
                  <a:srgbClr val="0D0D0D"/>
                </a:solidFill>
                <a:latin typeface="ui-sans-serif"/>
              </a:rPr>
              <a:t>, </a:t>
            </a:r>
            <a:r>
              <a:rPr lang="es-CO" i="1" dirty="0" err="1">
                <a:solidFill>
                  <a:srgbClr val="0D0D0D"/>
                </a:solidFill>
                <a:latin typeface="ui-sans-serif"/>
              </a:rPr>
              <a:t>equal</a:t>
            </a:r>
            <a:r>
              <a:rPr lang="es-CO" i="1" dirty="0">
                <a:solidFill>
                  <a:srgbClr val="0D0D0D"/>
                </a:solidFill>
                <a:latin typeface="ui-sans-serif"/>
              </a:rPr>
              <a:t> </a:t>
            </a:r>
            <a:r>
              <a:rPr lang="es-CO" i="1" dirty="0" err="1">
                <a:solidFill>
                  <a:srgbClr val="0D0D0D"/>
                </a:solidFill>
                <a:latin typeface="ui-sans-serif"/>
              </a:rPr>
              <a:t>opportunity</a:t>
            </a:r>
            <a:r>
              <a:rPr lang="es-CO" dirty="0">
                <a:solidFill>
                  <a:srgbClr val="0D0D0D"/>
                </a:solidFill>
                <a:latin typeface="ui-sans-serif"/>
              </a:rPr>
              <a:t>; reportarlas junto a </a:t>
            </a:r>
            <a:r>
              <a:rPr lang="es-CO" dirty="0" err="1">
                <a:solidFill>
                  <a:srgbClr val="0D0D0D"/>
                </a:solidFill>
                <a:latin typeface="ui-sans-serif"/>
              </a:rPr>
              <a:t>accuracy</a:t>
            </a:r>
            <a:r>
              <a:rPr lang="es-CO" dirty="0">
                <a:solidFill>
                  <a:srgbClr val="0D0D0D"/>
                </a:solidFill>
                <a:latin typeface="ui-sans-serif"/>
              </a:rPr>
              <a:t>.</a:t>
            </a:r>
          </a:p>
          <a:p>
            <a:pPr>
              <a:lnSpc>
                <a:spcPct val="100000"/>
              </a:lnSpc>
              <a:spcAft>
                <a:spcPts val="1200"/>
              </a:spcAft>
            </a:pPr>
            <a:r>
              <a:rPr lang="es-CO" b="1" dirty="0">
                <a:solidFill>
                  <a:srgbClr val="0D0D0D"/>
                </a:solidFill>
                <a:latin typeface="ui-sans-serif"/>
              </a:rPr>
              <a:t>Técnicas </a:t>
            </a:r>
            <a:r>
              <a:rPr lang="es-CO" b="1" dirty="0" err="1">
                <a:solidFill>
                  <a:srgbClr val="0D0D0D"/>
                </a:solidFill>
                <a:latin typeface="ui-sans-serif"/>
              </a:rPr>
              <a:t>fairness-aware</a:t>
            </a:r>
            <a:r>
              <a:rPr lang="es-CO" dirty="0">
                <a:solidFill>
                  <a:srgbClr val="0D0D0D"/>
                </a:solidFill>
                <a:latin typeface="ui-sans-serif"/>
              </a:rPr>
              <a:t>: </a:t>
            </a:r>
            <a:r>
              <a:rPr lang="es-CO" dirty="0" err="1">
                <a:solidFill>
                  <a:srgbClr val="0D0D0D"/>
                </a:solidFill>
                <a:latin typeface="ui-sans-serif"/>
              </a:rPr>
              <a:t>re-ponderación</a:t>
            </a:r>
            <a:r>
              <a:rPr lang="es-CO" dirty="0">
                <a:solidFill>
                  <a:srgbClr val="0D0D0D"/>
                </a:solidFill>
                <a:latin typeface="ui-sans-serif"/>
              </a:rPr>
              <a:t> de ejemplos, </a:t>
            </a:r>
            <a:r>
              <a:rPr lang="es-CO" i="1" dirty="0">
                <a:solidFill>
                  <a:srgbClr val="0D0D0D"/>
                </a:solidFill>
                <a:latin typeface="ui-sans-serif"/>
              </a:rPr>
              <a:t>Adversarial </a:t>
            </a:r>
            <a:r>
              <a:rPr lang="es-CO" i="1" dirty="0" err="1">
                <a:solidFill>
                  <a:srgbClr val="0D0D0D"/>
                </a:solidFill>
                <a:latin typeface="ui-sans-serif"/>
              </a:rPr>
              <a:t>Debiasing</a:t>
            </a:r>
            <a:r>
              <a:rPr lang="es-CO" dirty="0">
                <a:solidFill>
                  <a:srgbClr val="0D0D0D"/>
                </a:solidFill>
                <a:latin typeface="ui-sans-serif"/>
              </a:rPr>
              <a:t>, </a:t>
            </a:r>
            <a:r>
              <a:rPr lang="es-CO" i="1" dirty="0" err="1">
                <a:solidFill>
                  <a:srgbClr val="0D0D0D"/>
                </a:solidFill>
                <a:latin typeface="ui-sans-serif"/>
              </a:rPr>
              <a:t>Fair</a:t>
            </a:r>
            <a:r>
              <a:rPr lang="es-CO" i="1" dirty="0">
                <a:solidFill>
                  <a:srgbClr val="0D0D0D"/>
                </a:solidFill>
                <a:latin typeface="ui-sans-serif"/>
              </a:rPr>
              <a:t> GBM</a:t>
            </a:r>
            <a:r>
              <a:rPr lang="es-CO" dirty="0">
                <a:solidFill>
                  <a:srgbClr val="0D0D0D"/>
                </a:solidFill>
                <a:latin typeface="ui-sans-serif"/>
              </a:rPr>
              <a:t> (Zhang et al., 2022).</a:t>
            </a:r>
          </a:p>
          <a:p>
            <a:pPr>
              <a:lnSpc>
                <a:spcPct val="100000"/>
              </a:lnSpc>
              <a:spcAft>
                <a:spcPts val="1200"/>
              </a:spcAft>
            </a:pPr>
            <a:r>
              <a:rPr lang="es-CO" b="1" dirty="0">
                <a:solidFill>
                  <a:srgbClr val="0D0D0D"/>
                </a:solidFill>
                <a:latin typeface="ui-sans-serif"/>
              </a:rPr>
              <a:t>Gobernanza</a:t>
            </a:r>
            <a:r>
              <a:rPr lang="es-CO" dirty="0">
                <a:solidFill>
                  <a:srgbClr val="0D0D0D"/>
                </a:solidFill>
                <a:latin typeface="ui-sans-serif"/>
              </a:rPr>
              <a:t>: comités de ética, </a:t>
            </a:r>
            <a:r>
              <a:rPr lang="es-CO" i="1" dirty="0" err="1">
                <a:solidFill>
                  <a:srgbClr val="0D0D0D"/>
                </a:solidFill>
                <a:latin typeface="ui-sans-serif"/>
              </a:rPr>
              <a:t>datasheets</a:t>
            </a:r>
            <a:r>
              <a:rPr lang="es-CO" dirty="0">
                <a:solidFill>
                  <a:srgbClr val="0D0D0D"/>
                </a:solidFill>
                <a:latin typeface="ui-sans-serif"/>
              </a:rPr>
              <a:t> y </a:t>
            </a:r>
            <a:r>
              <a:rPr lang="es-CO" i="1" dirty="0" err="1">
                <a:solidFill>
                  <a:srgbClr val="0D0D0D"/>
                </a:solidFill>
                <a:latin typeface="ui-sans-serif"/>
              </a:rPr>
              <a:t>model</a:t>
            </a:r>
            <a:r>
              <a:rPr lang="es-CO" i="1" dirty="0">
                <a:solidFill>
                  <a:srgbClr val="0D0D0D"/>
                </a:solidFill>
                <a:latin typeface="ui-sans-serif"/>
              </a:rPr>
              <a:t> </a:t>
            </a:r>
            <a:r>
              <a:rPr lang="es-CO" i="1" dirty="0" err="1">
                <a:solidFill>
                  <a:srgbClr val="0D0D0D"/>
                </a:solidFill>
                <a:latin typeface="ui-sans-serif"/>
              </a:rPr>
              <a:t>cards</a:t>
            </a:r>
            <a:r>
              <a:rPr lang="es-CO" dirty="0">
                <a:solidFill>
                  <a:srgbClr val="0D0D0D"/>
                </a:solidFill>
                <a:latin typeface="ui-sans-serif"/>
              </a:rPr>
              <a:t> para documentar limitaciones (Mitchell et al., 2019).</a:t>
            </a:r>
          </a:p>
          <a:p>
            <a:pPr>
              <a:lnSpc>
                <a:spcPct val="100000"/>
              </a:lnSpc>
            </a:pPr>
            <a:endParaRPr lang="es-CO" dirty="0"/>
          </a:p>
        </p:txBody>
      </p:sp>
    </p:spTree>
    <p:extLst>
      <p:ext uri="{BB962C8B-B14F-4D97-AF65-F5344CB8AC3E}">
        <p14:creationId xmlns:p14="http://schemas.microsoft.com/office/powerpoint/2010/main" val="812715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8C4511-A3EC-A617-04D7-6EA3C8F65269}"/>
              </a:ext>
            </a:extLst>
          </p:cNvPr>
          <p:cNvSpPr>
            <a:spLocks noGrp="1"/>
          </p:cNvSpPr>
          <p:nvPr>
            <p:ph type="title"/>
          </p:nvPr>
        </p:nvSpPr>
        <p:spPr/>
        <p:txBody>
          <a:bodyPr/>
          <a:lstStyle/>
          <a:p>
            <a:r>
              <a:rPr lang="es-CO" dirty="0"/>
              <a:t>Introducción al Machine </a:t>
            </a:r>
            <a:r>
              <a:rPr lang="es-CO" dirty="0" err="1"/>
              <a:t>Learning</a:t>
            </a:r>
            <a:endParaRPr lang="es-CO" dirty="0"/>
          </a:p>
        </p:txBody>
      </p:sp>
      <p:sp>
        <p:nvSpPr>
          <p:cNvPr id="3" name="Marcador de texto 2">
            <a:extLst>
              <a:ext uri="{FF2B5EF4-FFF2-40B4-BE49-F238E27FC236}">
                <a16:creationId xmlns:a16="http://schemas.microsoft.com/office/drawing/2014/main" id="{8102B08C-7FDE-CEFA-56E4-E861810C10D4}"/>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660174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970E55-1732-8778-485A-67B5786E79A6}"/>
              </a:ext>
            </a:extLst>
          </p:cNvPr>
          <p:cNvSpPr>
            <a:spLocks noGrp="1"/>
          </p:cNvSpPr>
          <p:nvPr>
            <p:ph type="title"/>
          </p:nvPr>
        </p:nvSpPr>
        <p:spPr/>
        <p:txBody>
          <a:bodyPr anchor="b">
            <a:normAutofit/>
          </a:bodyPr>
          <a:lstStyle/>
          <a:p>
            <a:r>
              <a:rPr lang="es-MX" dirty="0"/>
              <a:t>¿Qué es el Machine </a:t>
            </a:r>
            <a:r>
              <a:rPr lang="es-MX" dirty="0" err="1"/>
              <a:t>Learning</a:t>
            </a:r>
            <a:r>
              <a:rPr lang="es-MX" dirty="0"/>
              <a:t>?</a:t>
            </a:r>
            <a:endParaRPr lang="es-CO" dirty="0"/>
          </a:p>
        </p:txBody>
      </p:sp>
      <p:sp>
        <p:nvSpPr>
          <p:cNvPr id="3" name="Marcador de contenido 2">
            <a:extLst>
              <a:ext uri="{FF2B5EF4-FFF2-40B4-BE49-F238E27FC236}">
                <a16:creationId xmlns:a16="http://schemas.microsoft.com/office/drawing/2014/main" id="{E6CEC449-589A-639B-7FB7-AD2538A7B6C9}"/>
              </a:ext>
            </a:extLst>
          </p:cNvPr>
          <p:cNvSpPr>
            <a:spLocks noGrp="1"/>
          </p:cNvSpPr>
          <p:nvPr>
            <p:ph sz="half" idx="1"/>
          </p:nvPr>
        </p:nvSpPr>
        <p:spPr/>
        <p:txBody>
          <a:bodyPr>
            <a:normAutofit lnSpcReduction="10000"/>
          </a:bodyPr>
          <a:lstStyle/>
          <a:p>
            <a:pPr marL="0" indent="0" algn="just">
              <a:buNone/>
            </a:pPr>
            <a:r>
              <a:rPr lang="es-MX" sz="2400" dirty="0"/>
              <a:t>"El </a:t>
            </a:r>
            <a:r>
              <a:rPr lang="es-MX" sz="2400" b="1" dirty="0"/>
              <a:t>Machine </a:t>
            </a:r>
            <a:r>
              <a:rPr lang="es-MX" sz="2400" b="1" dirty="0" err="1"/>
              <a:t>Learning</a:t>
            </a:r>
            <a:r>
              <a:rPr lang="es-MX" sz="2400" b="1" dirty="0"/>
              <a:t> </a:t>
            </a:r>
            <a:r>
              <a:rPr lang="es-MX" sz="2400" dirty="0"/>
              <a:t>es una rama de la inteligencia artificial que permite a las computadoras aprender y mejorar automáticamente a través de la experiencia sin ser programadas explícitamente.”</a:t>
            </a:r>
            <a:endParaRPr lang="es-MX" dirty="0"/>
          </a:p>
          <a:p>
            <a:pPr>
              <a:buFont typeface="Arial" panose="020B0604020202020204" pitchFamily="34" charset="0"/>
              <a:buChar char="•"/>
            </a:pPr>
            <a:r>
              <a:rPr lang="es-MX" b="1" dirty="0"/>
              <a:t>Componentes clave:</a:t>
            </a:r>
          </a:p>
          <a:p>
            <a:pPr lvl="1"/>
            <a:r>
              <a:rPr lang="es-MX" sz="1600" b="1" dirty="0"/>
              <a:t>Datos:</a:t>
            </a:r>
            <a:r>
              <a:rPr lang="es-MX" sz="1600" dirty="0"/>
              <a:t> La materia prima para el aprendizaje.</a:t>
            </a:r>
          </a:p>
          <a:p>
            <a:pPr lvl="1"/>
            <a:r>
              <a:rPr lang="es-MX" sz="1600" b="1" dirty="0"/>
              <a:t>Algoritmos:</a:t>
            </a:r>
            <a:r>
              <a:rPr lang="es-MX" sz="1600" dirty="0"/>
              <a:t> Procedimientos que permiten aprender patrones a partir de los datos.</a:t>
            </a:r>
          </a:p>
          <a:p>
            <a:pPr lvl="1"/>
            <a:r>
              <a:rPr lang="es-MX" sz="1600" b="1" dirty="0"/>
              <a:t>Modelos:</a:t>
            </a:r>
            <a:r>
              <a:rPr lang="es-MX" sz="1600" dirty="0"/>
              <a:t> Representaciones matemáticas que capturan patrones en los datos.</a:t>
            </a:r>
          </a:p>
          <a:p>
            <a:endParaRPr lang="es-CO" dirty="0"/>
          </a:p>
        </p:txBody>
      </p:sp>
      <p:sp>
        <p:nvSpPr>
          <p:cNvPr id="6" name="Marcador de número de diapositiva 5">
            <a:extLst>
              <a:ext uri="{FF2B5EF4-FFF2-40B4-BE49-F238E27FC236}">
                <a16:creationId xmlns:a16="http://schemas.microsoft.com/office/drawing/2014/main" id="{3EFF619D-B07E-FA4C-916E-A3FFAFDC8668}"/>
              </a:ext>
            </a:extLst>
          </p:cNvPr>
          <p:cNvSpPr>
            <a:spLocks noGrp="1"/>
          </p:cNvSpPr>
          <p:nvPr>
            <p:ph type="sldNum" sz="quarter" idx="12"/>
          </p:nvPr>
        </p:nvSpPr>
        <p:spPr/>
        <p:txBody>
          <a:bodyPr anchor="ctr">
            <a:normAutofit/>
          </a:bodyPr>
          <a:lstStyle/>
          <a:p>
            <a:pPr>
              <a:spcAft>
                <a:spcPts val="600"/>
              </a:spcAft>
            </a:pPr>
            <a:fld id="{C68AC1EC-23E2-4F0E-A5A4-674EC8DB954E}" type="slidenum">
              <a:rPr lang="en-US" smtClean="0"/>
              <a:pPr>
                <a:spcAft>
                  <a:spcPts val="600"/>
                </a:spcAft>
              </a:pPr>
              <a:t>46</a:t>
            </a:fld>
            <a:endParaRPr lang="en-US"/>
          </a:p>
        </p:txBody>
      </p:sp>
      <p:pic>
        <p:nvPicPr>
          <p:cNvPr id="3076" name="Picture 4" descr="BBVA AI Factory | Mercury-explainability para desmitificar algoritmos de  caja negra - BBVA AI Factory">
            <a:extLst>
              <a:ext uri="{FF2B5EF4-FFF2-40B4-BE49-F238E27FC236}">
                <a16:creationId xmlns:a16="http://schemas.microsoft.com/office/drawing/2014/main" id="{990DB658-D70B-7D88-405D-BA38D8CF9D7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91726" y="2159175"/>
            <a:ext cx="2059115" cy="4017787"/>
          </a:xfrm>
          <a:prstGeom prst="rect">
            <a:avLst/>
          </a:prstGeom>
          <a:solidFill>
            <a:srgbClr val="FFFFFF"/>
          </a:solidFill>
        </p:spPr>
      </p:pic>
    </p:spTree>
    <p:extLst>
      <p:ext uri="{BB962C8B-B14F-4D97-AF65-F5344CB8AC3E}">
        <p14:creationId xmlns:p14="http://schemas.microsoft.com/office/powerpoint/2010/main" val="3381571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EF52C-638C-7EFC-A5FF-CC45A6D31A40}"/>
              </a:ext>
            </a:extLst>
          </p:cNvPr>
          <p:cNvSpPr>
            <a:spLocks noGrp="1"/>
          </p:cNvSpPr>
          <p:nvPr>
            <p:ph type="title"/>
          </p:nvPr>
        </p:nvSpPr>
        <p:spPr/>
        <p:txBody>
          <a:bodyPr anchor="b">
            <a:normAutofit/>
          </a:bodyPr>
          <a:lstStyle/>
          <a:p>
            <a:r>
              <a:rPr lang="es-CO" dirty="0"/>
              <a:t>Alcance del Machine </a:t>
            </a:r>
            <a:r>
              <a:rPr lang="es-CO" dirty="0" err="1"/>
              <a:t>Learning</a:t>
            </a:r>
            <a:endParaRPr lang="es-CO" dirty="0"/>
          </a:p>
        </p:txBody>
      </p:sp>
      <p:sp>
        <p:nvSpPr>
          <p:cNvPr id="3" name="Marcador de contenido 2">
            <a:extLst>
              <a:ext uri="{FF2B5EF4-FFF2-40B4-BE49-F238E27FC236}">
                <a16:creationId xmlns:a16="http://schemas.microsoft.com/office/drawing/2014/main" id="{0927EFA6-FAF3-EEC5-3B08-C48F4380745B}"/>
              </a:ext>
            </a:extLst>
          </p:cNvPr>
          <p:cNvSpPr>
            <a:spLocks noGrp="1"/>
          </p:cNvSpPr>
          <p:nvPr>
            <p:ph sz="half" idx="1"/>
          </p:nvPr>
        </p:nvSpPr>
        <p:spPr>
          <a:xfrm>
            <a:off x="838199" y="1825625"/>
            <a:ext cx="10384857" cy="4351338"/>
          </a:xfrm>
        </p:spPr>
        <p:txBody>
          <a:bodyPr>
            <a:normAutofit/>
          </a:bodyPr>
          <a:lstStyle/>
          <a:p>
            <a:pPr marL="514350" indent="-285750">
              <a:lnSpc>
                <a:spcPct val="110000"/>
              </a:lnSpc>
            </a:pPr>
            <a:r>
              <a:rPr lang="es-MX" sz="1800" b="1" dirty="0"/>
              <a:t>Aplicaciones en diversos campos:</a:t>
            </a:r>
            <a:endParaRPr lang="es-MX" sz="1800" dirty="0"/>
          </a:p>
          <a:p>
            <a:pPr marL="914400" lvl="1">
              <a:lnSpc>
                <a:spcPct val="110000"/>
              </a:lnSpc>
            </a:pPr>
            <a:r>
              <a:rPr lang="es-MX" sz="1800" b="1" dirty="0"/>
              <a:t>Salud:</a:t>
            </a:r>
            <a:r>
              <a:rPr lang="es-MX" sz="1800" dirty="0"/>
              <a:t> Diagnóstico médico asistido, análisis genómico.</a:t>
            </a:r>
          </a:p>
          <a:p>
            <a:pPr marL="914400" lvl="1">
              <a:lnSpc>
                <a:spcPct val="110000"/>
              </a:lnSpc>
            </a:pPr>
            <a:r>
              <a:rPr lang="es-MX" sz="1800" b="1" dirty="0"/>
              <a:t>Finanzas:</a:t>
            </a:r>
            <a:r>
              <a:rPr lang="es-MX" sz="1800" dirty="0"/>
              <a:t> Detección de fraudes, análisis de mercado.</a:t>
            </a:r>
          </a:p>
          <a:p>
            <a:pPr marL="914400" lvl="1">
              <a:lnSpc>
                <a:spcPct val="110000"/>
              </a:lnSpc>
            </a:pPr>
            <a:r>
              <a:rPr lang="es-MX" sz="1800" b="1" dirty="0"/>
              <a:t>Transporte:</a:t>
            </a:r>
            <a:r>
              <a:rPr lang="es-MX" sz="1800" dirty="0"/>
              <a:t> Vehículos autónomos, optimización de rutas.</a:t>
            </a:r>
          </a:p>
          <a:p>
            <a:pPr marL="914400" lvl="1">
              <a:lnSpc>
                <a:spcPct val="110000"/>
              </a:lnSpc>
            </a:pPr>
            <a:r>
              <a:rPr lang="es-MX" sz="1800" b="1" dirty="0"/>
              <a:t>Energía:</a:t>
            </a:r>
            <a:r>
              <a:rPr lang="es-MX" sz="1800" dirty="0"/>
              <a:t> Predicción de consumo, mantenimiento predictivo.</a:t>
            </a:r>
          </a:p>
          <a:p>
            <a:pPr marL="514350" indent="-285750">
              <a:lnSpc>
                <a:spcPct val="110000"/>
              </a:lnSpc>
            </a:pPr>
            <a:r>
              <a:rPr lang="es-MX" sz="1800" b="1" dirty="0"/>
              <a:t>Importancia en la era de los datos:</a:t>
            </a:r>
            <a:endParaRPr lang="es-MX" sz="1800" dirty="0"/>
          </a:p>
          <a:p>
            <a:pPr marL="914400" lvl="1">
              <a:lnSpc>
                <a:spcPct val="110000"/>
              </a:lnSpc>
            </a:pPr>
            <a:r>
              <a:rPr lang="es-MX" sz="1800" dirty="0"/>
              <a:t>Crecimiento exponencial de los datos disponibles.</a:t>
            </a:r>
          </a:p>
          <a:p>
            <a:pPr marL="914400" lvl="1">
              <a:lnSpc>
                <a:spcPct val="110000"/>
              </a:lnSpc>
            </a:pPr>
            <a:r>
              <a:rPr lang="es-MX" sz="1800" dirty="0"/>
              <a:t>Necesidad de herramientas que extraigan valor de grandes volúmenes de datos.</a:t>
            </a:r>
          </a:p>
          <a:p>
            <a:pPr>
              <a:lnSpc>
                <a:spcPct val="110000"/>
              </a:lnSpc>
            </a:pPr>
            <a:endParaRPr lang="es-CO" sz="1800" dirty="0"/>
          </a:p>
        </p:txBody>
      </p:sp>
      <p:sp>
        <p:nvSpPr>
          <p:cNvPr id="5" name="Marcador de pie de página 4">
            <a:extLst>
              <a:ext uri="{FF2B5EF4-FFF2-40B4-BE49-F238E27FC236}">
                <a16:creationId xmlns:a16="http://schemas.microsoft.com/office/drawing/2014/main" id="{27ECD601-6E88-8A0B-D6F2-4BF19726BD02}"/>
              </a:ext>
            </a:extLst>
          </p:cNvPr>
          <p:cNvSpPr>
            <a:spLocks noGrp="1"/>
          </p:cNvSpPr>
          <p:nvPr>
            <p:ph type="ftr" sz="quarter" idx="4294967295"/>
          </p:nvPr>
        </p:nvSpPr>
        <p:spPr>
          <a:xfrm>
            <a:off x="4038600" y="6356350"/>
            <a:ext cx="4114800" cy="365125"/>
          </a:xfrm>
          <a:prstGeom prst="rect">
            <a:avLst/>
          </a:prstGeom>
        </p:spPr>
        <p:txBody>
          <a:bodyPr anchor="ctr">
            <a:normAutofit/>
          </a:bodyPr>
          <a:lstStyle/>
          <a:p>
            <a:pPr>
              <a:spcAft>
                <a:spcPts val="600"/>
              </a:spcAft>
            </a:pPr>
            <a:r>
              <a:rPr lang="en-US"/>
              <a:t>Sample Footer Text</a:t>
            </a:r>
          </a:p>
        </p:txBody>
      </p:sp>
      <p:sp>
        <p:nvSpPr>
          <p:cNvPr id="6" name="Marcador de número de diapositiva 5">
            <a:extLst>
              <a:ext uri="{FF2B5EF4-FFF2-40B4-BE49-F238E27FC236}">
                <a16:creationId xmlns:a16="http://schemas.microsoft.com/office/drawing/2014/main" id="{2EDFA369-4550-606D-6719-C6BE9AEFDFBD}"/>
              </a:ext>
            </a:extLst>
          </p:cNvPr>
          <p:cNvSpPr>
            <a:spLocks noGrp="1"/>
          </p:cNvSpPr>
          <p:nvPr>
            <p:ph type="sldNum" sz="quarter" idx="12"/>
          </p:nvPr>
        </p:nvSpPr>
        <p:spPr/>
        <p:txBody>
          <a:bodyPr anchor="ctr">
            <a:normAutofit/>
          </a:bodyPr>
          <a:lstStyle/>
          <a:p>
            <a:pPr>
              <a:spcAft>
                <a:spcPts val="600"/>
              </a:spcAft>
            </a:pPr>
            <a:fld id="{C68AC1EC-23E2-4F0E-A5A4-674EC8DB954E}" type="slidenum">
              <a:rPr lang="en-US" smtClean="0"/>
              <a:pPr>
                <a:spcAft>
                  <a:spcPts val="600"/>
                </a:spcAft>
              </a:pPr>
              <a:t>47</a:t>
            </a:fld>
            <a:endParaRPr lang="en-US"/>
          </a:p>
        </p:txBody>
      </p:sp>
      <p:pic>
        <p:nvPicPr>
          <p:cNvPr id="4098" name="Picture 2" descr="5 ejemplos de Machine Learning que usas en tu día a día y no lo sabías">
            <a:extLst>
              <a:ext uri="{FF2B5EF4-FFF2-40B4-BE49-F238E27FC236}">
                <a16:creationId xmlns:a16="http://schemas.microsoft.com/office/drawing/2014/main" id="{52708B4C-7308-76D8-0FAB-CD85D03AC9F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37734" y="5013844"/>
            <a:ext cx="4985785" cy="1707631"/>
          </a:xfrm>
          <a:prstGeom prst="rect">
            <a:avLst/>
          </a:prstGeom>
          <a:solidFill>
            <a:srgbClr val="FFFFFF"/>
          </a:solidFill>
        </p:spPr>
      </p:pic>
    </p:spTree>
    <p:extLst>
      <p:ext uri="{BB962C8B-B14F-4D97-AF65-F5344CB8AC3E}">
        <p14:creationId xmlns:p14="http://schemas.microsoft.com/office/powerpoint/2010/main" val="4156519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396E8C-59E0-4E14-217C-BBAF3A0E1B6B}"/>
              </a:ext>
            </a:extLst>
          </p:cNvPr>
          <p:cNvSpPr>
            <a:spLocks noGrp="1"/>
          </p:cNvSpPr>
          <p:nvPr>
            <p:ph type="title"/>
          </p:nvPr>
        </p:nvSpPr>
        <p:spPr/>
        <p:txBody>
          <a:bodyPr anchor="b">
            <a:normAutofit/>
          </a:bodyPr>
          <a:lstStyle/>
          <a:p>
            <a:r>
              <a:rPr lang="en-US" dirty="0" err="1"/>
              <a:t>Inteligencia</a:t>
            </a:r>
            <a:r>
              <a:rPr lang="en-US" dirty="0"/>
              <a:t> Artificial vs. Machine Learning vs. Deep Learning</a:t>
            </a:r>
            <a:endParaRPr lang="es-CO" dirty="0"/>
          </a:p>
        </p:txBody>
      </p:sp>
      <p:sp>
        <p:nvSpPr>
          <p:cNvPr id="3" name="Marcador de contenido 2">
            <a:extLst>
              <a:ext uri="{FF2B5EF4-FFF2-40B4-BE49-F238E27FC236}">
                <a16:creationId xmlns:a16="http://schemas.microsoft.com/office/drawing/2014/main" id="{7BAB688B-49C9-3A18-2C74-CF6BB73F04DE}"/>
              </a:ext>
            </a:extLst>
          </p:cNvPr>
          <p:cNvSpPr>
            <a:spLocks noGrp="1"/>
          </p:cNvSpPr>
          <p:nvPr>
            <p:ph sz="half" idx="1"/>
          </p:nvPr>
        </p:nvSpPr>
        <p:spPr/>
        <p:txBody>
          <a:bodyPr>
            <a:normAutofit fontScale="92500" lnSpcReduction="10000"/>
          </a:bodyPr>
          <a:lstStyle/>
          <a:p>
            <a:pPr marL="514350" indent="-285750">
              <a:lnSpc>
                <a:spcPct val="110000"/>
              </a:lnSpc>
            </a:pPr>
            <a:r>
              <a:rPr lang="es-MX" sz="1800" b="1" dirty="0"/>
              <a:t>Inteligencia Artificial (IA):</a:t>
            </a:r>
            <a:endParaRPr lang="es-MX" sz="1800" dirty="0"/>
          </a:p>
          <a:p>
            <a:pPr marL="914400" lvl="1">
              <a:lnSpc>
                <a:spcPct val="110000"/>
              </a:lnSpc>
            </a:pPr>
            <a:r>
              <a:rPr lang="es-MX" sz="1800" dirty="0"/>
              <a:t>Campo amplio que abarca cualquier técnica que permita a las máquinas imitar la inteligencia humana.</a:t>
            </a:r>
          </a:p>
          <a:p>
            <a:pPr marL="514350" indent="-285750">
              <a:lnSpc>
                <a:spcPct val="110000"/>
              </a:lnSpc>
            </a:pPr>
            <a:r>
              <a:rPr lang="es-MX" sz="1800" b="1" dirty="0"/>
              <a:t>Machine </a:t>
            </a:r>
            <a:r>
              <a:rPr lang="es-MX" sz="1800" b="1" dirty="0" err="1"/>
              <a:t>Learning</a:t>
            </a:r>
            <a:r>
              <a:rPr lang="es-MX" sz="1800" b="1" dirty="0"/>
              <a:t> (ML):</a:t>
            </a:r>
            <a:endParaRPr lang="es-MX" sz="1800" dirty="0"/>
          </a:p>
          <a:p>
            <a:pPr marL="914400" lvl="1">
              <a:lnSpc>
                <a:spcPct val="110000"/>
              </a:lnSpc>
            </a:pPr>
            <a:r>
              <a:rPr lang="es-MX" sz="1800" dirty="0"/>
              <a:t>Subconjunto de la IA que utiliza algoritmos para analizar datos, aprender de ellos y tomar decisiones.</a:t>
            </a:r>
          </a:p>
          <a:p>
            <a:pPr marL="514350" indent="-285750">
              <a:lnSpc>
                <a:spcPct val="110000"/>
              </a:lnSpc>
            </a:pPr>
            <a:r>
              <a:rPr lang="es-MX" sz="1800" b="1" dirty="0"/>
              <a:t>Deep </a:t>
            </a:r>
            <a:r>
              <a:rPr lang="es-MX" sz="1800" b="1" dirty="0" err="1"/>
              <a:t>Learning</a:t>
            </a:r>
            <a:r>
              <a:rPr lang="es-MX" sz="1800" b="1" dirty="0"/>
              <a:t> (DL):</a:t>
            </a:r>
            <a:endParaRPr lang="es-MX" sz="1800" dirty="0"/>
          </a:p>
          <a:p>
            <a:pPr marL="914400" lvl="1">
              <a:lnSpc>
                <a:spcPct val="110000"/>
              </a:lnSpc>
            </a:pPr>
            <a:r>
              <a:rPr lang="es-MX" sz="1800" dirty="0"/>
              <a:t>Subconjunto del ML que utiliza redes neuronales artificiales con múltiples capas (profundas) para modelar abstracciones de alto nivel en los datos.</a:t>
            </a:r>
          </a:p>
          <a:p>
            <a:pPr>
              <a:lnSpc>
                <a:spcPct val="110000"/>
              </a:lnSpc>
            </a:pPr>
            <a:endParaRPr lang="es-CO" sz="1800" dirty="0"/>
          </a:p>
        </p:txBody>
      </p:sp>
      <p:sp>
        <p:nvSpPr>
          <p:cNvPr id="6" name="Marcador de número de diapositiva 5">
            <a:extLst>
              <a:ext uri="{FF2B5EF4-FFF2-40B4-BE49-F238E27FC236}">
                <a16:creationId xmlns:a16="http://schemas.microsoft.com/office/drawing/2014/main" id="{D59B89C7-2542-A4D6-C442-90EB37481652}"/>
              </a:ext>
            </a:extLst>
          </p:cNvPr>
          <p:cNvSpPr>
            <a:spLocks noGrp="1"/>
          </p:cNvSpPr>
          <p:nvPr>
            <p:ph type="sldNum" sz="quarter" idx="12"/>
          </p:nvPr>
        </p:nvSpPr>
        <p:spPr/>
        <p:txBody>
          <a:bodyPr anchor="ctr">
            <a:normAutofit/>
          </a:bodyPr>
          <a:lstStyle/>
          <a:p>
            <a:pPr>
              <a:spcAft>
                <a:spcPts val="600"/>
              </a:spcAft>
            </a:pPr>
            <a:fld id="{C68AC1EC-23E2-4F0E-A5A4-674EC8DB954E}" type="slidenum">
              <a:rPr lang="en-US" smtClean="0"/>
              <a:pPr>
                <a:spcAft>
                  <a:spcPts val="600"/>
                </a:spcAft>
              </a:pPr>
              <a:t>48</a:t>
            </a:fld>
            <a:endParaRPr lang="en-US"/>
          </a:p>
        </p:txBody>
      </p:sp>
      <p:pic>
        <p:nvPicPr>
          <p:cNvPr id="5122" name="Picture 2" descr="Simplifying the Difference: Machine Learning vs Deep Learning - Singapore  Computer Society">
            <a:extLst>
              <a:ext uri="{FF2B5EF4-FFF2-40B4-BE49-F238E27FC236}">
                <a16:creationId xmlns:a16="http://schemas.microsoft.com/office/drawing/2014/main" id="{7D2F0D2A-380E-D192-A45C-D2C67856C18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28391" y="2173755"/>
            <a:ext cx="4985785" cy="3988627"/>
          </a:xfrm>
          <a:prstGeom prst="rect">
            <a:avLst/>
          </a:prstGeom>
          <a:solidFill>
            <a:srgbClr val="FFFFFF"/>
          </a:solidFill>
        </p:spPr>
      </p:pic>
    </p:spTree>
    <p:extLst>
      <p:ext uri="{BB962C8B-B14F-4D97-AF65-F5344CB8AC3E}">
        <p14:creationId xmlns:p14="http://schemas.microsoft.com/office/powerpoint/2010/main" val="2540675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3F8010-E817-D70E-B264-267178C23F0F}"/>
              </a:ext>
            </a:extLst>
          </p:cNvPr>
          <p:cNvSpPr>
            <a:spLocks noGrp="1"/>
          </p:cNvSpPr>
          <p:nvPr>
            <p:ph type="title"/>
          </p:nvPr>
        </p:nvSpPr>
        <p:spPr/>
        <p:txBody>
          <a:bodyPr/>
          <a:lstStyle/>
          <a:p>
            <a:r>
              <a:rPr lang="es-MX" dirty="0"/>
              <a:t>Tipos de Aprendizaje en Machine </a:t>
            </a:r>
            <a:r>
              <a:rPr lang="es-MX" dirty="0" err="1"/>
              <a:t>Learning</a:t>
            </a:r>
            <a:endParaRPr lang="es-CO" dirty="0"/>
          </a:p>
        </p:txBody>
      </p:sp>
      <p:sp>
        <p:nvSpPr>
          <p:cNvPr id="3" name="Marcador de contenido 2">
            <a:extLst>
              <a:ext uri="{FF2B5EF4-FFF2-40B4-BE49-F238E27FC236}">
                <a16:creationId xmlns:a16="http://schemas.microsoft.com/office/drawing/2014/main" id="{608E3A44-DDF2-F00D-B937-74E42FD3AC21}"/>
              </a:ext>
            </a:extLst>
          </p:cNvPr>
          <p:cNvSpPr>
            <a:spLocks noGrp="1"/>
          </p:cNvSpPr>
          <p:nvPr>
            <p:ph sz="half" idx="1"/>
          </p:nvPr>
        </p:nvSpPr>
        <p:spPr/>
        <p:txBody>
          <a:bodyPr>
            <a:normAutofit fontScale="70000" lnSpcReduction="20000"/>
          </a:bodyPr>
          <a:lstStyle/>
          <a:p>
            <a:pPr marL="514350" indent="-285750"/>
            <a:r>
              <a:rPr lang="es-MX" b="1" dirty="0"/>
              <a:t>Aprendizaje Supervisado:</a:t>
            </a:r>
            <a:endParaRPr lang="es-MX" dirty="0"/>
          </a:p>
          <a:p>
            <a:pPr marL="914400" lvl="1"/>
            <a:r>
              <a:rPr lang="es-MX" dirty="0"/>
              <a:t>El modelo es entrenado con datos de entrada y salida conocidas.</a:t>
            </a:r>
          </a:p>
          <a:p>
            <a:pPr marL="914400" lvl="1"/>
            <a:r>
              <a:rPr lang="es-MX" b="1" dirty="0"/>
              <a:t>Objetivo:</a:t>
            </a:r>
            <a:r>
              <a:rPr lang="es-MX" dirty="0"/>
              <a:t> Aprender una función que mapee entradas a salidas.</a:t>
            </a:r>
          </a:p>
          <a:p>
            <a:pPr marL="514350" indent="-285750"/>
            <a:r>
              <a:rPr lang="es-MX" b="1" dirty="0"/>
              <a:t>Aprendizaje No Supervisado:</a:t>
            </a:r>
            <a:endParaRPr lang="es-MX" dirty="0"/>
          </a:p>
          <a:p>
            <a:pPr marL="914400" lvl="1"/>
            <a:r>
              <a:rPr lang="es-MX" dirty="0"/>
              <a:t>El modelo trabaja con datos sin etiquetas.</a:t>
            </a:r>
          </a:p>
          <a:p>
            <a:pPr marL="914400" lvl="1"/>
            <a:r>
              <a:rPr lang="es-MX" b="1" dirty="0"/>
              <a:t>Objetivo:</a:t>
            </a:r>
            <a:r>
              <a:rPr lang="es-MX" dirty="0"/>
              <a:t> Encontrar estructuras ocultas o patrones en los datos.</a:t>
            </a:r>
          </a:p>
          <a:p>
            <a:pPr marL="514350" indent="-285750"/>
            <a:r>
              <a:rPr lang="es-MX" b="1" dirty="0"/>
              <a:t>Aprendizaje </a:t>
            </a:r>
            <a:r>
              <a:rPr lang="es-MX" b="1" dirty="0" err="1"/>
              <a:t>Semi-supervisado</a:t>
            </a:r>
            <a:r>
              <a:rPr lang="es-MX" b="1" dirty="0"/>
              <a:t>:</a:t>
            </a:r>
            <a:endParaRPr lang="es-MX" dirty="0"/>
          </a:p>
          <a:p>
            <a:pPr marL="914400" lvl="1"/>
            <a:r>
              <a:rPr lang="es-MX" dirty="0"/>
              <a:t>Combina una pequeña cantidad de datos etiquetados con una gran cantidad de datos no etiquetados.</a:t>
            </a:r>
          </a:p>
          <a:p>
            <a:pPr marL="914400" lvl="1"/>
            <a:r>
              <a:rPr lang="es-MX" b="1" dirty="0"/>
              <a:t>Objetivo:</a:t>
            </a:r>
            <a:r>
              <a:rPr lang="es-MX" dirty="0"/>
              <a:t> Mejorar el aprendizaje cuando las etiquetas son costosas o difíciles de obtener.</a:t>
            </a:r>
          </a:p>
          <a:p>
            <a:pPr marL="514350" indent="-285750"/>
            <a:r>
              <a:rPr lang="es-MX" b="1" dirty="0"/>
              <a:t>Aprendizaje por Refuerzo:</a:t>
            </a:r>
            <a:endParaRPr lang="es-MX" dirty="0"/>
          </a:p>
          <a:p>
            <a:pPr marL="914400" lvl="1"/>
            <a:r>
              <a:rPr lang="es-MX" dirty="0"/>
              <a:t>El modelo aprende interactuando con un entorno y recibiendo recompensas o castigos.</a:t>
            </a:r>
          </a:p>
          <a:p>
            <a:pPr marL="914400" lvl="1"/>
            <a:r>
              <a:rPr lang="es-MX" b="1" dirty="0"/>
              <a:t>Objetivo:</a:t>
            </a:r>
            <a:r>
              <a:rPr lang="es-MX" dirty="0"/>
              <a:t> Tomar decisiones secuenciales óptimas.</a:t>
            </a:r>
          </a:p>
        </p:txBody>
      </p:sp>
      <p:sp>
        <p:nvSpPr>
          <p:cNvPr id="7" name="Marcador de número de diapositiva 6">
            <a:extLst>
              <a:ext uri="{FF2B5EF4-FFF2-40B4-BE49-F238E27FC236}">
                <a16:creationId xmlns:a16="http://schemas.microsoft.com/office/drawing/2014/main" id="{4585B146-0912-7D5E-A7D8-5EA0B5D87369}"/>
              </a:ext>
            </a:extLst>
          </p:cNvPr>
          <p:cNvSpPr>
            <a:spLocks noGrp="1"/>
          </p:cNvSpPr>
          <p:nvPr>
            <p:ph type="sldNum" sz="quarter" idx="12"/>
          </p:nvPr>
        </p:nvSpPr>
        <p:spPr/>
        <p:txBody>
          <a:bodyPr/>
          <a:lstStyle/>
          <a:p>
            <a:fld id="{C68AC1EC-23E2-4F0E-A5A4-674EC8DB954E}" type="slidenum">
              <a:rPr lang="en-US" smtClean="0"/>
              <a:t>49</a:t>
            </a:fld>
            <a:endParaRPr lang="en-US"/>
          </a:p>
        </p:txBody>
      </p:sp>
      <p:pic>
        <p:nvPicPr>
          <p:cNvPr id="6146" name="Picture 2" descr="Difference Between Artificial Intelligence vs Machine Learning vs Deep  Learning - GeeksforGeeks">
            <a:extLst>
              <a:ext uri="{FF2B5EF4-FFF2-40B4-BE49-F238E27FC236}">
                <a16:creationId xmlns:a16="http://schemas.microsoft.com/office/drawing/2014/main" id="{63E699BA-0E47-3E9F-02CC-13B9A2BC3D8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2304502"/>
            <a:ext cx="5181600" cy="339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291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560DB6CE-CA57-1164-6815-66FF3E31404C}"/>
              </a:ext>
            </a:extLst>
          </p:cNvPr>
          <p:cNvSpPr>
            <a:spLocks noGrp="1"/>
          </p:cNvSpPr>
          <p:nvPr>
            <p:ph type="title"/>
          </p:nvPr>
        </p:nvSpPr>
        <p:spPr/>
        <p:txBody>
          <a:bodyPr/>
          <a:lstStyle/>
          <a:p>
            <a:r>
              <a:rPr lang="es-MX" dirty="0"/>
              <a:t>Tipos de Aprendizaje en Machine </a:t>
            </a:r>
            <a:r>
              <a:rPr lang="es-MX" dirty="0" err="1"/>
              <a:t>Learning</a:t>
            </a:r>
            <a:endParaRPr lang="es-CO" dirty="0"/>
          </a:p>
        </p:txBody>
      </p:sp>
      <p:sp>
        <p:nvSpPr>
          <p:cNvPr id="8" name="Marcador de texto 7">
            <a:extLst>
              <a:ext uri="{FF2B5EF4-FFF2-40B4-BE49-F238E27FC236}">
                <a16:creationId xmlns:a16="http://schemas.microsoft.com/office/drawing/2014/main" id="{F7DE6561-8DEE-95CF-E905-2905ADFA45F6}"/>
              </a:ext>
            </a:extLst>
          </p:cNvPr>
          <p:cNvSpPr>
            <a:spLocks noGrp="1"/>
          </p:cNvSpPr>
          <p:nvPr>
            <p:ph type="body" idx="1"/>
          </p:nvPr>
        </p:nvSpPr>
        <p:spPr>
          <a:xfrm>
            <a:off x="839788" y="1319213"/>
            <a:ext cx="5157787" cy="823912"/>
          </a:xfrm>
        </p:spPr>
        <p:txBody>
          <a:bodyPr/>
          <a:lstStyle/>
          <a:p>
            <a:r>
              <a:rPr lang="es-CO" dirty="0"/>
              <a:t>Aprendizaje Supervisado</a:t>
            </a:r>
          </a:p>
        </p:txBody>
      </p:sp>
      <p:sp>
        <p:nvSpPr>
          <p:cNvPr id="10" name="Marcador de texto 9">
            <a:extLst>
              <a:ext uri="{FF2B5EF4-FFF2-40B4-BE49-F238E27FC236}">
                <a16:creationId xmlns:a16="http://schemas.microsoft.com/office/drawing/2014/main" id="{AC0115F6-771E-FA21-E9D8-FCD6971BFD16}"/>
              </a:ext>
            </a:extLst>
          </p:cNvPr>
          <p:cNvSpPr>
            <a:spLocks noGrp="1"/>
          </p:cNvSpPr>
          <p:nvPr>
            <p:ph type="body" sz="quarter" idx="3"/>
          </p:nvPr>
        </p:nvSpPr>
        <p:spPr>
          <a:xfrm>
            <a:off x="6172200" y="1319213"/>
            <a:ext cx="5183188" cy="823912"/>
          </a:xfrm>
        </p:spPr>
        <p:txBody>
          <a:bodyPr/>
          <a:lstStyle/>
          <a:p>
            <a:r>
              <a:rPr lang="es-CO" dirty="0"/>
              <a:t>Aprendizaje no supervisado</a:t>
            </a:r>
          </a:p>
        </p:txBody>
      </p:sp>
      <p:sp>
        <p:nvSpPr>
          <p:cNvPr id="6" name="Marcador de número de diapositiva 5">
            <a:extLst>
              <a:ext uri="{FF2B5EF4-FFF2-40B4-BE49-F238E27FC236}">
                <a16:creationId xmlns:a16="http://schemas.microsoft.com/office/drawing/2014/main" id="{5F49B256-B6E2-29E6-5C65-364D1D3CB393}"/>
              </a:ext>
            </a:extLst>
          </p:cNvPr>
          <p:cNvSpPr>
            <a:spLocks noGrp="1"/>
          </p:cNvSpPr>
          <p:nvPr>
            <p:ph type="sldNum" sz="quarter" idx="12"/>
          </p:nvPr>
        </p:nvSpPr>
        <p:spPr/>
        <p:txBody>
          <a:bodyPr/>
          <a:lstStyle/>
          <a:p>
            <a:fld id="{C68AC1EC-23E2-4F0E-A5A4-674EC8DB954E}" type="slidenum">
              <a:rPr lang="en-US" smtClean="0"/>
              <a:pPr/>
              <a:t>50</a:t>
            </a:fld>
            <a:endParaRPr lang="en-US"/>
          </a:p>
        </p:txBody>
      </p:sp>
      <p:pic>
        <p:nvPicPr>
          <p:cNvPr id="7172" name="Picture 4" descr="Técnicas para enseñar a un niño con autismo las letras y los números">
            <a:extLst>
              <a:ext uri="{FF2B5EF4-FFF2-40B4-BE49-F238E27FC236}">
                <a16:creationId xmlns:a16="http://schemas.microsoft.com/office/drawing/2014/main" id="{A982A6CB-C56D-64BE-B840-62AC5366145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39788" y="2334359"/>
            <a:ext cx="5157787" cy="2380517"/>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Niño explorando con una lupa | Imagen Premium generada con IA">
            <a:extLst>
              <a:ext uri="{FF2B5EF4-FFF2-40B4-BE49-F238E27FC236}">
                <a16:creationId xmlns:a16="http://schemas.microsoft.com/office/drawing/2014/main" id="{79093568-BBA0-9842-F1C7-0B460C52A7B8}"/>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172200" y="2259070"/>
            <a:ext cx="5183188" cy="3452698"/>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texto 7">
            <a:extLst>
              <a:ext uri="{FF2B5EF4-FFF2-40B4-BE49-F238E27FC236}">
                <a16:creationId xmlns:a16="http://schemas.microsoft.com/office/drawing/2014/main" id="{6524998E-62E9-92E9-477F-793934BC37A6}"/>
              </a:ext>
            </a:extLst>
          </p:cNvPr>
          <p:cNvSpPr txBox="1">
            <a:spLocks/>
          </p:cNvSpPr>
          <p:nvPr/>
        </p:nvSpPr>
        <p:spPr>
          <a:xfrm>
            <a:off x="839788" y="5126831"/>
            <a:ext cx="5157787"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CO" dirty="0"/>
              <a:t>Aprendizaje por Refuerzo</a:t>
            </a:r>
          </a:p>
        </p:txBody>
      </p:sp>
      <p:sp>
        <p:nvSpPr>
          <p:cNvPr id="3" name="CuadroTexto 2">
            <a:extLst>
              <a:ext uri="{FF2B5EF4-FFF2-40B4-BE49-F238E27FC236}">
                <a16:creationId xmlns:a16="http://schemas.microsoft.com/office/drawing/2014/main" id="{1B8E74EF-0FCF-363F-56B4-96FA4C71BE87}"/>
              </a:ext>
            </a:extLst>
          </p:cNvPr>
          <p:cNvSpPr txBox="1"/>
          <p:nvPr/>
        </p:nvSpPr>
        <p:spPr>
          <a:xfrm>
            <a:off x="838200" y="6189662"/>
            <a:ext cx="5025863" cy="369332"/>
          </a:xfrm>
          <a:prstGeom prst="rect">
            <a:avLst/>
          </a:prstGeom>
          <a:noFill/>
        </p:spPr>
        <p:txBody>
          <a:bodyPr wrap="none" rtlCol="0">
            <a:spAutoFit/>
          </a:bodyPr>
          <a:lstStyle/>
          <a:p>
            <a:r>
              <a:rPr lang="es-CO" dirty="0">
                <a:hlinkClick r:id="rId4"/>
              </a:rPr>
              <a:t>https://www.youtube.com/watch?v=xnf8i_IRCcw</a:t>
            </a:r>
            <a:endParaRPr lang="es-CO" dirty="0"/>
          </a:p>
        </p:txBody>
      </p:sp>
    </p:spTree>
    <p:extLst>
      <p:ext uri="{BB962C8B-B14F-4D97-AF65-F5344CB8AC3E}">
        <p14:creationId xmlns:p14="http://schemas.microsoft.com/office/powerpoint/2010/main" val="38997762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95E5FA-74DC-9E5D-3FCC-AC37B602F0D1}"/>
              </a:ext>
            </a:extLst>
          </p:cNvPr>
          <p:cNvSpPr>
            <a:spLocks noGrp="1"/>
          </p:cNvSpPr>
          <p:nvPr>
            <p:ph type="title"/>
          </p:nvPr>
        </p:nvSpPr>
        <p:spPr>
          <a:xfrm>
            <a:off x="1137034" y="609597"/>
            <a:ext cx="9392421" cy="1330841"/>
          </a:xfrm>
        </p:spPr>
        <p:txBody>
          <a:bodyPr>
            <a:normAutofit/>
          </a:bodyPr>
          <a:lstStyle/>
          <a:p>
            <a:r>
              <a:rPr lang="es-CO" dirty="0"/>
              <a:t>Aprendizaje Supervisado</a:t>
            </a:r>
          </a:p>
        </p:txBody>
      </p:sp>
      <p:sp>
        <p:nvSpPr>
          <p:cNvPr id="3" name="Marcador de contenido 2">
            <a:extLst>
              <a:ext uri="{FF2B5EF4-FFF2-40B4-BE49-F238E27FC236}">
                <a16:creationId xmlns:a16="http://schemas.microsoft.com/office/drawing/2014/main" id="{FFFE6E46-8BED-3997-85E0-566DA269C363}"/>
              </a:ext>
            </a:extLst>
          </p:cNvPr>
          <p:cNvSpPr>
            <a:spLocks noGrp="1"/>
          </p:cNvSpPr>
          <p:nvPr>
            <p:ph idx="1"/>
          </p:nvPr>
        </p:nvSpPr>
        <p:spPr>
          <a:xfrm>
            <a:off x="365760" y="2198362"/>
            <a:ext cx="5730240" cy="3917773"/>
          </a:xfrm>
        </p:spPr>
        <p:txBody>
          <a:bodyPr>
            <a:normAutofit fontScale="92500" lnSpcReduction="10000"/>
          </a:bodyPr>
          <a:lstStyle/>
          <a:p>
            <a:pPr marL="285750" indent="-285750"/>
            <a:r>
              <a:rPr lang="es-MX" sz="1600" b="1" dirty="0"/>
              <a:t>Características:</a:t>
            </a:r>
            <a:endParaRPr lang="es-MX" sz="1600" dirty="0"/>
          </a:p>
          <a:p>
            <a:pPr lvl="1"/>
            <a:r>
              <a:rPr lang="es-MX" sz="1600" dirty="0"/>
              <a:t>Requiere un conjunto de datos de entrenamiento con entradas y salidas conocidas.</a:t>
            </a:r>
          </a:p>
          <a:p>
            <a:pPr lvl="1"/>
            <a:r>
              <a:rPr lang="es-MX" sz="1600" dirty="0"/>
              <a:t>Utiliza las salidas conocidas para corregir y mejorar el modelo.</a:t>
            </a:r>
          </a:p>
          <a:p>
            <a:pPr marL="285750" indent="-285750"/>
            <a:r>
              <a:rPr lang="es-MX" sz="1600" b="1" dirty="0"/>
              <a:t>Tipos de problemas:</a:t>
            </a:r>
            <a:endParaRPr lang="es-MX" sz="1600" dirty="0"/>
          </a:p>
          <a:p>
            <a:pPr lvl="1"/>
            <a:r>
              <a:rPr lang="es-MX" sz="1600" b="1" dirty="0"/>
              <a:t>Regresión:</a:t>
            </a:r>
            <a:r>
              <a:rPr lang="es-MX" sz="1600" dirty="0"/>
              <a:t> Predicción de valores continuos (</a:t>
            </a:r>
            <a:r>
              <a:rPr lang="es-MX" sz="1600" dirty="0" err="1"/>
              <a:t>e.g</a:t>
            </a:r>
            <a:r>
              <a:rPr lang="es-MX" sz="1600" dirty="0"/>
              <a:t>., precio de una casa).</a:t>
            </a:r>
          </a:p>
          <a:p>
            <a:pPr lvl="1"/>
            <a:r>
              <a:rPr lang="es-MX" sz="1600" b="1" dirty="0"/>
              <a:t>Clasificación:</a:t>
            </a:r>
            <a:r>
              <a:rPr lang="es-MX" sz="1600" dirty="0"/>
              <a:t> Asignación de etiquetas a categorías (</a:t>
            </a:r>
            <a:r>
              <a:rPr lang="es-MX" sz="1600" dirty="0" err="1"/>
              <a:t>e.g</a:t>
            </a:r>
            <a:r>
              <a:rPr lang="es-MX" sz="1600" dirty="0"/>
              <a:t>., detección de spam).</a:t>
            </a:r>
          </a:p>
          <a:p>
            <a:pPr marL="285750" indent="-285750"/>
            <a:r>
              <a:rPr lang="es-MX" sz="1600" b="1" dirty="0"/>
              <a:t>Ejemplos de Algoritmos:</a:t>
            </a:r>
            <a:endParaRPr lang="es-MX" sz="1600" dirty="0"/>
          </a:p>
          <a:p>
            <a:pPr lvl="1"/>
            <a:r>
              <a:rPr lang="es-MX" sz="1600" dirty="0"/>
              <a:t>Regresión Lineal y Logística.</a:t>
            </a:r>
          </a:p>
          <a:p>
            <a:pPr lvl="1"/>
            <a:r>
              <a:rPr lang="es-MX" sz="1600" dirty="0"/>
              <a:t>Árboles de Decisión.</a:t>
            </a:r>
          </a:p>
          <a:p>
            <a:pPr lvl="1"/>
            <a:r>
              <a:rPr lang="es-MX" sz="1600" dirty="0"/>
              <a:t>Máquinas de Vectores de Soporte (SVM).</a:t>
            </a:r>
          </a:p>
          <a:p>
            <a:pPr lvl="1"/>
            <a:r>
              <a:rPr lang="es-MX" sz="1600" dirty="0"/>
              <a:t>Redes Neuronales (para problemas supervisados).</a:t>
            </a:r>
            <a:endParaRPr lang="es-CO" sz="1600" dirty="0"/>
          </a:p>
        </p:txBody>
      </p:sp>
      <p:pic>
        <p:nvPicPr>
          <p:cNvPr id="8196" name="Picture 4" descr="python - Plot linear model in 3d with Matplotlib - Stack Overflow">
            <a:extLst>
              <a:ext uri="{FF2B5EF4-FFF2-40B4-BE49-F238E27FC236}">
                <a16:creationId xmlns:a16="http://schemas.microsoft.com/office/drawing/2014/main" id="{96FBB4B5-71E8-594D-F8E4-9DD20A45244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61943" y="2184914"/>
            <a:ext cx="4703353" cy="3755915"/>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número de diapositiva 5">
            <a:extLst>
              <a:ext uri="{FF2B5EF4-FFF2-40B4-BE49-F238E27FC236}">
                <a16:creationId xmlns:a16="http://schemas.microsoft.com/office/drawing/2014/main" id="{5333D11F-56C9-817B-155A-EBE02E3E6593}"/>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z="1000"/>
              <a:pPr>
                <a:spcAft>
                  <a:spcPts val="600"/>
                </a:spcAft>
              </a:pPr>
              <a:t>51</a:t>
            </a:fld>
            <a:endParaRPr lang="en-US" sz="1000"/>
          </a:p>
        </p:txBody>
      </p:sp>
    </p:spTree>
    <p:extLst>
      <p:ext uri="{BB962C8B-B14F-4D97-AF65-F5344CB8AC3E}">
        <p14:creationId xmlns:p14="http://schemas.microsoft.com/office/powerpoint/2010/main" val="6561838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54E6F0-25F2-57DF-1027-2B73591AC536}"/>
              </a:ext>
            </a:extLst>
          </p:cNvPr>
          <p:cNvSpPr>
            <a:spLocks noGrp="1"/>
          </p:cNvSpPr>
          <p:nvPr>
            <p:ph type="title"/>
          </p:nvPr>
        </p:nvSpPr>
        <p:spPr>
          <a:xfrm>
            <a:off x="1137034" y="609597"/>
            <a:ext cx="9392421" cy="1330841"/>
          </a:xfrm>
        </p:spPr>
        <p:txBody>
          <a:bodyPr>
            <a:normAutofit/>
          </a:bodyPr>
          <a:lstStyle/>
          <a:p>
            <a:r>
              <a:rPr lang="es-CO" dirty="0"/>
              <a:t>Aprendizaje No Supervisado</a:t>
            </a:r>
          </a:p>
        </p:txBody>
      </p:sp>
      <p:sp>
        <p:nvSpPr>
          <p:cNvPr id="3" name="Marcador de contenido 2">
            <a:extLst>
              <a:ext uri="{FF2B5EF4-FFF2-40B4-BE49-F238E27FC236}">
                <a16:creationId xmlns:a16="http://schemas.microsoft.com/office/drawing/2014/main" id="{5191007B-46E5-D14C-EF07-9A53EE380F8B}"/>
              </a:ext>
            </a:extLst>
          </p:cNvPr>
          <p:cNvSpPr>
            <a:spLocks noGrp="1"/>
          </p:cNvSpPr>
          <p:nvPr>
            <p:ph idx="1"/>
          </p:nvPr>
        </p:nvSpPr>
        <p:spPr>
          <a:xfrm>
            <a:off x="336884" y="2198362"/>
            <a:ext cx="5759116" cy="3917773"/>
          </a:xfrm>
        </p:spPr>
        <p:txBody>
          <a:bodyPr>
            <a:normAutofit fontScale="92500" lnSpcReduction="20000"/>
          </a:bodyPr>
          <a:lstStyle/>
          <a:p>
            <a:pPr marL="285750" indent="-285750"/>
            <a:r>
              <a:rPr lang="es-MX" sz="1600" b="1" dirty="0"/>
              <a:t>Características:</a:t>
            </a:r>
            <a:endParaRPr lang="es-MX" sz="1600" dirty="0"/>
          </a:p>
          <a:p>
            <a:pPr lvl="1"/>
            <a:r>
              <a:rPr lang="es-MX" sz="1600" dirty="0"/>
              <a:t>Trabaja con datos sin etiquetas ni salidas conocidas.</a:t>
            </a:r>
          </a:p>
          <a:p>
            <a:pPr lvl="1"/>
            <a:r>
              <a:rPr lang="es-MX" sz="1600" dirty="0"/>
              <a:t>Busca descubrir patrones, agrupaciones o relaciones en los datos.</a:t>
            </a:r>
          </a:p>
          <a:p>
            <a:pPr marL="285750" indent="-285750"/>
            <a:r>
              <a:rPr lang="es-MX" sz="1600" b="1" dirty="0"/>
              <a:t>Tipos de problemas:</a:t>
            </a:r>
            <a:endParaRPr lang="es-MX" sz="1600" dirty="0"/>
          </a:p>
          <a:p>
            <a:pPr lvl="1"/>
            <a:r>
              <a:rPr lang="es-MX" sz="1600" b="1" dirty="0" err="1"/>
              <a:t>Clustering</a:t>
            </a:r>
            <a:r>
              <a:rPr lang="es-MX" sz="1600" b="1" dirty="0"/>
              <a:t> (Agrupamiento):</a:t>
            </a:r>
            <a:r>
              <a:rPr lang="es-MX" sz="1600" dirty="0"/>
              <a:t> Agrupar datos similares (</a:t>
            </a:r>
            <a:r>
              <a:rPr lang="es-MX" sz="1600" dirty="0" err="1"/>
              <a:t>e.g</a:t>
            </a:r>
            <a:r>
              <a:rPr lang="es-MX" sz="1600" dirty="0"/>
              <a:t>., segmentación de clientes).</a:t>
            </a:r>
          </a:p>
          <a:p>
            <a:pPr lvl="1"/>
            <a:r>
              <a:rPr lang="es-MX" sz="1600" b="1" dirty="0"/>
              <a:t>Asociación:</a:t>
            </a:r>
            <a:r>
              <a:rPr lang="es-MX" sz="1600" dirty="0"/>
              <a:t> Encontrar reglas que describen grandes porciones de los datos (</a:t>
            </a:r>
            <a:r>
              <a:rPr lang="es-MX" sz="1600" dirty="0" err="1"/>
              <a:t>e.g</a:t>
            </a:r>
            <a:r>
              <a:rPr lang="es-MX" sz="1600" dirty="0"/>
              <a:t>., análisis de cesta de mercado).</a:t>
            </a:r>
          </a:p>
          <a:p>
            <a:pPr lvl="1"/>
            <a:r>
              <a:rPr lang="es-MX" sz="1600" b="1" dirty="0"/>
              <a:t>Reducción de Dimensionalidad:</a:t>
            </a:r>
            <a:r>
              <a:rPr lang="es-MX" sz="1600" dirty="0"/>
              <a:t> Simplificar los datos manteniendo su estructura esencial (</a:t>
            </a:r>
            <a:r>
              <a:rPr lang="es-MX" sz="1600" dirty="0" err="1"/>
              <a:t>e.g</a:t>
            </a:r>
            <a:r>
              <a:rPr lang="es-MX" sz="1600" dirty="0"/>
              <a:t>., PCA).</a:t>
            </a:r>
          </a:p>
          <a:p>
            <a:pPr marL="285750" indent="-285750"/>
            <a:r>
              <a:rPr lang="es-MX" sz="1600" b="1" dirty="0"/>
              <a:t>Ejemplos de Algoritmos:</a:t>
            </a:r>
            <a:endParaRPr lang="es-MX" sz="1600" dirty="0"/>
          </a:p>
          <a:p>
            <a:pPr lvl="1"/>
            <a:r>
              <a:rPr lang="es-MX" sz="1600" dirty="0"/>
              <a:t>K-</a:t>
            </a:r>
            <a:r>
              <a:rPr lang="es-MX" sz="1600" dirty="0" err="1"/>
              <a:t>Means</a:t>
            </a:r>
            <a:r>
              <a:rPr lang="es-MX" sz="1600" dirty="0"/>
              <a:t> </a:t>
            </a:r>
            <a:r>
              <a:rPr lang="es-MX" sz="1600" dirty="0" err="1"/>
              <a:t>Clustering</a:t>
            </a:r>
            <a:r>
              <a:rPr lang="es-MX" sz="1600" dirty="0"/>
              <a:t>.</a:t>
            </a:r>
          </a:p>
          <a:p>
            <a:pPr lvl="1"/>
            <a:r>
              <a:rPr lang="es-MX" sz="1600" dirty="0"/>
              <a:t>Algoritmo de Agrupamiento Jerárquico.</a:t>
            </a:r>
          </a:p>
          <a:p>
            <a:pPr lvl="1"/>
            <a:r>
              <a:rPr lang="es-MX" sz="1600" dirty="0"/>
              <a:t>Análisis de Componentes Principales (PCA).</a:t>
            </a:r>
          </a:p>
          <a:p>
            <a:endParaRPr lang="es-CO" sz="1600" dirty="0"/>
          </a:p>
        </p:txBody>
      </p:sp>
      <p:pic>
        <p:nvPicPr>
          <p:cNvPr id="9218" name="Picture 2" descr="Measuring Clustering Quality in Data Mining - GeeksforGeeks">
            <a:extLst>
              <a:ext uri="{FF2B5EF4-FFF2-40B4-BE49-F238E27FC236}">
                <a16:creationId xmlns:a16="http://schemas.microsoft.com/office/drawing/2014/main" id="{86EF4BD0-A445-CF82-10BC-F836EDBD922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19367" y="2416823"/>
            <a:ext cx="4788505" cy="3292096"/>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número de diapositiva 5">
            <a:extLst>
              <a:ext uri="{FF2B5EF4-FFF2-40B4-BE49-F238E27FC236}">
                <a16:creationId xmlns:a16="http://schemas.microsoft.com/office/drawing/2014/main" id="{54E3634F-A6A4-213B-4576-620791BF6EAD}"/>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z="1000"/>
              <a:pPr>
                <a:spcAft>
                  <a:spcPts val="600"/>
                </a:spcAft>
              </a:pPr>
              <a:t>52</a:t>
            </a:fld>
            <a:endParaRPr lang="en-US" sz="1000"/>
          </a:p>
        </p:txBody>
      </p:sp>
    </p:spTree>
    <p:extLst>
      <p:ext uri="{BB962C8B-B14F-4D97-AF65-F5344CB8AC3E}">
        <p14:creationId xmlns:p14="http://schemas.microsoft.com/office/powerpoint/2010/main" val="3573527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D7613C-02B2-0C7F-ED4E-71450C1B399A}"/>
              </a:ext>
            </a:extLst>
          </p:cNvPr>
          <p:cNvSpPr>
            <a:spLocks noGrp="1"/>
          </p:cNvSpPr>
          <p:nvPr>
            <p:ph type="title"/>
          </p:nvPr>
        </p:nvSpPr>
        <p:spPr>
          <a:xfrm>
            <a:off x="1137034" y="609597"/>
            <a:ext cx="9392421" cy="1330841"/>
          </a:xfrm>
        </p:spPr>
        <p:txBody>
          <a:bodyPr>
            <a:normAutofit/>
          </a:bodyPr>
          <a:lstStyle/>
          <a:p>
            <a:r>
              <a:rPr lang="es-MX" dirty="0"/>
              <a:t>Aprendizaje </a:t>
            </a:r>
            <a:r>
              <a:rPr lang="es-MX" dirty="0" err="1"/>
              <a:t>Semi-supervisado</a:t>
            </a:r>
            <a:r>
              <a:rPr lang="es-MX" dirty="0"/>
              <a:t> y por Refuerzo</a:t>
            </a:r>
            <a:endParaRPr lang="es-CO" dirty="0"/>
          </a:p>
        </p:txBody>
      </p:sp>
      <p:sp>
        <p:nvSpPr>
          <p:cNvPr id="3" name="Marcador de contenido 2">
            <a:extLst>
              <a:ext uri="{FF2B5EF4-FFF2-40B4-BE49-F238E27FC236}">
                <a16:creationId xmlns:a16="http://schemas.microsoft.com/office/drawing/2014/main" id="{84398416-67B5-40A0-C838-8B471D02A506}"/>
              </a:ext>
            </a:extLst>
          </p:cNvPr>
          <p:cNvSpPr>
            <a:spLocks noGrp="1"/>
          </p:cNvSpPr>
          <p:nvPr>
            <p:ph idx="1"/>
          </p:nvPr>
        </p:nvSpPr>
        <p:spPr>
          <a:xfrm>
            <a:off x="413886" y="2198362"/>
            <a:ext cx="5682114" cy="3917773"/>
          </a:xfrm>
        </p:spPr>
        <p:txBody>
          <a:bodyPr>
            <a:normAutofit fontScale="92500"/>
          </a:bodyPr>
          <a:lstStyle/>
          <a:p>
            <a:pPr marL="285750" indent="-285750"/>
            <a:r>
              <a:rPr lang="es-MX" sz="1400" b="1" dirty="0"/>
              <a:t>Aprendizaje </a:t>
            </a:r>
            <a:r>
              <a:rPr lang="es-MX" sz="1400" b="1" dirty="0" err="1"/>
              <a:t>Semi-supervisado</a:t>
            </a:r>
            <a:r>
              <a:rPr lang="es-MX" sz="1400" b="1" dirty="0"/>
              <a:t>:</a:t>
            </a:r>
            <a:endParaRPr lang="es-MX" sz="1400" dirty="0"/>
          </a:p>
          <a:p>
            <a:pPr lvl="1"/>
            <a:r>
              <a:rPr lang="es-MX" sz="1400" b="1" dirty="0"/>
              <a:t>Situación:</a:t>
            </a:r>
            <a:r>
              <a:rPr lang="es-MX" sz="1400" dirty="0"/>
              <a:t> Cuando el etiquetado de datos es costoso o impracticable.</a:t>
            </a:r>
          </a:p>
          <a:p>
            <a:pPr lvl="1"/>
            <a:r>
              <a:rPr lang="es-MX" sz="1400" b="1" dirty="0"/>
              <a:t>Aplicaciones:</a:t>
            </a:r>
            <a:r>
              <a:rPr lang="es-MX" sz="1400" dirty="0"/>
              <a:t> Reconocimiento de voz, procesamiento de imágenes.</a:t>
            </a:r>
          </a:p>
          <a:p>
            <a:pPr lvl="1"/>
            <a:r>
              <a:rPr lang="es-MX" sz="1400" b="1" dirty="0"/>
              <a:t>Beneficios:</a:t>
            </a:r>
            <a:r>
              <a:rPr lang="es-MX" sz="1400" dirty="0"/>
              <a:t> Mejora el rendimiento utilizando tanto datos etiquetados como no etiquetados.</a:t>
            </a:r>
          </a:p>
          <a:p>
            <a:pPr marL="285750" indent="-285750"/>
            <a:r>
              <a:rPr lang="es-MX" sz="1400" b="1" dirty="0"/>
              <a:t>Aprendizaje por Refuerzo:</a:t>
            </a:r>
            <a:endParaRPr lang="es-MX" sz="1400" dirty="0"/>
          </a:p>
          <a:p>
            <a:pPr lvl="1"/>
            <a:r>
              <a:rPr lang="es-MX" sz="1400" b="1" dirty="0"/>
              <a:t>Concepto:</a:t>
            </a:r>
            <a:r>
              <a:rPr lang="es-MX" sz="1400" dirty="0"/>
              <a:t> Un agente aprende a tomar acciones en un entorno para maximizar una recompensa acumulada.</a:t>
            </a:r>
          </a:p>
          <a:p>
            <a:pPr lvl="1"/>
            <a:r>
              <a:rPr lang="es-MX" sz="1400" b="1" dirty="0"/>
              <a:t>Elementos Clave:</a:t>
            </a:r>
            <a:endParaRPr lang="es-MX" sz="1400" dirty="0"/>
          </a:p>
          <a:p>
            <a:pPr lvl="2"/>
            <a:r>
              <a:rPr lang="es-MX" sz="1400" b="1" dirty="0"/>
              <a:t>Agente:</a:t>
            </a:r>
            <a:r>
              <a:rPr lang="es-MX" sz="1400" dirty="0"/>
              <a:t> El aprendiz o tomador de decisiones.</a:t>
            </a:r>
          </a:p>
          <a:p>
            <a:pPr lvl="2"/>
            <a:r>
              <a:rPr lang="es-MX" sz="1400" b="1" dirty="0"/>
              <a:t>Entorno:</a:t>
            </a:r>
            <a:r>
              <a:rPr lang="es-MX" sz="1400" dirty="0"/>
              <a:t> Donde el agente actúa.</a:t>
            </a:r>
          </a:p>
          <a:p>
            <a:pPr lvl="2"/>
            <a:r>
              <a:rPr lang="es-MX" sz="1400" b="1" dirty="0"/>
              <a:t>Acciones:</a:t>
            </a:r>
            <a:r>
              <a:rPr lang="es-MX" sz="1400" dirty="0"/>
              <a:t> Las opciones disponibles para el agente.</a:t>
            </a:r>
          </a:p>
          <a:p>
            <a:pPr lvl="2"/>
            <a:r>
              <a:rPr lang="es-MX" sz="1400" b="1" dirty="0"/>
              <a:t>Recompensas:</a:t>
            </a:r>
            <a:r>
              <a:rPr lang="es-MX" sz="1400" dirty="0"/>
              <a:t> </a:t>
            </a:r>
            <a:r>
              <a:rPr lang="es-MX" sz="1400" dirty="0" err="1"/>
              <a:t>Feedback</a:t>
            </a:r>
            <a:r>
              <a:rPr lang="es-MX" sz="1400" dirty="0"/>
              <a:t> recibido por las acciones.</a:t>
            </a:r>
          </a:p>
          <a:p>
            <a:pPr lvl="1"/>
            <a:r>
              <a:rPr lang="es-MX" sz="1400" b="1" dirty="0"/>
              <a:t>Aplicaciones:</a:t>
            </a:r>
            <a:r>
              <a:rPr lang="es-MX" sz="1400" dirty="0"/>
              <a:t> Juegos (</a:t>
            </a:r>
            <a:r>
              <a:rPr lang="es-MX" sz="1400" dirty="0" err="1"/>
              <a:t>e.g</a:t>
            </a:r>
            <a:r>
              <a:rPr lang="es-MX" sz="1400" dirty="0"/>
              <a:t>., </a:t>
            </a:r>
            <a:r>
              <a:rPr lang="es-MX" sz="1400" dirty="0" err="1"/>
              <a:t>AlphaGo</a:t>
            </a:r>
            <a:r>
              <a:rPr lang="es-MX" sz="1400" dirty="0"/>
              <a:t>), robótica, trading financiero.</a:t>
            </a:r>
            <a:endParaRPr lang="es-CO" sz="1400" dirty="0"/>
          </a:p>
        </p:txBody>
      </p:sp>
      <p:pic>
        <p:nvPicPr>
          <p:cNvPr id="10242" name="Picture 2" descr="Aprendizaje por Refuerzo | Aprende Machine Learning">
            <a:extLst>
              <a:ext uri="{FF2B5EF4-FFF2-40B4-BE49-F238E27FC236}">
                <a16:creationId xmlns:a16="http://schemas.microsoft.com/office/drawing/2014/main" id="{38BD6AFD-7CC1-51DD-0615-FE1CF23F29A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71282" y="2184914"/>
            <a:ext cx="4484675" cy="3755915"/>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número de diapositiva 5">
            <a:extLst>
              <a:ext uri="{FF2B5EF4-FFF2-40B4-BE49-F238E27FC236}">
                <a16:creationId xmlns:a16="http://schemas.microsoft.com/office/drawing/2014/main" id="{81CB534D-45B6-3D8B-7F10-7C278AC7610D}"/>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z="1000"/>
              <a:pPr>
                <a:spcAft>
                  <a:spcPts val="600"/>
                </a:spcAft>
              </a:pPr>
              <a:t>53</a:t>
            </a:fld>
            <a:endParaRPr lang="en-US" sz="1000"/>
          </a:p>
        </p:txBody>
      </p:sp>
      <p:sp>
        <p:nvSpPr>
          <p:cNvPr id="8" name="CuadroTexto 7">
            <a:extLst>
              <a:ext uri="{FF2B5EF4-FFF2-40B4-BE49-F238E27FC236}">
                <a16:creationId xmlns:a16="http://schemas.microsoft.com/office/drawing/2014/main" id="{AC945B52-655F-C0A0-A997-ED020DE5B182}"/>
              </a:ext>
            </a:extLst>
          </p:cNvPr>
          <p:cNvSpPr txBox="1"/>
          <p:nvPr/>
        </p:nvSpPr>
        <p:spPr>
          <a:xfrm>
            <a:off x="3047199" y="5913550"/>
            <a:ext cx="6097604" cy="369332"/>
          </a:xfrm>
          <a:prstGeom prst="rect">
            <a:avLst/>
          </a:prstGeom>
          <a:noFill/>
        </p:spPr>
        <p:txBody>
          <a:bodyPr wrap="square">
            <a:spAutoFit/>
          </a:bodyPr>
          <a:lstStyle/>
          <a:p>
            <a:pPr algn="ctr"/>
            <a:r>
              <a:rPr lang="es-CO" dirty="0">
                <a:hlinkClick r:id="rId4"/>
              </a:rPr>
              <a:t>https://www.youtube.com/watch?v=Lu56xVlZ40M</a:t>
            </a:r>
            <a:endParaRPr lang="es-CO" dirty="0"/>
          </a:p>
        </p:txBody>
      </p:sp>
    </p:spTree>
    <p:extLst>
      <p:ext uri="{BB962C8B-B14F-4D97-AF65-F5344CB8AC3E}">
        <p14:creationId xmlns:p14="http://schemas.microsoft.com/office/powerpoint/2010/main" val="1773330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DC7F02-0D40-C065-05A0-5D41C4AAA45B}"/>
              </a:ext>
            </a:extLst>
          </p:cNvPr>
          <p:cNvSpPr>
            <a:spLocks noGrp="1"/>
          </p:cNvSpPr>
          <p:nvPr>
            <p:ph type="title"/>
          </p:nvPr>
        </p:nvSpPr>
        <p:spPr/>
        <p:txBody>
          <a:bodyPr/>
          <a:lstStyle/>
          <a:p>
            <a:r>
              <a:rPr lang="es-MX" dirty="0"/>
              <a:t>Discusión de Ejemplos y Aplicaciones</a:t>
            </a:r>
            <a:endParaRPr lang="es-CO" dirty="0"/>
          </a:p>
        </p:txBody>
      </p:sp>
      <p:sp>
        <p:nvSpPr>
          <p:cNvPr id="7" name="Marcador de contenido 6">
            <a:extLst>
              <a:ext uri="{FF2B5EF4-FFF2-40B4-BE49-F238E27FC236}">
                <a16:creationId xmlns:a16="http://schemas.microsoft.com/office/drawing/2014/main" id="{ED7DBA9F-B1C4-765D-D01B-251BDB998850}"/>
              </a:ext>
            </a:extLst>
          </p:cNvPr>
          <p:cNvSpPr>
            <a:spLocks noGrp="1"/>
          </p:cNvSpPr>
          <p:nvPr>
            <p:ph sz="half" idx="1"/>
          </p:nvPr>
        </p:nvSpPr>
        <p:spPr/>
        <p:txBody>
          <a:bodyPr>
            <a:normAutofit fontScale="85000" lnSpcReduction="20000"/>
          </a:bodyPr>
          <a:lstStyle/>
          <a:p>
            <a:pPr marL="285750" indent="-285750"/>
            <a:r>
              <a:rPr lang="es-MX" b="1" dirty="0"/>
              <a:t>Casos de Uso del Machine </a:t>
            </a:r>
            <a:r>
              <a:rPr lang="es-MX" b="1" dirty="0" err="1"/>
              <a:t>Learning</a:t>
            </a:r>
            <a:r>
              <a:rPr lang="es-MX" b="1" dirty="0"/>
              <a:t>:</a:t>
            </a:r>
            <a:endParaRPr lang="es-MX" dirty="0"/>
          </a:p>
          <a:p>
            <a:pPr lvl="1"/>
            <a:r>
              <a:rPr lang="es-MX" b="1" dirty="0"/>
              <a:t>Recomendaciones Personalizadas:</a:t>
            </a:r>
            <a:endParaRPr lang="es-MX" dirty="0"/>
          </a:p>
          <a:p>
            <a:pPr lvl="2"/>
            <a:r>
              <a:rPr lang="es-MX" dirty="0"/>
              <a:t>Plataformas como Netflix y Amazon utilizan ML para sugerir contenido.</a:t>
            </a:r>
          </a:p>
          <a:p>
            <a:pPr lvl="1"/>
            <a:r>
              <a:rPr lang="es-MX" b="1" dirty="0"/>
              <a:t>Asistentes Virtuales:</a:t>
            </a:r>
            <a:endParaRPr lang="es-MX" dirty="0"/>
          </a:p>
          <a:p>
            <a:pPr lvl="2"/>
            <a:r>
              <a:rPr lang="es-MX" dirty="0"/>
              <a:t>Siri, Alexa y Google </a:t>
            </a:r>
            <a:r>
              <a:rPr lang="es-MX" dirty="0" err="1"/>
              <a:t>Assistant</a:t>
            </a:r>
            <a:r>
              <a:rPr lang="es-MX" dirty="0"/>
              <a:t> interpretan y responden a comandos de voz.</a:t>
            </a:r>
          </a:p>
          <a:p>
            <a:pPr lvl="1"/>
            <a:r>
              <a:rPr lang="es-MX" b="1" dirty="0"/>
              <a:t>Visión por Computadora:</a:t>
            </a:r>
            <a:endParaRPr lang="es-MX" dirty="0"/>
          </a:p>
          <a:p>
            <a:pPr lvl="2"/>
            <a:r>
              <a:rPr lang="es-MX" dirty="0"/>
              <a:t>Reconocimiento facial, detección de objetos en imágenes.</a:t>
            </a:r>
          </a:p>
          <a:p>
            <a:pPr lvl="1"/>
            <a:r>
              <a:rPr lang="es-MX" b="1" dirty="0"/>
              <a:t>Procesamiento del Lenguaje Natural:</a:t>
            </a:r>
            <a:endParaRPr lang="es-MX" dirty="0"/>
          </a:p>
          <a:p>
            <a:pPr lvl="2"/>
            <a:r>
              <a:rPr lang="es-MX" dirty="0"/>
              <a:t>Traducción automática, análisis de sentimientos en redes sociales.</a:t>
            </a:r>
          </a:p>
          <a:p>
            <a:pPr lvl="1"/>
            <a:r>
              <a:rPr lang="es-MX" b="1" dirty="0"/>
              <a:t>Vehículos Autónomos:</a:t>
            </a:r>
            <a:endParaRPr lang="es-MX" dirty="0"/>
          </a:p>
          <a:p>
            <a:pPr lvl="2"/>
            <a:r>
              <a:rPr lang="es-MX" dirty="0"/>
              <a:t>Sensores y algoritmos que permiten la conducción sin intervención humana.</a:t>
            </a:r>
          </a:p>
        </p:txBody>
      </p:sp>
      <p:sp>
        <p:nvSpPr>
          <p:cNvPr id="8" name="Marcador de contenido 7">
            <a:extLst>
              <a:ext uri="{FF2B5EF4-FFF2-40B4-BE49-F238E27FC236}">
                <a16:creationId xmlns:a16="http://schemas.microsoft.com/office/drawing/2014/main" id="{B401ABC4-0678-03A6-0BAF-743CD1570D8F}"/>
              </a:ext>
            </a:extLst>
          </p:cNvPr>
          <p:cNvSpPr>
            <a:spLocks noGrp="1"/>
          </p:cNvSpPr>
          <p:nvPr>
            <p:ph sz="half" idx="2"/>
          </p:nvPr>
        </p:nvSpPr>
        <p:spPr/>
        <p:txBody>
          <a:bodyPr>
            <a:normAutofit fontScale="85000" lnSpcReduction="20000"/>
          </a:bodyPr>
          <a:lstStyle/>
          <a:p>
            <a:pPr marL="285750" indent="-285750"/>
            <a:r>
              <a:rPr lang="es-MX" b="1" dirty="0"/>
              <a:t>Impacto en la Sociedad:</a:t>
            </a:r>
            <a:endParaRPr lang="es-MX" dirty="0"/>
          </a:p>
          <a:p>
            <a:pPr lvl="1"/>
            <a:r>
              <a:rPr lang="es-MX" dirty="0"/>
              <a:t>Mejoras en eficiencia y personalización.</a:t>
            </a:r>
          </a:p>
          <a:p>
            <a:pPr lvl="1"/>
            <a:r>
              <a:rPr lang="es-MX" dirty="0"/>
              <a:t>Consideraciones éticas y de privacidad.</a:t>
            </a:r>
            <a:endParaRPr lang="es-CO" dirty="0"/>
          </a:p>
          <a:p>
            <a:endParaRPr lang="es-CO" dirty="0"/>
          </a:p>
        </p:txBody>
      </p:sp>
      <p:sp>
        <p:nvSpPr>
          <p:cNvPr id="6" name="Marcador de número de diapositiva 5">
            <a:extLst>
              <a:ext uri="{FF2B5EF4-FFF2-40B4-BE49-F238E27FC236}">
                <a16:creationId xmlns:a16="http://schemas.microsoft.com/office/drawing/2014/main" id="{D87625EB-9FED-C44A-A91F-04DEDE2A13C6}"/>
              </a:ext>
            </a:extLst>
          </p:cNvPr>
          <p:cNvSpPr>
            <a:spLocks noGrp="1"/>
          </p:cNvSpPr>
          <p:nvPr>
            <p:ph type="sldNum" sz="quarter" idx="12"/>
          </p:nvPr>
        </p:nvSpPr>
        <p:spPr/>
        <p:txBody>
          <a:bodyPr/>
          <a:lstStyle/>
          <a:p>
            <a:fld id="{C68AC1EC-23E2-4F0E-A5A4-674EC8DB954E}" type="slidenum">
              <a:rPr lang="en-US" smtClean="0"/>
              <a:pPr/>
              <a:t>54</a:t>
            </a:fld>
            <a:endParaRPr lang="en-US"/>
          </a:p>
        </p:txBody>
      </p:sp>
      <p:pic>
        <p:nvPicPr>
          <p:cNvPr id="10" name="Imagen 9">
            <a:extLst>
              <a:ext uri="{FF2B5EF4-FFF2-40B4-BE49-F238E27FC236}">
                <a16:creationId xmlns:a16="http://schemas.microsoft.com/office/drawing/2014/main" id="{EA22941F-C5C4-7038-8C63-ADEEC6BD3BAD}"/>
              </a:ext>
            </a:extLst>
          </p:cNvPr>
          <p:cNvPicPr>
            <a:picLocks noChangeAspect="1"/>
          </p:cNvPicPr>
          <p:nvPr/>
        </p:nvPicPr>
        <p:blipFill>
          <a:blip r:embed="rId3"/>
          <a:stretch>
            <a:fillRect/>
          </a:stretch>
        </p:blipFill>
        <p:spPr>
          <a:xfrm>
            <a:off x="6221128" y="3429000"/>
            <a:ext cx="5339972" cy="2509787"/>
          </a:xfrm>
          <a:prstGeom prst="rect">
            <a:avLst/>
          </a:prstGeom>
        </p:spPr>
      </p:pic>
    </p:spTree>
    <p:extLst>
      <p:ext uri="{BB962C8B-B14F-4D97-AF65-F5344CB8AC3E}">
        <p14:creationId xmlns:p14="http://schemas.microsoft.com/office/powerpoint/2010/main" val="532048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08953E-85C3-23AE-BB15-E5B342A93170}"/>
              </a:ext>
            </a:extLst>
          </p:cNvPr>
          <p:cNvSpPr>
            <a:spLocks noGrp="1"/>
          </p:cNvSpPr>
          <p:nvPr>
            <p:ph type="title"/>
          </p:nvPr>
        </p:nvSpPr>
        <p:spPr/>
        <p:txBody>
          <a:bodyPr/>
          <a:lstStyle/>
          <a:p>
            <a:r>
              <a:rPr lang="es-CO" dirty="0"/>
              <a:t>Ciclo de vida de un proyecto de ML</a:t>
            </a:r>
          </a:p>
        </p:txBody>
      </p:sp>
      <p:sp>
        <p:nvSpPr>
          <p:cNvPr id="3" name="Marcador de texto 2">
            <a:extLst>
              <a:ext uri="{FF2B5EF4-FFF2-40B4-BE49-F238E27FC236}">
                <a16:creationId xmlns:a16="http://schemas.microsoft.com/office/drawing/2014/main" id="{DCAB45E7-4C81-29D8-A2E5-5B2738FBBCF1}"/>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182075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4E5F6-5B07-CEF6-9E40-C2F8D560C98F}"/>
              </a:ext>
            </a:extLst>
          </p:cNvPr>
          <p:cNvSpPr>
            <a:spLocks noGrp="1"/>
          </p:cNvSpPr>
          <p:nvPr>
            <p:ph type="title"/>
          </p:nvPr>
        </p:nvSpPr>
        <p:spPr>
          <a:xfrm>
            <a:off x="572493" y="238539"/>
            <a:ext cx="11018520" cy="1434415"/>
          </a:xfrm>
        </p:spPr>
        <p:txBody>
          <a:bodyPr anchor="b">
            <a:normAutofit/>
          </a:bodyPr>
          <a:lstStyle/>
          <a:p>
            <a:r>
              <a:rPr lang="es-MX" sz="4600" b="1"/>
              <a:t>Ciclo de Vida de un Proyecto de Machine Learning</a:t>
            </a:r>
            <a:endParaRPr lang="es-CO" sz="4600"/>
          </a:p>
        </p:txBody>
      </p:sp>
      <p:sp>
        <p:nvSpPr>
          <p:cNvPr id="3" name="Marcador de contenido 2">
            <a:extLst>
              <a:ext uri="{FF2B5EF4-FFF2-40B4-BE49-F238E27FC236}">
                <a16:creationId xmlns:a16="http://schemas.microsoft.com/office/drawing/2014/main" id="{E4634445-83CF-31F0-3AF2-F38D1747FB54}"/>
              </a:ext>
            </a:extLst>
          </p:cNvPr>
          <p:cNvSpPr>
            <a:spLocks noGrp="1"/>
          </p:cNvSpPr>
          <p:nvPr>
            <p:ph idx="1"/>
          </p:nvPr>
        </p:nvSpPr>
        <p:spPr>
          <a:xfrm>
            <a:off x="572493" y="2071316"/>
            <a:ext cx="6713552" cy="4119172"/>
          </a:xfrm>
        </p:spPr>
        <p:txBody>
          <a:bodyPr anchor="t">
            <a:normAutofit fontScale="92500"/>
          </a:bodyPr>
          <a:lstStyle/>
          <a:p>
            <a:pPr marL="285750" indent="-285750"/>
            <a:r>
              <a:rPr lang="es-MX" sz="2200" b="1" dirty="0"/>
              <a:t>Introducción al ciclo de vida:</a:t>
            </a:r>
            <a:endParaRPr lang="es-MX" sz="2200" dirty="0"/>
          </a:p>
          <a:p>
            <a:pPr lvl="1"/>
            <a:r>
              <a:rPr lang="es-MX" sz="2200" dirty="0"/>
              <a:t>Es un </a:t>
            </a:r>
            <a:r>
              <a:rPr lang="es-MX" sz="2200" b="1" dirty="0"/>
              <a:t>proceso iterativo</a:t>
            </a:r>
            <a:r>
              <a:rPr lang="es-MX" sz="2200" dirty="0"/>
              <a:t> que garantiza el desarrollo eficaz de modelos de ML.</a:t>
            </a:r>
          </a:p>
          <a:p>
            <a:pPr marL="285750" indent="-285750"/>
            <a:r>
              <a:rPr lang="es-MX" sz="2200" b="1" dirty="0"/>
              <a:t>Etapas principales:</a:t>
            </a:r>
            <a:endParaRPr lang="es-MX" sz="2200" dirty="0"/>
          </a:p>
          <a:p>
            <a:pPr marL="914400" lvl="1" indent="-457200">
              <a:buFont typeface="+mj-lt"/>
              <a:buAutoNum type="arabicPeriod"/>
            </a:pPr>
            <a:r>
              <a:rPr lang="es-MX" sz="2200" b="1" dirty="0"/>
              <a:t>Definición del problema.</a:t>
            </a:r>
            <a:endParaRPr lang="es-MX" sz="2200" dirty="0"/>
          </a:p>
          <a:p>
            <a:pPr marL="914400" lvl="1" indent="-457200">
              <a:buFont typeface="+mj-lt"/>
              <a:buAutoNum type="arabicPeriod"/>
            </a:pPr>
            <a:r>
              <a:rPr lang="es-MX" sz="2200" b="1" dirty="0"/>
              <a:t>Recolección y preparación de datos.</a:t>
            </a:r>
            <a:endParaRPr lang="es-MX" sz="2200" dirty="0"/>
          </a:p>
          <a:p>
            <a:pPr marL="914400" lvl="1" indent="-457200">
              <a:buFont typeface="+mj-lt"/>
              <a:buAutoNum type="arabicPeriod"/>
            </a:pPr>
            <a:r>
              <a:rPr lang="es-MX" sz="2200" b="1" dirty="0"/>
              <a:t>Análisis exploratorio de datos (EDA).</a:t>
            </a:r>
            <a:endParaRPr lang="es-MX" sz="2200" dirty="0"/>
          </a:p>
          <a:p>
            <a:pPr marL="914400" lvl="1" indent="-457200">
              <a:buFont typeface="+mj-lt"/>
              <a:buAutoNum type="arabicPeriod"/>
            </a:pPr>
            <a:r>
              <a:rPr lang="es-MX" sz="2200" b="1" dirty="0"/>
              <a:t>Construcción y entrenamiento del modelo.</a:t>
            </a:r>
            <a:endParaRPr lang="es-MX" sz="2200" dirty="0"/>
          </a:p>
          <a:p>
            <a:pPr marL="914400" lvl="1" indent="-457200">
              <a:buFont typeface="+mj-lt"/>
              <a:buAutoNum type="arabicPeriod"/>
            </a:pPr>
            <a:r>
              <a:rPr lang="es-MX" sz="2200" b="1" dirty="0"/>
              <a:t>Evaluación del modelo.</a:t>
            </a:r>
            <a:endParaRPr lang="es-MX" sz="2200" dirty="0"/>
          </a:p>
          <a:p>
            <a:pPr marL="914400" lvl="1" indent="-457200">
              <a:buFont typeface="+mj-lt"/>
              <a:buAutoNum type="arabicPeriod"/>
            </a:pPr>
            <a:r>
              <a:rPr lang="es-MX" sz="2200" b="1" dirty="0"/>
              <a:t>Implementación y despliegue.</a:t>
            </a:r>
            <a:endParaRPr lang="es-MX" sz="2200" dirty="0"/>
          </a:p>
          <a:p>
            <a:pPr marL="914400" lvl="1" indent="-457200">
              <a:buFont typeface="+mj-lt"/>
              <a:buAutoNum type="arabicPeriod"/>
            </a:pPr>
            <a:r>
              <a:rPr lang="es-MX" sz="2200" b="1" dirty="0"/>
              <a:t>Monitoreo y mantenimiento.</a:t>
            </a:r>
            <a:endParaRPr lang="es-CO" sz="2200" dirty="0"/>
          </a:p>
        </p:txBody>
      </p:sp>
      <p:pic>
        <p:nvPicPr>
          <p:cNvPr id="1026" name="Picture 2" descr="Modelo de desarrollo en espiral | Modelos de Evaluación Red Wiki | Fandom">
            <a:extLst>
              <a:ext uri="{FF2B5EF4-FFF2-40B4-BE49-F238E27FC236}">
                <a16:creationId xmlns:a16="http://schemas.microsoft.com/office/drawing/2014/main" id="{907A3FB1-19BB-55BD-F536-34C818F89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58" r="9637" b="2"/>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066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5BF52D-8F4C-3E3F-9EEF-A8CC2687197E}"/>
              </a:ext>
            </a:extLst>
          </p:cNvPr>
          <p:cNvSpPr>
            <a:spLocks noGrp="1"/>
          </p:cNvSpPr>
          <p:nvPr>
            <p:ph type="title"/>
          </p:nvPr>
        </p:nvSpPr>
        <p:spPr>
          <a:xfrm>
            <a:off x="572493" y="238539"/>
            <a:ext cx="11018520" cy="1434415"/>
          </a:xfrm>
        </p:spPr>
        <p:txBody>
          <a:bodyPr anchor="b">
            <a:normAutofit/>
          </a:bodyPr>
          <a:lstStyle/>
          <a:p>
            <a:r>
              <a:rPr lang="es-CO" sz="5400" b="1" dirty="0"/>
              <a:t>1. Definición del Problema</a:t>
            </a:r>
          </a:p>
        </p:txBody>
      </p:sp>
      <p:sp>
        <p:nvSpPr>
          <p:cNvPr id="3" name="Marcador de contenido 2">
            <a:extLst>
              <a:ext uri="{FF2B5EF4-FFF2-40B4-BE49-F238E27FC236}">
                <a16:creationId xmlns:a16="http://schemas.microsoft.com/office/drawing/2014/main" id="{13B36ECE-6558-527C-0E7C-94BC6F92E57E}"/>
              </a:ext>
            </a:extLst>
          </p:cNvPr>
          <p:cNvSpPr>
            <a:spLocks noGrp="1"/>
          </p:cNvSpPr>
          <p:nvPr>
            <p:ph idx="1"/>
          </p:nvPr>
        </p:nvSpPr>
        <p:spPr>
          <a:xfrm>
            <a:off x="572493" y="2071316"/>
            <a:ext cx="6713552" cy="4119172"/>
          </a:xfrm>
        </p:spPr>
        <p:txBody>
          <a:bodyPr anchor="t">
            <a:normAutofit/>
          </a:bodyPr>
          <a:lstStyle/>
          <a:p>
            <a:pPr marL="285750" indent="-285750"/>
            <a:r>
              <a:rPr lang="es-MX" sz="2200" b="1" dirty="0"/>
              <a:t>Objetivos claros:</a:t>
            </a:r>
            <a:endParaRPr lang="es-MX" sz="2200" dirty="0"/>
          </a:p>
          <a:p>
            <a:pPr lvl="1"/>
            <a:r>
              <a:rPr lang="es-MX" sz="2200" dirty="0"/>
              <a:t>Establecer </a:t>
            </a:r>
            <a:r>
              <a:rPr lang="es-MX" sz="2200" b="1" dirty="0"/>
              <a:t>qué se quiere lograr</a:t>
            </a:r>
            <a:r>
              <a:rPr lang="es-MX" sz="2200" dirty="0"/>
              <a:t> con el proyecto.</a:t>
            </a:r>
          </a:p>
          <a:p>
            <a:pPr marL="285750" indent="-285750"/>
            <a:r>
              <a:rPr lang="es-MX" sz="2200" b="1" dirty="0"/>
              <a:t>Preguntas clave:</a:t>
            </a:r>
            <a:endParaRPr lang="es-MX" sz="2200" dirty="0"/>
          </a:p>
          <a:p>
            <a:pPr lvl="1"/>
            <a:r>
              <a:rPr lang="es-MX" sz="2200" dirty="0"/>
              <a:t>¿Cuál es el </a:t>
            </a:r>
            <a:r>
              <a:rPr lang="es-MX" sz="2200" b="1" dirty="0"/>
              <a:t>problema de negocio</a:t>
            </a:r>
            <a:r>
              <a:rPr lang="es-MX" sz="2200" dirty="0"/>
              <a:t> o científico?</a:t>
            </a:r>
          </a:p>
          <a:p>
            <a:pPr lvl="1"/>
            <a:r>
              <a:rPr lang="es-MX" sz="2200" dirty="0"/>
              <a:t>¿Qué </a:t>
            </a:r>
            <a:r>
              <a:rPr lang="es-MX" sz="2200" b="1" dirty="0"/>
              <a:t>valor</a:t>
            </a:r>
            <a:r>
              <a:rPr lang="es-MX" sz="2200" dirty="0"/>
              <a:t> aportará la solución?</a:t>
            </a:r>
          </a:p>
          <a:p>
            <a:pPr marL="285750" indent="-285750"/>
            <a:r>
              <a:rPr lang="es-MX" sz="2200" b="1" dirty="0"/>
              <a:t>Consideraciones:</a:t>
            </a:r>
            <a:endParaRPr lang="es-MX" sz="2200" dirty="0"/>
          </a:p>
          <a:p>
            <a:pPr lvl="1"/>
            <a:r>
              <a:rPr lang="es-MX" sz="2200" dirty="0"/>
              <a:t>Definir </a:t>
            </a:r>
            <a:r>
              <a:rPr lang="es-MX" sz="2200" b="1" dirty="0"/>
              <a:t>métricas de éxito</a:t>
            </a:r>
            <a:r>
              <a:rPr lang="es-MX" sz="2200" dirty="0"/>
              <a:t>.</a:t>
            </a:r>
          </a:p>
          <a:p>
            <a:pPr lvl="1"/>
            <a:r>
              <a:rPr lang="es-MX" sz="2200" dirty="0"/>
              <a:t>Entender las </a:t>
            </a:r>
            <a:r>
              <a:rPr lang="es-MX" sz="2200" b="1" dirty="0"/>
              <a:t>restricciones</a:t>
            </a:r>
            <a:r>
              <a:rPr lang="es-MX" sz="2200" dirty="0"/>
              <a:t> (tiempo, recursos, datos disponibles).</a:t>
            </a:r>
          </a:p>
          <a:p>
            <a:endParaRPr lang="es-CO" sz="2200" dirty="0"/>
          </a:p>
        </p:txBody>
      </p:sp>
      <p:pic>
        <p:nvPicPr>
          <p:cNvPr id="2050" name="Picture 2" descr="How to Use SMART(ER) Goals to Achieve Success at Your Program">
            <a:extLst>
              <a:ext uri="{FF2B5EF4-FFF2-40B4-BE49-F238E27FC236}">
                <a16:creationId xmlns:a16="http://schemas.microsoft.com/office/drawing/2014/main" id="{A8FF2C66-4A8B-6110-EE0A-D219A0D5F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407" r="13521" b="1"/>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7578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73BE6D-F7F9-92E7-AC15-E68A7F6F6BA2}"/>
              </a:ext>
            </a:extLst>
          </p:cNvPr>
          <p:cNvSpPr>
            <a:spLocks noGrp="1"/>
          </p:cNvSpPr>
          <p:nvPr>
            <p:ph type="title"/>
          </p:nvPr>
        </p:nvSpPr>
        <p:spPr>
          <a:xfrm>
            <a:off x="572493" y="238539"/>
            <a:ext cx="11018520" cy="1434415"/>
          </a:xfrm>
        </p:spPr>
        <p:txBody>
          <a:bodyPr anchor="b">
            <a:normAutofit fontScale="90000"/>
          </a:bodyPr>
          <a:lstStyle/>
          <a:p>
            <a:r>
              <a:rPr lang="es-MX" sz="5000" b="1" dirty="0"/>
              <a:t>2. Recolección y Preparación de Datos</a:t>
            </a:r>
            <a:endParaRPr lang="es-CO" sz="5000" b="1" dirty="0"/>
          </a:p>
        </p:txBody>
      </p:sp>
      <p:sp>
        <p:nvSpPr>
          <p:cNvPr id="3" name="Marcador de contenido 2">
            <a:extLst>
              <a:ext uri="{FF2B5EF4-FFF2-40B4-BE49-F238E27FC236}">
                <a16:creationId xmlns:a16="http://schemas.microsoft.com/office/drawing/2014/main" id="{3E39AC95-7A7D-CE00-2D64-142CCE47BE71}"/>
              </a:ext>
            </a:extLst>
          </p:cNvPr>
          <p:cNvSpPr>
            <a:spLocks noGrp="1"/>
          </p:cNvSpPr>
          <p:nvPr>
            <p:ph idx="1"/>
          </p:nvPr>
        </p:nvSpPr>
        <p:spPr>
          <a:xfrm>
            <a:off x="572493" y="2071316"/>
            <a:ext cx="6713552" cy="4119172"/>
          </a:xfrm>
        </p:spPr>
        <p:txBody>
          <a:bodyPr anchor="t">
            <a:normAutofit/>
          </a:bodyPr>
          <a:lstStyle/>
          <a:p>
            <a:pPr marL="285750" indent="-285750"/>
            <a:r>
              <a:rPr lang="es-MX" sz="2200" b="1" dirty="0"/>
              <a:t>Recolección de datos:</a:t>
            </a:r>
            <a:endParaRPr lang="es-MX" sz="2200" dirty="0"/>
          </a:p>
          <a:p>
            <a:pPr lvl="1"/>
            <a:r>
              <a:rPr lang="es-MX" sz="2200" dirty="0"/>
              <a:t>Fuentes internas y externas (bases de datos, </a:t>
            </a:r>
            <a:r>
              <a:rPr lang="es-MX" sz="2200" dirty="0" err="1"/>
              <a:t>APIs</a:t>
            </a:r>
            <a:r>
              <a:rPr lang="es-MX" sz="2200" dirty="0"/>
              <a:t>, web </a:t>
            </a:r>
            <a:r>
              <a:rPr lang="es-MX" sz="2200" dirty="0" err="1"/>
              <a:t>scraping</a:t>
            </a:r>
            <a:r>
              <a:rPr lang="es-MX" sz="2200" dirty="0"/>
              <a:t>).</a:t>
            </a:r>
          </a:p>
          <a:p>
            <a:pPr marL="285750" indent="-285750"/>
            <a:r>
              <a:rPr lang="es-MX" sz="2200" b="1" dirty="0"/>
              <a:t>Preparación de datos:</a:t>
            </a:r>
            <a:endParaRPr lang="es-MX" sz="2200" dirty="0"/>
          </a:p>
          <a:p>
            <a:pPr lvl="1"/>
            <a:r>
              <a:rPr lang="es-MX" sz="2200" b="1" dirty="0"/>
              <a:t>Limpieza:</a:t>
            </a:r>
            <a:r>
              <a:rPr lang="es-MX" sz="2200" dirty="0"/>
              <a:t> Manejo de valores nulos, duplicados y </a:t>
            </a:r>
            <a:r>
              <a:rPr lang="es-MX" sz="2200" dirty="0" err="1"/>
              <a:t>outliers</a:t>
            </a:r>
            <a:r>
              <a:rPr lang="es-MX" sz="2200" dirty="0"/>
              <a:t>.</a:t>
            </a:r>
          </a:p>
          <a:p>
            <a:pPr lvl="1"/>
            <a:r>
              <a:rPr lang="es-MX" sz="2200" b="1" dirty="0"/>
              <a:t>Transformación:</a:t>
            </a:r>
            <a:r>
              <a:rPr lang="es-MX" sz="2200" dirty="0"/>
              <a:t> Normalización, codificación de variables categóricas.</a:t>
            </a:r>
          </a:p>
          <a:p>
            <a:pPr lvl="1"/>
            <a:r>
              <a:rPr lang="es-MX" sz="2200" b="1" dirty="0"/>
              <a:t>Ingeniería de características:</a:t>
            </a:r>
            <a:r>
              <a:rPr lang="es-MX" sz="2200" dirty="0"/>
              <a:t> Creación de nuevas variables relevantes.</a:t>
            </a:r>
          </a:p>
        </p:txBody>
      </p:sp>
      <p:pic>
        <p:nvPicPr>
          <p:cNvPr id="5" name="Imagen 4">
            <a:extLst>
              <a:ext uri="{FF2B5EF4-FFF2-40B4-BE49-F238E27FC236}">
                <a16:creationId xmlns:a16="http://schemas.microsoft.com/office/drawing/2014/main" id="{B1BC9979-9567-56E0-4075-304ACE3FDC6F}"/>
              </a:ext>
            </a:extLst>
          </p:cNvPr>
          <p:cNvPicPr>
            <a:picLocks noChangeAspect="1"/>
          </p:cNvPicPr>
          <p:nvPr/>
        </p:nvPicPr>
        <p:blipFill>
          <a:blip r:embed="rId3"/>
          <a:srcRect r="3792" b="-3"/>
          <a:stretch/>
        </p:blipFill>
        <p:spPr>
          <a:xfrm>
            <a:off x="7675658" y="2093976"/>
            <a:ext cx="3941064" cy="4096512"/>
          </a:xfrm>
          <a:prstGeom prst="rect">
            <a:avLst/>
          </a:prstGeom>
        </p:spPr>
      </p:pic>
    </p:spTree>
    <p:extLst>
      <p:ext uri="{BB962C8B-B14F-4D97-AF65-F5344CB8AC3E}">
        <p14:creationId xmlns:p14="http://schemas.microsoft.com/office/powerpoint/2010/main" val="5277133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4DDF6-9B47-0647-FB2D-EE9C6C5BDE33}"/>
              </a:ext>
            </a:extLst>
          </p:cNvPr>
          <p:cNvSpPr>
            <a:spLocks noGrp="1"/>
          </p:cNvSpPr>
          <p:nvPr>
            <p:ph type="title"/>
          </p:nvPr>
        </p:nvSpPr>
        <p:spPr>
          <a:xfrm>
            <a:off x="572493" y="238539"/>
            <a:ext cx="11018520" cy="1434415"/>
          </a:xfrm>
        </p:spPr>
        <p:txBody>
          <a:bodyPr anchor="b">
            <a:normAutofit fontScale="90000"/>
          </a:bodyPr>
          <a:lstStyle/>
          <a:p>
            <a:r>
              <a:rPr lang="es-MX" sz="5400" b="1" dirty="0"/>
              <a:t>3. Análisis Exploratorio de Datos (EDA)</a:t>
            </a:r>
            <a:endParaRPr lang="es-CO" sz="5400" dirty="0"/>
          </a:p>
        </p:txBody>
      </p:sp>
      <p:sp>
        <p:nvSpPr>
          <p:cNvPr id="3" name="Marcador de contenido 2">
            <a:extLst>
              <a:ext uri="{FF2B5EF4-FFF2-40B4-BE49-F238E27FC236}">
                <a16:creationId xmlns:a16="http://schemas.microsoft.com/office/drawing/2014/main" id="{7AD5095C-361F-93D2-046D-18E85D88B533}"/>
              </a:ext>
            </a:extLst>
          </p:cNvPr>
          <p:cNvSpPr>
            <a:spLocks noGrp="1"/>
          </p:cNvSpPr>
          <p:nvPr>
            <p:ph idx="1"/>
          </p:nvPr>
        </p:nvSpPr>
        <p:spPr>
          <a:xfrm>
            <a:off x="572493" y="2071316"/>
            <a:ext cx="6713552" cy="4119172"/>
          </a:xfrm>
        </p:spPr>
        <p:txBody>
          <a:bodyPr anchor="t">
            <a:normAutofit/>
          </a:bodyPr>
          <a:lstStyle/>
          <a:p>
            <a:endParaRPr lang="es-MX" sz="2200" b="1" dirty="0"/>
          </a:p>
          <a:p>
            <a:pPr marL="285750" indent="-285750"/>
            <a:r>
              <a:rPr lang="es-MX" sz="2200" b="1" dirty="0"/>
              <a:t>Objetivos del EDA:</a:t>
            </a:r>
            <a:endParaRPr lang="es-MX" sz="2200" dirty="0"/>
          </a:p>
          <a:p>
            <a:pPr lvl="1"/>
            <a:r>
              <a:rPr lang="es-MX" sz="2200" dirty="0"/>
              <a:t>Entender la </a:t>
            </a:r>
            <a:r>
              <a:rPr lang="es-MX" sz="2200" b="1" dirty="0"/>
              <a:t>distribución</a:t>
            </a:r>
            <a:r>
              <a:rPr lang="es-MX" sz="2200" dirty="0"/>
              <a:t> de los datos.</a:t>
            </a:r>
          </a:p>
          <a:p>
            <a:pPr lvl="1"/>
            <a:r>
              <a:rPr lang="es-MX" sz="2200" dirty="0"/>
              <a:t>Identificar </a:t>
            </a:r>
            <a:r>
              <a:rPr lang="es-MX" sz="2200" b="1" dirty="0"/>
              <a:t>patrones</a:t>
            </a:r>
            <a:r>
              <a:rPr lang="es-MX" sz="2200" dirty="0"/>
              <a:t>, </a:t>
            </a:r>
            <a:r>
              <a:rPr lang="es-MX" sz="2200" b="1" dirty="0"/>
              <a:t>tendencias</a:t>
            </a:r>
            <a:r>
              <a:rPr lang="es-MX" sz="2200" dirty="0"/>
              <a:t> y </a:t>
            </a:r>
            <a:r>
              <a:rPr lang="es-MX" sz="2200" b="1" dirty="0"/>
              <a:t>relaciones</a:t>
            </a:r>
            <a:r>
              <a:rPr lang="es-MX" sz="2200" dirty="0"/>
              <a:t> entre variables.</a:t>
            </a:r>
          </a:p>
          <a:p>
            <a:pPr marL="285750" indent="-285750"/>
            <a:r>
              <a:rPr lang="es-MX" sz="2200" b="1" dirty="0"/>
              <a:t>Herramientas y técnicas:</a:t>
            </a:r>
            <a:endParaRPr lang="es-MX" sz="2200" dirty="0"/>
          </a:p>
          <a:p>
            <a:pPr lvl="1"/>
            <a:r>
              <a:rPr lang="es-MX" sz="2200" dirty="0"/>
              <a:t>Estadísticas descriptivas.</a:t>
            </a:r>
          </a:p>
          <a:p>
            <a:pPr lvl="1"/>
            <a:r>
              <a:rPr lang="es-MX" sz="2200" dirty="0"/>
              <a:t>Visualizaciones (gráficos de dispersión, histogramas, mapas de calor).</a:t>
            </a:r>
          </a:p>
        </p:txBody>
      </p:sp>
      <p:pic>
        <p:nvPicPr>
          <p:cNvPr id="4" name="Imagen 3">
            <a:extLst>
              <a:ext uri="{FF2B5EF4-FFF2-40B4-BE49-F238E27FC236}">
                <a16:creationId xmlns:a16="http://schemas.microsoft.com/office/drawing/2014/main" id="{2AC184A2-9742-1896-F4EC-60F6F18EDAD2}"/>
              </a:ext>
            </a:extLst>
          </p:cNvPr>
          <p:cNvPicPr>
            <a:picLocks noChangeAspect="1"/>
          </p:cNvPicPr>
          <p:nvPr/>
        </p:nvPicPr>
        <p:blipFill>
          <a:blip r:embed="rId3"/>
          <a:srcRect l="3795" r="-3" b="-3"/>
          <a:stretch/>
        </p:blipFill>
        <p:spPr>
          <a:xfrm>
            <a:off x="7675658" y="2093976"/>
            <a:ext cx="3941064" cy="4096512"/>
          </a:xfrm>
          <a:prstGeom prst="rect">
            <a:avLst/>
          </a:prstGeom>
        </p:spPr>
      </p:pic>
    </p:spTree>
    <p:extLst>
      <p:ext uri="{BB962C8B-B14F-4D97-AF65-F5344CB8AC3E}">
        <p14:creationId xmlns:p14="http://schemas.microsoft.com/office/powerpoint/2010/main" val="18065260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688BF-694C-49A1-71D5-D2C5EA79B817}"/>
              </a:ext>
            </a:extLst>
          </p:cNvPr>
          <p:cNvSpPr>
            <a:spLocks noGrp="1"/>
          </p:cNvSpPr>
          <p:nvPr>
            <p:ph type="title"/>
          </p:nvPr>
        </p:nvSpPr>
        <p:spPr>
          <a:xfrm>
            <a:off x="572493" y="238539"/>
            <a:ext cx="11018520" cy="1434415"/>
          </a:xfrm>
        </p:spPr>
        <p:txBody>
          <a:bodyPr anchor="b">
            <a:normAutofit/>
          </a:bodyPr>
          <a:lstStyle/>
          <a:p>
            <a:r>
              <a:rPr lang="es-MX" sz="4600" b="1"/>
              <a:t>4. Construcción y Entrenamiento del Modelo</a:t>
            </a:r>
          </a:p>
        </p:txBody>
      </p:sp>
      <p:sp>
        <p:nvSpPr>
          <p:cNvPr id="3" name="Marcador de contenido 2">
            <a:extLst>
              <a:ext uri="{FF2B5EF4-FFF2-40B4-BE49-F238E27FC236}">
                <a16:creationId xmlns:a16="http://schemas.microsoft.com/office/drawing/2014/main" id="{88FC6144-549C-D6AF-B54F-A9D0954987A2}"/>
              </a:ext>
            </a:extLst>
          </p:cNvPr>
          <p:cNvSpPr>
            <a:spLocks noGrp="1"/>
          </p:cNvSpPr>
          <p:nvPr>
            <p:ph idx="1"/>
          </p:nvPr>
        </p:nvSpPr>
        <p:spPr>
          <a:xfrm>
            <a:off x="572493" y="2071316"/>
            <a:ext cx="6280794" cy="4119172"/>
          </a:xfrm>
        </p:spPr>
        <p:txBody>
          <a:bodyPr anchor="ctr">
            <a:normAutofit/>
          </a:bodyPr>
          <a:lstStyle/>
          <a:p>
            <a:pPr marL="285750" indent="-285750"/>
            <a:r>
              <a:rPr lang="es-MX" sz="2200" b="1" dirty="0"/>
              <a:t>Selección del modelo:</a:t>
            </a:r>
            <a:endParaRPr lang="es-MX" sz="2200" dirty="0"/>
          </a:p>
          <a:p>
            <a:pPr lvl="1"/>
            <a:r>
              <a:rPr lang="es-MX" sz="2200" dirty="0"/>
              <a:t>Basada en el </a:t>
            </a:r>
            <a:r>
              <a:rPr lang="es-MX" sz="2200" b="1" dirty="0"/>
              <a:t>tipo de problema</a:t>
            </a:r>
            <a:r>
              <a:rPr lang="es-MX" sz="2200" dirty="0"/>
              <a:t> (clasificación, regresión, </a:t>
            </a:r>
            <a:r>
              <a:rPr lang="es-MX" sz="2200" dirty="0" err="1"/>
              <a:t>clustering</a:t>
            </a:r>
            <a:r>
              <a:rPr lang="es-MX" sz="2200" dirty="0"/>
              <a:t>).</a:t>
            </a:r>
          </a:p>
          <a:p>
            <a:pPr marL="285750" indent="-285750"/>
            <a:r>
              <a:rPr lang="es-MX" sz="2200" b="1" dirty="0"/>
              <a:t>Entrenamiento:</a:t>
            </a:r>
            <a:endParaRPr lang="es-MX" sz="2200" dirty="0"/>
          </a:p>
          <a:p>
            <a:pPr lvl="1"/>
            <a:r>
              <a:rPr lang="es-MX" sz="2200" dirty="0"/>
              <a:t>División de datos en </a:t>
            </a:r>
            <a:r>
              <a:rPr lang="es-MX" sz="2200" b="1" dirty="0"/>
              <a:t>entrenamiento</a:t>
            </a:r>
            <a:r>
              <a:rPr lang="es-MX" sz="2200" dirty="0"/>
              <a:t> y </a:t>
            </a:r>
            <a:r>
              <a:rPr lang="es-MX" sz="2200" b="1" dirty="0"/>
              <a:t>prueba</a:t>
            </a:r>
            <a:r>
              <a:rPr lang="es-MX" sz="2200" dirty="0"/>
              <a:t>.</a:t>
            </a:r>
          </a:p>
          <a:p>
            <a:pPr lvl="1"/>
            <a:r>
              <a:rPr lang="es-MX" sz="2200" dirty="0"/>
              <a:t>Ajuste de </a:t>
            </a:r>
            <a:r>
              <a:rPr lang="es-MX" sz="2200" b="1" dirty="0" err="1"/>
              <a:t>hiperparámetros</a:t>
            </a:r>
            <a:r>
              <a:rPr lang="es-MX" sz="2200" dirty="0"/>
              <a:t>.</a:t>
            </a:r>
          </a:p>
          <a:p>
            <a:pPr marL="285750" indent="-285750"/>
            <a:r>
              <a:rPr lang="es-MX" sz="2200" b="1" dirty="0"/>
              <a:t>Validación cruzada:</a:t>
            </a:r>
            <a:endParaRPr lang="es-MX" sz="2200" dirty="0"/>
          </a:p>
          <a:p>
            <a:pPr lvl="1"/>
            <a:r>
              <a:rPr lang="es-MX" sz="2200" dirty="0"/>
              <a:t>Técnica para evaluar el desempeño del modelo y evitar sobreajuste.</a:t>
            </a:r>
          </a:p>
        </p:txBody>
      </p:sp>
      <p:pic>
        <p:nvPicPr>
          <p:cNvPr id="4098" name="Picture 2" descr="Training Data vs Test Data in Machine Learning - Essential Guide">
            <a:extLst>
              <a:ext uri="{FF2B5EF4-FFF2-40B4-BE49-F238E27FC236}">
                <a16:creationId xmlns:a16="http://schemas.microsoft.com/office/drawing/2014/main" id="{212A4B63-4908-2CFC-428A-5BE9415407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46" r="11622" b="2"/>
          <a:stretch/>
        </p:blipFill>
        <p:spPr bwMode="auto">
          <a:xfrm>
            <a:off x="7307785" y="2569464"/>
            <a:ext cx="4676810" cy="3145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517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mo implementar un K-Fold Cross Validation a modelos de Machine Learning  con Scikit Learn — Python | by Luis Alonso Copete | Medium">
            <a:extLst>
              <a:ext uri="{FF2B5EF4-FFF2-40B4-BE49-F238E27FC236}">
                <a16:creationId xmlns:a16="http://schemas.microsoft.com/office/drawing/2014/main" id="{F491D886-C3EB-49CF-909A-9655AC366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509588"/>
            <a:ext cx="8429625" cy="583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7963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6BE26-2F24-7DB0-4169-AC70359F246F}"/>
              </a:ext>
            </a:extLst>
          </p:cNvPr>
          <p:cNvSpPr>
            <a:spLocks noGrp="1"/>
          </p:cNvSpPr>
          <p:nvPr>
            <p:ph type="title"/>
          </p:nvPr>
        </p:nvSpPr>
        <p:spPr>
          <a:xfrm>
            <a:off x="630936" y="640080"/>
            <a:ext cx="4818888" cy="1481328"/>
          </a:xfrm>
        </p:spPr>
        <p:txBody>
          <a:bodyPr anchor="b">
            <a:normAutofit fontScale="90000"/>
          </a:bodyPr>
          <a:lstStyle/>
          <a:p>
            <a:r>
              <a:rPr lang="es-MX" sz="3400" b="1"/>
              <a:t>5. Evaluación del Modelo</a:t>
            </a:r>
            <a:br>
              <a:rPr lang="es-MX" sz="3400" b="1"/>
            </a:br>
            <a:endParaRPr lang="es-CO" sz="3400"/>
          </a:p>
        </p:txBody>
      </p:sp>
      <p:sp>
        <p:nvSpPr>
          <p:cNvPr id="3" name="Marcador de contenido 2">
            <a:extLst>
              <a:ext uri="{FF2B5EF4-FFF2-40B4-BE49-F238E27FC236}">
                <a16:creationId xmlns:a16="http://schemas.microsoft.com/office/drawing/2014/main" id="{07ED6C3D-E1B4-8F96-3CF7-2A1966BE75A4}"/>
              </a:ext>
            </a:extLst>
          </p:cNvPr>
          <p:cNvSpPr>
            <a:spLocks noGrp="1"/>
          </p:cNvSpPr>
          <p:nvPr>
            <p:ph idx="1"/>
          </p:nvPr>
        </p:nvSpPr>
        <p:spPr>
          <a:xfrm>
            <a:off x="630936" y="2660904"/>
            <a:ext cx="4818888" cy="3547872"/>
          </a:xfrm>
        </p:spPr>
        <p:txBody>
          <a:bodyPr anchor="t">
            <a:normAutofit lnSpcReduction="10000"/>
          </a:bodyPr>
          <a:lstStyle/>
          <a:p>
            <a:pPr marL="285750" indent="-285750"/>
            <a:r>
              <a:rPr lang="es-MX" sz="2200" b="1"/>
              <a:t>Métricas de evaluación:</a:t>
            </a:r>
            <a:endParaRPr lang="es-MX" sz="2200"/>
          </a:p>
          <a:p>
            <a:pPr lvl="1"/>
            <a:r>
              <a:rPr lang="es-MX" sz="2200"/>
              <a:t>Clasificación: Precisión, recall, F1-score, curva ROC.</a:t>
            </a:r>
          </a:p>
          <a:p>
            <a:pPr lvl="1"/>
            <a:r>
              <a:rPr lang="es-MX" sz="2200"/>
              <a:t>Regresión: Error cuadrático medio (MSE), error absoluto medio (MAE).</a:t>
            </a:r>
          </a:p>
          <a:p>
            <a:pPr marL="285750" indent="-285750"/>
            <a:r>
              <a:rPr lang="es-MX" sz="2200" b="1"/>
              <a:t>Análisis de resultados:</a:t>
            </a:r>
            <a:endParaRPr lang="es-MX" sz="2200"/>
          </a:p>
          <a:p>
            <a:pPr lvl="1"/>
            <a:r>
              <a:rPr lang="es-MX" sz="2200"/>
              <a:t>Interpretación de las métricas.</a:t>
            </a:r>
          </a:p>
          <a:p>
            <a:pPr lvl="1"/>
            <a:r>
              <a:rPr lang="es-MX" sz="2200"/>
              <a:t>Identificación de </a:t>
            </a:r>
            <a:r>
              <a:rPr lang="es-MX" sz="2200" b="1"/>
              <a:t>áreas de mejora</a:t>
            </a:r>
            <a:r>
              <a:rPr lang="es-MX" sz="2200"/>
              <a:t>.</a:t>
            </a:r>
          </a:p>
          <a:p>
            <a:endParaRPr lang="es-CO" sz="2200"/>
          </a:p>
        </p:txBody>
      </p:sp>
      <p:pic>
        <p:nvPicPr>
          <p:cNvPr id="5122" name="Picture 2" descr="Confusion matrix, AUC and ROC curve and Gini clearly explained | by Yassine  EL KHAL | Medium">
            <a:extLst>
              <a:ext uri="{FF2B5EF4-FFF2-40B4-BE49-F238E27FC236}">
                <a16:creationId xmlns:a16="http://schemas.microsoft.com/office/drawing/2014/main" id="{112BC64D-7A0E-A723-8B41-F716169EF04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9048" y="2064258"/>
            <a:ext cx="5458968" cy="2729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425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valuation metrics and statistical tests for machine learning | Scientific  Reports">
            <a:extLst>
              <a:ext uri="{FF2B5EF4-FFF2-40B4-BE49-F238E27FC236}">
                <a16:creationId xmlns:a16="http://schemas.microsoft.com/office/drawing/2014/main" id="{D9AF385E-7110-49C6-B71C-CBEE075B1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513" y="342900"/>
            <a:ext cx="6519388" cy="617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0811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9F2B982-FC6C-43DA-8353-D97910A4C23B}"/>
              </a:ext>
            </a:extLst>
          </p:cNvPr>
          <p:cNvPicPr>
            <a:picLocks noChangeAspect="1"/>
          </p:cNvPicPr>
          <p:nvPr/>
        </p:nvPicPr>
        <p:blipFill>
          <a:blip r:embed="rId2"/>
          <a:stretch>
            <a:fillRect/>
          </a:stretch>
        </p:blipFill>
        <p:spPr>
          <a:xfrm>
            <a:off x="5852011" y="408353"/>
            <a:ext cx="5707678" cy="5029202"/>
          </a:xfrm>
          <a:prstGeom prst="rect">
            <a:avLst/>
          </a:prstGeom>
        </p:spPr>
      </p:pic>
      <p:pic>
        <p:nvPicPr>
          <p:cNvPr id="7" name="Imagen 6">
            <a:extLst>
              <a:ext uri="{FF2B5EF4-FFF2-40B4-BE49-F238E27FC236}">
                <a16:creationId xmlns:a16="http://schemas.microsoft.com/office/drawing/2014/main" id="{3D43D13C-377C-4A31-8B49-14EED8E02AFE}"/>
              </a:ext>
            </a:extLst>
          </p:cNvPr>
          <p:cNvPicPr>
            <a:picLocks noChangeAspect="1"/>
          </p:cNvPicPr>
          <p:nvPr/>
        </p:nvPicPr>
        <p:blipFill>
          <a:blip r:embed="rId3"/>
          <a:stretch>
            <a:fillRect/>
          </a:stretch>
        </p:blipFill>
        <p:spPr>
          <a:xfrm>
            <a:off x="552451" y="445181"/>
            <a:ext cx="4334644" cy="2710088"/>
          </a:xfrm>
          <a:prstGeom prst="rect">
            <a:avLst/>
          </a:prstGeom>
        </p:spPr>
      </p:pic>
      <p:pic>
        <p:nvPicPr>
          <p:cNvPr id="9" name="Imagen 8">
            <a:extLst>
              <a:ext uri="{FF2B5EF4-FFF2-40B4-BE49-F238E27FC236}">
                <a16:creationId xmlns:a16="http://schemas.microsoft.com/office/drawing/2014/main" id="{8330BE65-13C9-469F-BB32-1D3EA797741D}"/>
              </a:ext>
            </a:extLst>
          </p:cNvPr>
          <p:cNvPicPr>
            <a:picLocks noChangeAspect="1"/>
          </p:cNvPicPr>
          <p:nvPr/>
        </p:nvPicPr>
        <p:blipFill>
          <a:blip r:embed="rId4"/>
          <a:stretch>
            <a:fillRect/>
          </a:stretch>
        </p:blipFill>
        <p:spPr>
          <a:xfrm>
            <a:off x="6086236" y="5800673"/>
            <a:ext cx="5239228" cy="569164"/>
          </a:xfrm>
          <a:prstGeom prst="rect">
            <a:avLst/>
          </a:prstGeom>
        </p:spPr>
      </p:pic>
      <p:pic>
        <p:nvPicPr>
          <p:cNvPr id="11" name="Imagen 10">
            <a:extLst>
              <a:ext uri="{FF2B5EF4-FFF2-40B4-BE49-F238E27FC236}">
                <a16:creationId xmlns:a16="http://schemas.microsoft.com/office/drawing/2014/main" id="{5D9BC6A7-F280-4001-BE19-AD6279CE7166}"/>
              </a:ext>
            </a:extLst>
          </p:cNvPr>
          <p:cNvPicPr>
            <a:picLocks noChangeAspect="1"/>
          </p:cNvPicPr>
          <p:nvPr/>
        </p:nvPicPr>
        <p:blipFill>
          <a:blip r:embed="rId5"/>
          <a:stretch>
            <a:fillRect/>
          </a:stretch>
        </p:blipFill>
        <p:spPr>
          <a:xfrm>
            <a:off x="794849" y="5325109"/>
            <a:ext cx="4234351" cy="1371123"/>
          </a:xfrm>
          <a:prstGeom prst="rect">
            <a:avLst/>
          </a:prstGeom>
        </p:spPr>
      </p:pic>
    </p:spTree>
    <p:extLst>
      <p:ext uri="{BB962C8B-B14F-4D97-AF65-F5344CB8AC3E}">
        <p14:creationId xmlns:p14="http://schemas.microsoft.com/office/powerpoint/2010/main" val="270621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B672C20-D88C-4C62-8535-93E38A0AAB16}"/>
              </a:ext>
            </a:extLst>
          </p:cNvPr>
          <p:cNvSpPr>
            <a:spLocks noGrp="1"/>
          </p:cNvSpPr>
          <p:nvPr>
            <p:ph type="title"/>
          </p:nvPr>
        </p:nvSpPr>
        <p:spPr/>
        <p:txBody>
          <a:bodyPr/>
          <a:lstStyle/>
          <a:p>
            <a:r>
              <a:rPr lang="es-CO"/>
              <a:t>GRACIAS</a:t>
            </a:r>
          </a:p>
        </p:txBody>
      </p:sp>
      <p:sp>
        <p:nvSpPr>
          <p:cNvPr id="5" name="Marcador de texto 4">
            <a:extLst>
              <a:ext uri="{FF2B5EF4-FFF2-40B4-BE49-F238E27FC236}">
                <a16:creationId xmlns:a16="http://schemas.microsoft.com/office/drawing/2014/main" id="{DA0E0EB6-8119-4DE2-891C-E48147EA1A48}"/>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32314017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979</TotalTime>
  <Words>4451</Words>
  <Application>Microsoft Office PowerPoint</Application>
  <PresentationFormat>Panorámica</PresentationFormat>
  <Paragraphs>493</Paragraphs>
  <Slides>65</Slides>
  <Notes>14</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65</vt:i4>
      </vt:variant>
    </vt:vector>
  </HeadingPairs>
  <TitlesOfParts>
    <vt:vector size="75" baseType="lpstr">
      <vt:lpstr>Aptos</vt:lpstr>
      <vt:lpstr>Arial</vt:lpstr>
      <vt:lpstr>Calibri</vt:lpstr>
      <vt:lpstr>Cambria Math</vt:lpstr>
      <vt:lpstr>Consolas</vt:lpstr>
      <vt:lpstr>KaTeX_Main</vt:lpstr>
      <vt:lpstr>KaTeX_Math</vt:lpstr>
      <vt:lpstr>ui-sans-serif</vt:lpstr>
      <vt:lpstr>Verdana</vt:lpstr>
      <vt:lpstr>Tema de Office</vt:lpstr>
      <vt:lpstr>Módulo 4 – Reglas de asociación, detección de anomalías y Análisis de grafos</vt:lpstr>
      <vt:lpstr>Reglas de asociación</vt:lpstr>
      <vt:lpstr>Reglas de Asociación</vt:lpstr>
      <vt:lpstr>Reglas de Asociación</vt:lpstr>
      <vt:lpstr>¿Cómo funciona?</vt:lpstr>
      <vt:lpstr>Pasos del algoritmo:</vt:lpstr>
      <vt:lpstr>Matemática formal del algoritmo Apriori</vt:lpstr>
      <vt:lpstr>Algoritmo paso a paso</vt:lpstr>
      <vt:lpstr>Reglas de asociación</vt:lpstr>
      <vt:lpstr>Ejercicio en clase</vt:lpstr>
      <vt:lpstr>Detección de Anomalías</vt:lpstr>
      <vt:lpstr>¿Qué es una anomalía?</vt:lpstr>
      <vt:lpstr>Tipos de anomalías</vt:lpstr>
      <vt:lpstr>Principales enfoques</vt:lpstr>
      <vt:lpstr>Análisis de grafos</vt:lpstr>
      <vt:lpstr>Introducción</vt:lpstr>
      <vt:lpstr>Conceptos</vt:lpstr>
      <vt:lpstr>Partes de un grafo</vt:lpstr>
      <vt:lpstr>Teoría de grafos: conceptos básicos</vt:lpstr>
      <vt:lpstr>Representaciones y carga de datos</vt:lpstr>
      <vt:lpstr>Ejercicio práctico: Karate Club</vt:lpstr>
      <vt:lpstr>Métricas globales de la red</vt:lpstr>
      <vt:lpstr>Presentación de PowerPoint</vt:lpstr>
      <vt:lpstr>Métricas globales de la red</vt:lpstr>
      <vt:lpstr>Presentación de PowerPoint</vt:lpstr>
      <vt:lpstr>Métricas globales de la red</vt:lpstr>
      <vt:lpstr>Presentación de PowerPoint</vt:lpstr>
      <vt:lpstr>Métricas globales de la red</vt:lpstr>
      <vt:lpstr>Métricas globales de la red</vt:lpstr>
      <vt:lpstr>Centralidad y roles de los nodos</vt:lpstr>
      <vt:lpstr>Presentación de PowerPoint</vt:lpstr>
      <vt:lpstr>Detección de comunidades</vt:lpstr>
      <vt:lpstr>Girvan Newman algorithm</vt:lpstr>
      <vt:lpstr>Girvan Newman algorithm</vt:lpstr>
      <vt:lpstr>Presentación de PowerPoint</vt:lpstr>
      <vt:lpstr>Ventajas y desventajas del algoritmo de Girvan Newman </vt:lpstr>
      <vt:lpstr>Método de Louvain</vt:lpstr>
      <vt:lpstr>Presentación de PowerPoint</vt:lpstr>
      <vt:lpstr>Redes dinámicas y predicción de enlaces</vt:lpstr>
      <vt:lpstr>Ejercicio práctico: Les miserables</vt:lpstr>
      <vt:lpstr>Ética y sesgos en Minería de Datos</vt:lpstr>
      <vt:lpstr>Ética y sesgos en Minería de Datos</vt:lpstr>
      <vt:lpstr>Ética y sesgos en Minería de Datos</vt:lpstr>
      <vt:lpstr>Ética y sesgos en Minería de Datos</vt:lpstr>
      <vt:lpstr>Introducción al Machine Learning</vt:lpstr>
      <vt:lpstr>¿Qué es el Machine Learning?</vt:lpstr>
      <vt:lpstr>Alcance del Machine Learning</vt:lpstr>
      <vt:lpstr>Inteligencia Artificial vs. Machine Learning vs. Deep Learning</vt:lpstr>
      <vt:lpstr>Tipos de Aprendizaje en Machine Learning</vt:lpstr>
      <vt:lpstr>Tipos de Aprendizaje en Machine Learning</vt:lpstr>
      <vt:lpstr>Aprendizaje Supervisado</vt:lpstr>
      <vt:lpstr>Aprendizaje No Supervisado</vt:lpstr>
      <vt:lpstr>Aprendizaje Semi-supervisado y por Refuerzo</vt:lpstr>
      <vt:lpstr>Discusión de Ejemplos y Aplicaciones</vt:lpstr>
      <vt:lpstr>Ciclo de vida de un proyecto de ML</vt:lpstr>
      <vt:lpstr>Ciclo de Vida de un Proyecto de Machine Learning</vt:lpstr>
      <vt:lpstr>1. Definición del Problema</vt:lpstr>
      <vt:lpstr>2. Recolección y Preparación de Datos</vt:lpstr>
      <vt:lpstr>3. Análisis Exploratorio de Datos (EDA)</vt:lpstr>
      <vt:lpstr>4. Construcción y Entrenamiento del Modelo</vt:lpstr>
      <vt:lpstr>Presentación de PowerPoint</vt:lpstr>
      <vt:lpstr>5. Evaluación del Modelo </vt:lpstr>
      <vt:lpstr>Presentación de PowerPoint</vt:lpstr>
      <vt:lpstr>Presentación de PowerPoint</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1 – Fundamentos y Exploración de Datos</dc:title>
  <dc:creator>Délany Ramírez</dc:creator>
  <cp:lastModifiedBy>Délany Ramírez</cp:lastModifiedBy>
  <cp:revision>170</cp:revision>
  <dcterms:created xsi:type="dcterms:W3CDTF">2025-06-13T16:06:54Z</dcterms:created>
  <dcterms:modified xsi:type="dcterms:W3CDTF">2025-07-12T13:07:08Z</dcterms:modified>
</cp:coreProperties>
</file>